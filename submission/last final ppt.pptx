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56" r:id="rId5"/>
    <p:sldId id="298" r:id="rId6"/>
    <p:sldId id="299"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000"/>
    <a:srgbClr val="9BBB59"/>
    <a:srgbClr val="39B0D4"/>
    <a:srgbClr val="727272"/>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02" autoAdjust="0"/>
  </p:normalViewPr>
  <p:slideViewPr>
    <p:cSldViewPr snapToGrid="0" snapToObjects="1">
      <p:cViewPr varScale="1">
        <p:scale>
          <a:sx n="82" d="100"/>
          <a:sy n="82" d="100"/>
        </p:scale>
        <p:origin x="691"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6_2#1">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1">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0NoLn">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NoLn">
    <dgm:fillClrLst meth="repeat">
      <a:schemeClr val="lt1"/>
    </dgm:fillClrLst>
    <dgm:linClrLst meth="repeat">
      <a:schemeClr val="dk2">
        <a:shade val="80000"/>
      </a:schemeClr>
    </dgm:linClrLst>
    <dgm:effectClrLst/>
    <dgm:txLinClrLst/>
    <dgm:txFillClrLst meth="repeat">
      <a:schemeClr val="dk2"/>
    </dgm:txFillClrLst>
    <dgm:txEffectClrLst/>
  </dgm:styleLbl>
  <dgm:styleLbl name="ltNode1NoLn">
    <dgm:fillClrLst meth="repeat">
      <a:schemeClr val="lt1">
        <a:tint val="75000"/>
      </a:schemeClr>
    </dgm:fillClrLst>
    <dgm:linClrLst meth="repeat">
      <a:schemeClr val="dk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2NoLn">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NoLn">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NoLn">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2">
        <a:alpha val="0"/>
      </a:schemeClr>
    </dgm:linClrLst>
    <dgm:effectClrLst/>
    <dgm:txLinClrLst/>
    <dgm:txFillClrLst meth="repeat">
      <a:schemeClr val="dk2"/>
    </dgm:txFillClrLst>
    <dgm:txEffectClrLst/>
  </dgm:styleLbl>
</dgm:colorsDef>
</file>

<file path=ppt/diagrams/data1.xml><?xml version="1.0" encoding="utf-8"?>
<dgm:dataModel xmlns:dgm="http://schemas.openxmlformats.org/drawingml/2006/diagram" xmlns:a="http://schemas.openxmlformats.org/drawingml/2006/main">
  <dgm:ptLst>
    <dgm:pt modelId="{AAE68BF0-AEFA-44FA-8242-654F2C2BEE99}" type="doc">
      <dgm:prSet loTypeId="urn:microsoft.com/office/officeart/2005/8/layout/cycle2" loCatId="cycle" qsTypeId="urn:microsoft.com/office/officeart/2005/8/quickstyle/3d1#1" qsCatId="3D" csTypeId="urn:microsoft.com/office/officeart/2005/8/colors/accent6_2#1" csCatId="accent6" phldr="1"/>
      <dgm:spPr/>
      <dgm:t>
        <a:bodyPr/>
        <a:lstStyle/>
        <a:p>
          <a:endParaRPr lang="en-IN"/>
        </a:p>
      </dgm:t>
    </dgm:pt>
    <dgm:pt modelId="{FF3718B9-D56B-4556-960F-BB94D80DC404}">
      <dgm:prSet custT="1"/>
      <dgm:spPr/>
      <dgm:t>
        <a:bodyPr/>
        <a:lstStyle/>
        <a:p>
          <a:r>
            <a:rPr lang="en-IN" sz="1400" b="1" dirty="0"/>
            <a:t>01 Input Data</a:t>
          </a:r>
          <a:r>
            <a:rPr lang="en-IN" sz="1400" dirty="0"/>
            <a:t> →</a:t>
          </a:r>
        </a:p>
      </dgm:t>
    </dgm:pt>
    <dgm:pt modelId="{0B37F00C-34E8-419E-A5B4-71DDDA5C569C}" type="parTrans" cxnId="{045C93E3-C2E7-4CC2-A0FC-D172AC636323}">
      <dgm:prSet/>
      <dgm:spPr/>
      <dgm:t>
        <a:bodyPr/>
        <a:lstStyle/>
        <a:p>
          <a:endParaRPr lang="en-IN"/>
        </a:p>
      </dgm:t>
    </dgm:pt>
    <dgm:pt modelId="{5BE6725D-A9B1-469B-B9C9-757F8E060882}" type="sibTrans" cxnId="{045C93E3-C2E7-4CC2-A0FC-D172AC636323}">
      <dgm:prSet/>
      <dgm:spPr/>
      <dgm:t>
        <a:bodyPr/>
        <a:lstStyle/>
        <a:p>
          <a:endParaRPr lang="en-IN"/>
        </a:p>
      </dgm:t>
    </dgm:pt>
    <dgm:pt modelId="{4BFC9DD8-8EC9-4C13-8F9D-72A8233A500F}">
      <dgm:prSet custT="1"/>
      <dgm:spPr/>
      <dgm:t>
        <a:bodyPr/>
        <a:lstStyle/>
        <a:p>
          <a:r>
            <a:rPr lang="en-IN" sz="1400" dirty="0"/>
            <a:t> </a:t>
          </a:r>
          <a:r>
            <a:rPr lang="en-IN" sz="1400" b="1" dirty="0"/>
            <a:t>02   Pre-processing</a:t>
          </a:r>
          <a:r>
            <a:rPr lang="en-IN" sz="1400" dirty="0"/>
            <a:t> →</a:t>
          </a:r>
        </a:p>
      </dgm:t>
    </dgm:pt>
    <dgm:pt modelId="{A13FC67D-F3FD-4A74-8335-1FD15E77EFDE}" type="parTrans" cxnId="{A6389745-AB73-4F56-9296-F245E6AB4DAB}">
      <dgm:prSet/>
      <dgm:spPr/>
      <dgm:t>
        <a:bodyPr/>
        <a:lstStyle/>
        <a:p>
          <a:endParaRPr lang="en-IN"/>
        </a:p>
      </dgm:t>
    </dgm:pt>
    <dgm:pt modelId="{86D35F42-C4BA-4167-9D79-BCFAD5FD6192}" type="sibTrans" cxnId="{A6389745-AB73-4F56-9296-F245E6AB4DAB}">
      <dgm:prSet/>
      <dgm:spPr/>
      <dgm:t>
        <a:bodyPr/>
        <a:lstStyle/>
        <a:p>
          <a:endParaRPr lang="en-IN"/>
        </a:p>
      </dgm:t>
    </dgm:pt>
    <dgm:pt modelId="{8A9E673A-C04E-4943-98E3-9C47A10D754B}">
      <dgm:prSet custT="1"/>
      <dgm:spPr/>
      <dgm:t>
        <a:bodyPr/>
        <a:lstStyle/>
        <a:p>
          <a:r>
            <a:rPr lang="en-IN" sz="1400" b="1" dirty="0"/>
            <a:t>03 Scenario Configuration</a:t>
          </a:r>
          <a:r>
            <a:rPr lang="en-IN" sz="1400" dirty="0"/>
            <a:t> →</a:t>
          </a:r>
        </a:p>
      </dgm:t>
    </dgm:pt>
    <dgm:pt modelId="{DBE64D59-9D7B-43C7-A009-764EBF188E37}" type="parTrans" cxnId="{671F2903-2223-454D-A535-522F82CDB626}">
      <dgm:prSet/>
      <dgm:spPr/>
      <dgm:t>
        <a:bodyPr/>
        <a:lstStyle/>
        <a:p>
          <a:endParaRPr lang="en-IN"/>
        </a:p>
      </dgm:t>
    </dgm:pt>
    <dgm:pt modelId="{4E526FAF-376B-4E49-8369-0103F839EE2B}" type="sibTrans" cxnId="{671F2903-2223-454D-A535-522F82CDB626}">
      <dgm:prSet/>
      <dgm:spPr/>
      <dgm:t>
        <a:bodyPr/>
        <a:lstStyle/>
        <a:p>
          <a:endParaRPr lang="en-IN"/>
        </a:p>
      </dgm:t>
    </dgm:pt>
    <dgm:pt modelId="{CDC8D3D6-198E-4197-8CBD-8040A5DDBA6C}">
      <dgm:prSet custT="1"/>
      <dgm:spPr/>
      <dgm:t>
        <a:bodyPr/>
        <a:lstStyle/>
        <a:p>
          <a:r>
            <a:rPr lang="en-IN" sz="1400" b="1" dirty="0"/>
            <a:t>04 </a:t>
          </a:r>
          <a:r>
            <a:rPr lang="en-IN" sz="1300" b="1" dirty="0"/>
            <a:t>Hydrodynamic Simulation</a:t>
          </a:r>
          <a:r>
            <a:rPr lang="en-IN" sz="1400" dirty="0"/>
            <a:t> →</a:t>
          </a:r>
        </a:p>
      </dgm:t>
    </dgm:pt>
    <dgm:pt modelId="{F84E64F3-DF18-4AE2-BA65-DBE7FB9A1BA8}" type="parTrans" cxnId="{C4FEBEA3-A5F4-4882-9421-EDBEA8C03013}">
      <dgm:prSet/>
      <dgm:spPr/>
      <dgm:t>
        <a:bodyPr/>
        <a:lstStyle/>
        <a:p>
          <a:endParaRPr lang="en-IN"/>
        </a:p>
      </dgm:t>
    </dgm:pt>
    <dgm:pt modelId="{8516DFC5-765D-4913-99EB-4FD0C576AEEA}" type="sibTrans" cxnId="{C4FEBEA3-A5F4-4882-9421-EDBEA8C03013}">
      <dgm:prSet/>
      <dgm:spPr/>
      <dgm:t>
        <a:bodyPr/>
        <a:lstStyle/>
        <a:p>
          <a:endParaRPr lang="en-IN"/>
        </a:p>
      </dgm:t>
    </dgm:pt>
    <dgm:pt modelId="{F2643C1E-63B0-48F9-AAA7-B5489B5B9D7D}">
      <dgm:prSet custT="1"/>
      <dgm:spPr/>
      <dgm:t>
        <a:bodyPr/>
        <a:lstStyle/>
        <a:p>
          <a:r>
            <a:rPr lang="en-IN" sz="1400" b="1"/>
            <a:t>05 Flood Impact Analysis</a:t>
          </a:r>
          <a:r>
            <a:rPr lang="en-IN" sz="1400"/>
            <a:t> →</a:t>
          </a:r>
          <a:endParaRPr lang="en-IN" sz="1400" dirty="0"/>
        </a:p>
      </dgm:t>
    </dgm:pt>
    <dgm:pt modelId="{5E9E83C2-2FAB-4BF6-AE32-E110EA3F487A}" type="parTrans" cxnId="{030F8BB1-F411-4214-AEC3-390C09793995}">
      <dgm:prSet/>
      <dgm:spPr/>
      <dgm:t>
        <a:bodyPr/>
        <a:lstStyle/>
        <a:p>
          <a:endParaRPr lang="en-IN"/>
        </a:p>
      </dgm:t>
    </dgm:pt>
    <dgm:pt modelId="{50B625DE-AD3B-4C72-9FDE-BE20C25BA942}" type="sibTrans" cxnId="{030F8BB1-F411-4214-AEC3-390C09793995}">
      <dgm:prSet/>
      <dgm:spPr/>
      <dgm:t>
        <a:bodyPr/>
        <a:lstStyle/>
        <a:p>
          <a:endParaRPr lang="en-IN"/>
        </a:p>
      </dgm:t>
    </dgm:pt>
    <dgm:pt modelId="{E61CF09F-AF4B-442E-AFC7-CFE3C026F010}">
      <dgm:prSet custT="1"/>
      <dgm:spPr/>
      <dgm:t>
        <a:bodyPr/>
        <a:lstStyle/>
        <a:p>
          <a:r>
            <a:rPr lang="en-IN" sz="1400" b="1"/>
            <a:t>06 GEE/Satellite Monitoring</a:t>
          </a:r>
          <a:r>
            <a:rPr lang="en-IN" sz="1400"/>
            <a:t> →</a:t>
          </a:r>
          <a:endParaRPr lang="en-IN" sz="1400" dirty="0"/>
        </a:p>
      </dgm:t>
    </dgm:pt>
    <dgm:pt modelId="{EE6CEB2D-BF0C-40B8-B2B1-B12B7BC02742}" type="parTrans" cxnId="{006936F9-9A8E-427D-B654-4950A8C53E43}">
      <dgm:prSet/>
      <dgm:spPr/>
      <dgm:t>
        <a:bodyPr/>
        <a:lstStyle/>
        <a:p>
          <a:endParaRPr lang="en-IN"/>
        </a:p>
      </dgm:t>
    </dgm:pt>
    <dgm:pt modelId="{412420AD-4491-4532-A234-7F793021BFAE}" type="sibTrans" cxnId="{006936F9-9A8E-427D-B654-4950A8C53E43}">
      <dgm:prSet/>
      <dgm:spPr/>
      <dgm:t>
        <a:bodyPr/>
        <a:lstStyle/>
        <a:p>
          <a:endParaRPr lang="en-IN"/>
        </a:p>
      </dgm:t>
    </dgm:pt>
    <dgm:pt modelId="{6E08ECD4-949C-48EF-AC0F-74C8FAC54A67}">
      <dgm:prSet custT="1"/>
      <dgm:spPr/>
      <dgm:t>
        <a:bodyPr/>
        <a:lstStyle/>
        <a:p>
          <a:r>
            <a:rPr lang="en-IN" sz="1400"/>
            <a:t> </a:t>
          </a:r>
          <a:r>
            <a:rPr lang="en-IN" sz="1400" b="1"/>
            <a:t>07 Visualization &amp; Decision Support</a:t>
          </a:r>
          <a:r>
            <a:rPr lang="en-IN" sz="1400"/>
            <a:t> →</a:t>
          </a:r>
          <a:endParaRPr lang="en-IN" sz="1400" dirty="0"/>
        </a:p>
      </dgm:t>
    </dgm:pt>
    <dgm:pt modelId="{9EEF2E3D-DE47-485F-B869-C27FC67E71D6}" type="parTrans" cxnId="{832215CB-AFF7-4227-9903-2941514F278C}">
      <dgm:prSet/>
      <dgm:spPr/>
      <dgm:t>
        <a:bodyPr/>
        <a:lstStyle/>
        <a:p>
          <a:endParaRPr lang="en-IN"/>
        </a:p>
      </dgm:t>
    </dgm:pt>
    <dgm:pt modelId="{651806FE-56C4-453D-B28D-3653B06F57EE}" type="sibTrans" cxnId="{832215CB-AFF7-4227-9903-2941514F278C}">
      <dgm:prSet/>
      <dgm:spPr/>
      <dgm:t>
        <a:bodyPr/>
        <a:lstStyle/>
        <a:p>
          <a:endParaRPr lang="en-IN"/>
        </a:p>
      </dgm:t>
    </dgm:pt>
    <dgm:pt modelId="{939C4BA3-CD97-46FD-AF05-4311FDC6F88E}">
      <dgm:prSet custT="1"/>
      <dgm:spPr/>
      <dgm:t>
        <a:bodyPr/>
        <a:lstStyle/>
        <a:p>
          <a:r>
            <a:rPr lang="en-IN" sz="1400" b="1"/>
            <a:t>08 Export</a:t>
          </a:r>
          <a:endParaRPr lang="en-IN" sz="1400" dirty="0"/>
        </a:p>
      </dgm:t>
    </dgm:pt>
    <dgm:pt modelId="{38269331-DF99-4F34-B2AC-8FE98BD6724D}" type="parTrans" cxnId="{2ACAA212-8EFD-4B01-BF36-B58CEFAA1BCD}">
      <dgm:prSet/>
      <dgm:spPr/>
      <dgm:t>
        <a:bodyPr/>
        <a:lstStyle/>
        <a:p>
          <a:endParaRPr lang="en-IN"/>
        </a:p>
      </dgm:t>
    </dgm:pt>
    <dgm:pt modelId="{38724A31-2DAF-4C80-90B5-C774EB113D4B}" type="sibTrans" cxnId="{2ACAA212-8EFD-4B01-BF36-B58CEFAA1BCD}">
      <dgm:prSet/>
      <dgm:spPr/>
      <dgm:t>
        <a:bodyPr/>
        <a:lstStyle/>
        <a:p>
          <a:endParaRPr lang="en-IN"/>
        </a:p>
      </dgm:t>
    </dgm:pt>
    <dgm:pt modelId="{CD704ACC-D830-4748-85B2-7A395C6D5B99}" type="pres">
      <dgm:prSet presAssocID="{AAE68BF0-AEFA-44FA-8242-654F2C2BEE99}" presName="cycle" presStyleCnt="0">
        <dgm:presLayoutVars>
          <dgm:dir/>
          <dgm:resizeHandles val="exact"/>
        </dgm:presLayoutVars>
      </dgm:prSet>
      <dgm:spPr/>
    </dgm:pt>
    <dgm:pt modelId="{E508EF31-BDC2-481B-A381-6FAEA154EDE3}" type="pres">
      <dgm:prSet presAssocID="{FF3718B9-D56B-4556-960F-BB94D80DC404}" presName="node" presStyleLbl="node1" presStyleIdx="0" presStyleCnt="8">
        <dgm:presLayoutVars>
          <dgm:bulletEnabled val="1"/>
        </dgm:presLayoutVars>
      </dgm:prSet>
      <dgm:spPr/>
    </dgm:pt>
    <dgm:pt modelId="{26F8E6DF-1F94-4F3B-B282-DADF7C661938}" type="pres">
      <dgm:prSet presAssocID="{5BE6725D-A9B1-469B-B9C9-757F8E060882}" presName="sibTrans" presStyleLbl="sibTrans2D1" presStyleIdx="0" presStyleCnt="8"/>
      <dgm:spPr/>
    </dgm:pt>
    <dgm:pt modelId="{8E8B3BD3-777A-4767-B127-1F326913B571}" type="pres">
      <dgm:prSet presAssocID="{5BE6725D-A9B1-469B-B9C9-757F8E060882}" presName="connectorText" presStyleLbl="sibTrans2D1" presStyleIdx="0" presStyleCnt="8"/>
      <dgm:spPr/>
    </dgm:pt>
    <dgm:pt modelId="{13668331-3192-4817-9210-C92DD531D584}" type="pres">
      <dgm:prSet presAssocID="{4BFC9DD8-8EC9-4C13-8F9D-72A8233A500F}" presName="node" presStyleLbl="node1" presStyleIdx="1" presStyleCnt="8">
        <dgm:presLayoutVars>
          <dgm:bulletEnabled val="1"/>
        </dgm:presLayoutVars>
      </dgm:prSet>
      <dgm:spPr/>
    </dgm:pt>
    <dgm:pt modelId="{C7F0946B-3A43-42ED-98E1-0FBB893ECD40}" type="pres">
      <dgm:prSet presAssocID="{86D35F42-C4BA-4167-9D79-BCFAD5FD6192}" presName="sibTrans" presStyleLbl="sibTrans2D1" presStyleIdx="1" presStyleCnt="8"/>
      <dgm:spPr/>
    </dgm:pt>
    <dgm:pt modelId="{50A88544-F2EC-4699-90F3-DCE56AED84A6}" type="pres">
      <dgm:prSet presAssocID="{86D35F42-C4BA-4167-9D79-BCFAD5FD6192}" presName="connectorText" presStyleLbl="sibTrans2D1" presStyleIdx="1" presStyleCnt="8"/>
      <dgm:spPr/>
    </dgm:pt>
    <dgm:pt modelId="{05B35345-C493-448C-AAC1-6C3BADFAD7EA}" type="pres">
      <dgm:prSet presAssocID="{8A9E673A-C04E-4943-98E3-9C47A10D754B}" presName="node" presStyleLbl="node1" presStyleIdx="2" presStyleCnt="8" custScaleX="106353" custScaleY="103245">
        <dgm:presLayoutVars>
          <dgm:bulletEnabled val="1"/>
        </dgm:presLayoutVars>
      </dgm:prSet>
      <dgm:spPr/>
    </dgm:pt>
    <dgm:pt modelId="{B70F72CE-224C-453B-BED4-71491900277E}" type="pres">
      <dgm:prSet presAssocID="{4E526FAF-376B-4E49-8369-0103F839EE2B}" presName="sibTrans" presStyleLbl="sibTrans2D1" presStyleIdx="2" presStyleCnt="8"/>
      <dgm:spPr/>
    </dgm:pt>
    <dgm:pt modelId="{056DD00A-1D22-4EC0-9987-FDE6DA8E84F4}" type="pres">
      <dgm:prSet presAssocID="{4E526FAF-376B-4E49-8369-0103F839EE2B}" presName="connectorText" presStyleLbl="sibTrans2D1" presStyleIdx="2" presStyleCnt="8"/>
      <dgm:spPr/>
    </dgm:pt>
    <dgm:pt modelId="{CB8F4593-BF25-49A4-86A5-3267A2AF824D}" type="pres">
      <dgm:prSet presAssocID="{CDC8D3D6-198E-4197-8CBD-8040A5DDBA6C}" presName="node" presStyleLbl="node1" presStyleIdx="3" presStyleCnt="8">
        <dgm:presLayoutVars>
          <dgm:bulletEnabled val="1"/>
        </dgm:presLayoutVars>
      </dgm:prSet>
      <dgm:spPr/>
    </dgm:pt>
    <dgm:pt modelId="{EDFE3833-0284-41CB-A5FA-7D39D054C896}" type="pres">
      <dgm:prSet presAssocID="{8516DFC5-765D-4913-99EB-4FD0C576AEEA}" presName="sibTrans" presStyleLbl="sibTrans2D1" presStyleIdx="3" presStyleCnt="8"/>
      <dgm:spPr/>
    </dgm:pt>
    <dgm:pt modelId="{52D074F0-310D-4822-A102-29628FE404FB}" type="pres">
      <dgm:prSet presAssocID="{8516DFC5-765D-4913-99EB-4FD0C576AEEA}" presName="connectorText" presStyleLbl="sibTrans2D1" presStyleIdx="3" presStyleCnt="8"/>
      <dgm:spPr/>
    </dgm:pt>
    <dgm:pt modelId="{C7318076-A232-4D32-81FC-C4ECF70A1F0E}" type="pres">
      <dgm:prSet presAssocID="{F2643C1E-63B0-48F9-AAA7-B5489B5B9D7D}" presName="node" presStyleLbl="node1" presStyleIdx="4" presStyleCnt="8">
        <dgm:presLayoutVars>
          <dgm:bulletEnabled val="1"/>
        </dgm:presLayoutVars>
      </dgm:prSet>
      <dgm:spPr/>
    </dgm:pt>
    <dgm:pt modelId="{DD7DD7EC-FA85-461D-B293-F906731B8915}" type="pres">
      <dgm:prSet presAssocID="{50B625DE-AD3B-4C72-9FDE-BE20C25BA942}" presName="sibTrans" presStyleLbl="sibTrans2D1" presStyleIdx="4" presStyleCnt="8"/>
      <dgm:spPr/>
    </dgm:pt>
    <dgm:pt modelId="{73DA9C10-E5DC-45B0-B9C4-3E14F8320C15}" type="pres">
      <dgm:prSet presAssocID="{50B625DE-AD3B-4C72-9FDE-BE20C25BA942}" presName="connectorText" presStyleLbl="sibTrans2D1" presStyleIdx="4" presStyleCnt="8"/>
      <dgm:spPr/>
    </dgm:pt>
    <dgm:pt modelId="{7699FDCD-70CE-49B3-84AD-5E54EF732848}" type="pres">
      <dgm:prSet presAssocID="{E61CF09F-AF4B-442E-AFC7-CFE3C026F010}" presName="node" presStyleLbl="node1" presStyleIdx="5" presStyleCnt="8" custScaleX="122087" custScaleY="112818" custRadScaleRad="98231" custRadScaleInc="-1456">
        <dgm:presLayoutVars>
          <dgm:bulletEnabled val="1"/>
        </dgm:presLayoutVars>
      </dgm:prSet>
      <dgm:spPr/>
    </dgm:pt>
    <dgm:pt modelId="{1E43B89E-F37B-4826-9C83-4634CD3D19F4}" type="pres">
      <dgm:prSet presAssocID="{412420AD-4491-4532-A234-7F793021BFAE}" presName="sibTrans" presStyleLbl="sibTrans2D1" presStyleIdx="5" presStyleCnt="8"/>
      <dgm:spPr/>
    </dgm:pt>
    <dgm:pt modelId="{351D1376-138D-4F6C-BFDA-C623ED1E4A30}" type="pres">
      <dgm:prSet presAssocID="{412420AD-4491-4532-A234-7F793021BFAE}" presName="connectorText" presStyleLbl="sibTrans2D1" presStyleIdx="5" presStyleCnt="8"/>
      <dgm:spPr/>
    </dgm:pt>
    <dgm:pt modelId="{531703C8-96EC-4463-9BA8-0405A5C9695C}" type="pres">
      <dgm:prSet presAssocID="{6E08ECD4-949C-48EF-AC0F-74C8FAC54A67}" presName="node" presStyleLbl="node1" presStyleIdx="6" presStyleCnt="8" custScaleX="132080" custScaleY="122882">
        <dgm:presLayoutVars>
          <dgm:bulletEnabled val="1"/>
        </dgm:presLayoutVars>
      </dgm:prSet>
      <dgm:spPr/>
    </dgm:pt>
    <dgm:pt modelId="{866C4FD2-2413-4BFB-AA12-35D3AE696EFA}" type="pres">
      <dgm:prSet presAssocID="{651806FE-56C4-453D-B28D-3653B06F57EE}" presName="sibTrans" presStyleLbl="sibTrans2D1" presStyleIdx="6" presStyleCnt="8"/>
      <dgm:spPr/>
    </dgm:pt>
    <dgm:pt modelId="{597191E0-CF90-47CA-96D0-938FC618D31B}" type="pres">
      <dgm:prSet presAssocID="{651806FE-56C4-453D-B28D-3653B06F57EE}" presName="connectorText" presStyleLbl="sibTrans2D1" presStyleIdx="6" presStyleCnt="8"/>
      <dgm:spPr/>
    </dgm:pt>
    <dgm:pt modelId="{074C1B35-2CDB-457F-84CA-9D801FDB6269}" type="pres">
      <dgm:prSet presAssocID="{939C4BA3-CD97-46FD-AF05-4311FDC6F88E}" presName="node" presStyleLbl="node1" presStyleIdx="7" presStyleCnt="8">
        <dgm:presLayoutVars>
          <dgm:bulletEnabled val="1"/>
        </dgm:presLayoutVars>
      </dgm:prSet>
      <dgm:spPr/>
    </dgm:pt>
    <dgm:pt modelId="{EB4625A7-7DAC-42B5-ADF1-52C94F83980C}" type="pres">
      <dgm:prSet presAssocID="{38724A31-2DAF-4C80-90B5-C774EB113D4B}" presName="sibTrans" presStyleLbl="sibTrans2D1" presStyleIdx="7" presStyleCnt="8"/>
      <dgm:spPr/>
    </dgm:pt>
    <dgm:pt modelId="{2B70E39C-E256-446D-8AC8-83430AED07B8}" type="pres">
      <dgm:prSet presAssocID="{38724A31-2DAF-4C80-90B5-C774EB113D4B}" presName="connectorText" presStyleLbl="sibTrans2D1" presStyleIdx="7" presStyleCnt="8"/>
      <dgm:spPr/>
    </dgm:pt>
  </dgm:ptLst>
  <dgm:cxnLst>
    <dgm:cxn modelId="{671F2903-2223-454D-A535-522F82CDB626}" srcId="{AAE68BF0-AEFA-44FA-8242-654F2C2BEE99}" destId="{8A9E673A-C04E-4943-98E3-9C47A10D754B}" srcOrd="2" destOrd="0" parTransId="{DBE64D59-9D7B-43C7-A009-764EBF188E37}" sibTransId="{4E526FAF-376B-4E49-8369-0103F839EE2B}"/>
    <dgm:cxn modelId="{FEF8CF05-44FC-4C7C-8BAE-A84F53E6960B}" type="presOf" srcId="{38724A31-2DAF-4C80-90B5-C774EB113D4B}" destId="{EB4625A7-7DAC-42B5-ADF1-52C94F83980C}" srcOrd="0" destOrd="0" presId="urn:microsoft.com/office/officeart/2005/8/layout/cycle2"/>
    <dgm:cxn modelId="{2ACAA212-8EFD-4B01-BF36-B58CEFAA1BCD}" srcId="{AAE68BF0-AEFA-44FA-8242-654F2C2BEE99}" destId="{939C4BA3-CD97-46FD-AF05-4311FDC6F88E}" srcOrd="7" destOrd="0" parTransId="{38269331-DF99-4F34-B2AC-8FE98BD6724D}" sibTransId="{38724A31-2DAF-4C80-90B5-C774EB113D4B}"/>
    <dgm:cxn modelId="{8ED2A21C-F7AF-4E0A-A0D0-90A10E24DCFB}" type="presOf" srcId="{5BE6725D-A9B1-469B-B9C9-757F8E060882}" destId="{26F8E6DF-1F94-4F3B-B282-DADF7C661938}" srcOrd="0" destOrd="0" presId="urn:microsoft.com/office/officeart/2005/8/layout/cycle2"/>
    <dgm:cxn modelId="{7CF25B22-65C9-474A-8831-8E90BF262CA7}" type="presOf" srcId="{651806FE-56C4-453D-B28D-3653B06F57EE}" destId="{597191E0-CF90-47CA-96D0-938FC618D31B}" srcOrd="1" destOrd="0" presId="urn:microsoft.com/office/officeart/2005/8/layout/cycle2"/>
    <dgm:cxn modelId="{CE24785B-D615-4096-BA21-353E8AC8BD21}" type="presOf" srcId="{651806FE-56C4-453D-B28D-3653B06F57EE}" destId="{866C4FD2-2413-4BFB-AA12-35D3AE696EFA}" srcOrd="0" destOrd="0" presId="urn:microsoft.com/office/officeart/2005/8/layout/cycle2"/>
    <dgm:cxn modelId="{432E2045-72CA-4AE8-B986-9EBB5BDAA728}" type="presOf" srcId="{4E526FAF-376B-4E49-8369-0103F839EE2B}" destId="{056DD00A-1D22-4EC0-9987-FDE6DA8E84F4}" srcOrd="1" destOrd="0" presId="urn:microsoft.com/office/officeart/2005/8/layout/cycle2"/>
    <dgm:cxn modelId="{A6389745-AB73-4F56-9296-F245E6AB4DAB}" srcId="{AAE68BF0-AEFA-44FA-8242-654F2C2BEE99}" destId="{4BFC9DD8-8EC9-4C13-8F9D-72A8233A500F}" srcOrd="1" destOrd="0" parTransId="{A13FC67D-F3FD-4A74-8335-1FD15E77EFDE}" sibTransId="{86D35F42-C4BA-4167-9D79-BCFAD5FD6192}"/>
    <dgm:cxn modelId="{94BAC949-24B4-42D7-9BF1-ED03EBADBCA1}" type="presOf" srcId="{8516DFC5-765D-4913-99EB-4FD0C576AEEA}" destId="{EDFE3833-0284-41CB-A5FA-7D39D054C896}" srcOrd="0" destOrd="0" presId="urn:microsoft.com/office/officeart/2005/8/layout/cycle2"/>
    <dgm:cxn modelId="{8031EC69-AD84-445A-8F01-6A62289BA779}" type="presOf" srcId="{4E526FAF-376B-4E49-8369-0103F839EE2B}" destId="{B70F72CE-224C-453B-BED4-71491900277E}" srcOrd="0" destOrd="0" presId="urn:microsoft.com/office/officeart/2005/8/layout/cycle2"/>
    <dgm:cxn modelId="{72BF096C-5AB5-40B9-9DEA-519296F523BE}" type="presOf" srcId="{86D35F42-C4BA-4167-9D79-BCFAD5FD6192}" destId="{C7F0946B-3A43-42ED-98E1-0FBB893ECD40}" srcOrd="0" destOrd="0" presId="urn:microsoft.com/office/officeart/2005/8/layout/cycle2"/>
    <dgm:cxn modelId="{84239A6C-0129-4034-9013-6679D75B3F59}" type="presOf" srcId="{38724A31-2DAF-4C80-90B5-C774EB113D4B}" destId="{2B70E39C-E256-446D-8AC8-83430AED07B8}" srcOrd="1" destOrd="0" presId="urn:microsoft.com/office/officeart/2005/8/layout/cycle2"/>
    <dgm:cxn modelId="{47A10776-B9F3-4739-8A67-4B45B065DEA9}" type="presOf" srcId="{412420AD-4491-4532-A234-7F793021BFAE}" destId="{351D1376-138D-4F6C-BFDA-C623ED1E4A30}" srcOrd="1" destOrd="0" presId="urn:microsoft.com/office/officeart/2005/8/layout/cycle2"/>
    <dgm:cxn modelId="{004F2E7C-44BC-47E9-9801-7BD6F889102D}" type="presOf" srcId="{412420AD-4491-4532-A234-7F793021BFAE}" destId="{1E43B89E-F37B-4826-9C83-4634CD3D19F4}" srcOrd="0" destOrd="0" presId="urn:microsoft.com/office/officeart/2005/8/layout/cycle2"/>
    <dgm:cxn modelId="{AA19F780-4202-4172-ACEE-FE2BB56ADC32}" type="presOf" srcId="{F2643C1E-63B0-48F9-AAA7-B5489B5B9D7D}" destId="{C7318076-A232-4D32-81FC-C4ECF70A1F0E}" srcOrd="0" destOrd="0" presId="urn:microsoft.com/office/officeart/2005/8/layout/cycle2"/>
    <dgm:cxn modelId="{BE267490-6E58-46BD-9562-98D7A1E4B0BA}" type="presOf" srcId="{8516DFC5-765D-4913-99EB-4FD0C576AEEA}" destId="{52D074F0-310D-4822-A102-29628FE404FB}" srcOrd="1" destOrd="0" presId="urn:microsoft.com/office/officeart/2005/8/layout/cycle2"/>
    <dgm:cxn modelId="{441EAC99-89AD-44AE-9C49-86FCB206C15A}" type="presOf" srcId="{AAE68BF0-AEFA-44FA-8242-654F2C2BEE99}" destId="{CD704ACC-D830-4748-85B2-7A395C6D5B99}" srcOrd="0" destOrd="0" presId="urn:microsoft.com/office/officeart/2005/8/layout/cycle2"/>
    <dgm:cxn modelId="{231FF4A0-214A-4A5B-B36B-1E4E4061540C}" type="presOf" srcId="{FF3718B9-D56B-4556-960F-BB94D80DC404}" destId="{E508EF31-BDC2-481B-A381-6FAEA154EDE3}" srcOrd="0" destOrd="0" presId="urn:microsoft.com/office/officeart/2005/8/layout/cycle2"/>
    <dgm:cxn modelId="{C4FEBEA3-A5F4-4882-9421-EDBEA8C03013}" srcId="{AAE68BF0-AEFA-44FA-8242-654F2C2BEE99}" destId="{CDC8D3D6-198E-4197-8CBD-8040A5DDBA6C}" srcOrd="3" destOrd="0" parTransId="{F84E64F3-DF18-4AE2-BA65-DBE7FB9A1BA8}" sibTransId="{8516DFC5-765D-4913-99EB-4FD0C576AEEA}"/>
    <dgm:cxn modelId="{968912A6-F3D1-4D18-9682-0BEA786F7E0E}" type="presOf" srcId="{939C4BA3-CD97-46FD-AF05-4311FDC6F88E}" destId="{074C1B35-2CDB-457F-84CA-9D801FDB6269}" srcOrd="0" destOrd="0" presId="urn:microsoft.com/office/officeart/2005/8/layout/cycle2"/>
    <dgm:cxn modelId="{030F8BB1-F411-4214-AEC3-390C09793995}" srcId="{AAE68BF0-AEFA-44FA-8242-654F2C2BEE99}" destId="{F2643C1E-63B0-48F9-AAA7-B5489B5B9D7D}" srcOrd="4" destOrd="0" parTransId="{5E9E83C2-2FAB-4BF6-AE32-E110EA3F487A}" sibTransId="{50B625DE-AD3B-4C72-9FDE-BE20C25BA942}"/>
    <dgm:cxn modelId="{832215CB-AFF7-4227-9903-2941514F278C}" srcId="{AAE68BF0-AEFA-44FA-8242-654F2C2BEE99}" destId="{6E08ECD4-949C-48EF-AC0F-74C8FAC54A67}" srcOrd="6" destOrd="0" parTransId="{9EEF2E3D-DE47-485F-B869-C27FC67E71D6}" sibTransId="{651806FE-56C4-453D-B28D-3653B06F57EE}"/>
    <dgm:cxn modelId="{A13056CB-A3CF-4249-9E38-D20325FB346E}" type="presOf" srcId="{50B625DE-AD3B-4C72-9FDE-BE20C25BA942}" destId="{73DA9C10-E5DC-45B0-B9C4-3E14F8320C15}" srcOrd="1" destOrd="0" presId="urn:microsoft.com/office/officeart/2005/8/layout/cycle2"/>
    <dgm:cxn modelId="{54719FCF-4D89-4DB2-A18C-F342AAB9C676}" type="presOf" srcId="{5BE6725D-A9B1-469B-B9C9-757F8E060882}" destId="{8E8B3BD3-777A-4767-B127-1F326913B571}" srcOrd="1" destOrd="0" presId="urn:microsoft.com/office/officeart/2005/8/layout/cycle2"/>
    <dgm:cxn modelId="{3C18C8D1-FB06-4C5A-8F28-230BDFEFDD00}" type="presOf" srcId="{50B625DE-AD3B-4C72-9FDE-BE20C25BA942}" destId="{DD7DD7EC-FA85-461D-B293-F906731B8915}" srcOrd="0" destOrd="0" presId="urn:microsoft.com/office/officeart/2005/8/layout/cycle2"/>
    <dgm:cxn modelId="{86D23FD5-E19C-4F20-98F3-12C050706F15}" type="presOf" srcId="{CDC8D3D6-198E-4197-8CBD-8040A5DDBA6C}" destId="{CB8F4593-BF25-49A4-86A5-3267A2AF824D}" srcOrd="0" destOrd="0" presId="urn:microsoft.com/office/officeart/2005/8/layout/cycle2"/>
    <dgm:cxn modelId="{045C93E3-C2E7-4CC2-A0FC-D172AC636323}" srcId="{AAE68BF0-AEFA-44FA-8242-654F2C2BEE99}" destId="{FF3718B9-D56B-4556-960F-BB94D80DC404}" srcOrd="0" destOrd="0" parTransId="{0B37F00C-34E8-419E-A5B4-71DDDA5C569C}" sibTransId="{5BE6725D-A9B1-469B-B9C9-757F8E060882}"/>
    <dgm:cxn modelId="{CED12FE4-82E5-42D7-84AE-59B917E6430B}" type="presOf" srcId="{86D35F42-C4BA-4167-9D79-BCFAD5FD6192}" destId="{50A88544-F2EC-4699-90F3-DCE56AED84A6}" srcOrd="1" destOrd="0" presId="urn:microsoft.com/office/officeart/2005/8/layout/cycle2"/>
    <dgm:cxn modelId="{24C3E2E7-A192-4C48-9136-65EA21D4688D}" type="presOf" srcId="{4BFC9DD8-8EC9-4C13-8F9D-72A8233A500F}" destId="{13668331-3192-4817-9210-C92DD531D584}" srcOrd="0" destOrd="0" presId="urn:microsoft.com/office/officeart/2005/8/layout/cycle2"/>
    <dgm:cxn modelId="{4D35EFE9-F8D5-41A9-84D8-691ACBBF9207}" type="presOf" srcId="{6E08ECD4-949C-48EF-AC0F-74C8FAC54A67}" destId="{531703C8-96EC-4463-9BA8-0405A5C9695C}" srcOrd="0" destOrd="0" presId="urn:microsoft.com/office/officeart/2005/8/layout/cycle2"/>
    <dgm:cxn modelId="{F4596FF7-D96D-428A-9C30-36D54C460E8A}" type="presOf" srcId="{8A9E673A-C04E-4943-98E3-9C47A10D754B}" destId="{05B35345-C493-448C-AAC1-6C3BADFAD7EA}" srcOrd="0" destOrd="0" presId="urn:microsoft.com/office/officeart/2005/8/layout/cycle2"/>
    <dgm:cxn modelId="{A09951F7-9DBB-4F50-9F0F-5741D0FAA82D}" type="presOf" srcId="{E61CF09F-AF4B-442E-AFC7-CFE3C026F010}" destId="{7699FDCD-70CE-49B3-84AD-5E54EF732848}" srcOrd="0" destOrd="0" presId="urn:microsoft.com/office/officeart/2005/8/layout/cycle2"/>
    <dgm:cxn modelId="{006936F9-9A8E-427D-B654-4950A8C53E43}" srcId="{AAE68BF0-AEFA-44FA-8242-654F2C2BEE99}" destId="{E61CF09F-AF4B-442E-AFC7-CFE3C026F010}" srcOrd="5" destOrd="0" parTransId="{EE6CEB2D-BF0C-40B8-B2B1-B12B7BC02742}" sibTransId="{412420AD-4491-4532-A234-7F793021BFAE}"/>
    <dgm:cxn modelId="{75AC689A-0EC7-4647-8720-18C3F13A6C07}" type="presParOf" srcId="{CD704ACC-D830-4748-85B2-7A395C6D5B99}" destId="{E508EF31-BDC2-481B-A381-6FAEA154EDE3}" srcOrd="0" destOrd="0" presId="urn:microsoft.com/office/officeart/2005/8/layout/cycle2"/>
    <dgm:cxn modelId="{1D3E5141-3AD8-4FF7-B081-EAB2DB17CF92}" type="presParOf" srcId="{CD704ACC-D830-4748-85B2-7A395C6D5B99}" destId="{26F8E6DF-1F94-4F3B-B282-DADF7C661938}" srcOrd="1" destOrd="0" presId="urn:microsoft.com/office/officeart/2005/8/layout/cycle2"/>
    <dgm:cxn modelId="{D942AAA2-36C3-4F90-8042-5875355C6FE0}" type="presParOf" srcId="{26F8E6DF-1F94-4F3B-B282-DADF7C661938}" destId="{8E8B3BD3-777A-4767-B127-1F326913B571}" srcOrd="0" destOrd="0" presId="urn:microsoft.com/office/officeart/2005/8/layout/cycle2"/>
    <dgm:cxn modelId="{CC729714-D130-4205-B6C9-44C50011B341}" type="presParOf" srcId="{CD704ACC-D830-4748-85B2-7A395C6D5B99}" destId="{13668331-3192-4817-9210-C92DD531D584}" srcOrd="2" destOrd="0" presId="urn:microsoft.com/office/officeart/2005/8/layout/cycle2"/>
    <dgm:cxn modelId="{19C98815-4C8C-4CED-8A33-D89DDB134887}" type="presParOf" srcId="{CD704ACC-D830-4748-85B2-7A395C6D5B99}" destId="{C7F0946B-3A43-42ED-98E1-0FBB893ECD40}" srcOrd="3" destOrd="0" presId="urn:microsoft.com/office/officeart/2005/8/layout/cycle2"/>
    <dgm:cxn modelId="{D3E011DA-76C5-45BB-8F6A-A6766BAE87B2}" type="presParOf" srcId="{C7F0946B-3A43-42ED-98E1-0FBB893ECD40}" destId="{50A88544-F2EC-4699-90F3-DCE56AED84A6}" srcOrd="0" destOrd="0" presId="urn:microsoft.com/office/officeart/2005/8/layout/cycle2"/>
    <dgm:cxn modelId="{7007E70B-D059-4304-9F22-9DECE99C56C2}" type="presParOf" srcId="{CD704ACC-D830-4748-85B2-7A395C6D5B99}" destId="{05B35345-C493-448C-AAC1-6C3BADFAD7EA}" srcOrd="4" destOrd="0" presId="urn:microsoft.com/office/officeart/2005/8/layout/cycle2"/>
    <dgm:cxn modelId="{403F3339-D9B4-462D-A5D5-0D6705D8D2CD}" type="presParOf" srcId="{CD704ACC-D830-4748-85B2-7A395C6D5B99}" destId="{B70F72CE-224C-453B-BED4-71491900277E}" srcOrd="5" destOrd="0" presId="urn:microsoft.com/office/officeart/2005/8/layout/cycle2"/>
    <dgm:cxn modelId="{62774FB5-B8CE-4B20-A048-B3985EEB162F}" type="presParOf" srcId="{B70F72CE-224C-453B-BED4-71491900277E}" destId="{056DD00A-1D22-4EC0-9987-FDE6DA8E84F4}" srcOrd="0" destOrd="0" presId="urn:microsoft.com/office/officeart/2005/8/layout/cycle2"/>
    <dgm:cxn modelId="{1F890ED2-E32A-4561-A920-18DB09ED8B98}" type="presParOf" srcId="{CD704ACC-D830-4748-85B2-7A395C6D5B99}" destId="{CB8F4593-BF25-49A4-86A5-3267A2AF824D}" srcOrd="6" destOrd="0" presId="urn:microsoft.com/office/officeart/2005/8/layout/cycle2"/>
    <dgm:cxn modelId="{1BBFC868-1E03-4D5D-B2C1-005F948E11FB}" type="presParOf" srcId="{CD704ACC-D830-4748-85B2-7A395C6D5B99}" destId="{EDFE3833-0284-41CB-A5FA-7D39D054C896}" srcOrd="7" destOrd="0" presId="urn:microsoft.com/office/officeart/2005/8/layout/cycle2"/>
    <dgm:cxn modelId="{02A9C52E-8E4D-48FB-8381-ECB71A950BA1}" type="presParOf" srcId="{EDFE3833-0284-41CB-A5FA-7D39D054C896}" destId="{52D074F0-310D-4822-A102-29628FE404FB}" srcOrd="0" destOrd="0" presId="urn:microsoft.com/office/officeart/2005/8/layout/cycle2"/>
    <dgm:cxn modelId="{7676E4FB-0791-49A8-B236-1773320867A9}" type="presParOf" srcId="{CD704ACC-D830-4748-85B2-7A395C6D5B99}" destId="{C7318076-A232-4D32-81FC-C4ECF70A1F0E}" srcOrd="8" destOrd="0" presId="urn:microsoft.com/office/officeart/2005/8/layout/cycle2"/>
    <dgm:cxn modelId="{0006FE2D-2016-40B1-862C-0A8306323D8C}" type="presParOf" srcId="{CD704ACC-D830-4748-85B2-7A395C6D5B99}" destId="{DD7DD7EC-FA85-461D-B293-F906731B8915}" srcOrd="9" destOrd="0" presId="urn:microsoft.com/office/officeart/2005/8/layout/cycle2"/>
    <dgm:cxn modelId="{61A8306B-618F-4AB0-B8AA-57D761C75811}" type="presParOf" srcId="{DD7DD7EC-FA85-461D-B293-F906731B8915}" destId="{73DA9C10-E5DC-45B0-B9C4-3E14F8320C15}" srcOrd="0" destOrd="0" presId="urn:microsoft.com/office/officeart/2005/8/layout/cycle2"/>
    <dgm:cxn modelId="{E0C0E143-E20A-4431-A887-40E3CBB114F3}" type="presParOf" srcId="{CD704ACC-D830-4748-85B2-7A395C6D5B99}" destId="{7699FDCD-70CE-49B3-84AD-5E54EF732848}" srcOrd="10" destOrd="0" presId="urn:microsoft.com/office/officeart/2005/8/layout/cycle2"/>
    <dgm:cxn modelId="{B2B6D1A6-F727-4BB7-8D5E-4F21DA588B34}" type="presParOf" srcId="{CD704ACC-D830-4748-85B2-7A395C6D5B99}" destId="{1E43B89E-F37B-4826-9C83-4634CD3D19F4}" srcOrd="11" destOrd="0" presId="urn:microsoft.com/office/officeart/2005/8/layout/cycle2"/>
    <dgm:cxn modelId="{6C0565B6-1148-4528-8794-B0B11695424C}" type="presParOf" srcId="{1E43B89E-F37B-4826-9C83-4634CD3D19F4}" destId="{351D1376-138D-4F6C-BFDA-C623ED1E4A30}" srcOrd="0" destOrd="0" presId="urn:microsoft.com/office/officeart/2005/8/layout/cycle2"/>
    <dgm:cxn modelId="{933C67DA-124D-4BC3-A1BA-DF5AF3DB2D46}" type="presParOf" srcId="{CD704ACC-D830-4748-85B2-7A395C6D5B99}" destId="{531703C8-96EC-4463-9BA8-0405A5C9695C}" srcOrd="12" destOrd="0" presId="urn:microsoft.com/office/officeart/2005/8/layout/cycle2"/>
    <dgm:cxn modelId="{0A754379-5E08-4467-85AA-98C10578B5AF}" type="presParOf" srcId="{CD704ACC-D830-4748-85B2-7A395C6D5B99}" destId="{866C4FD2-2413-4BFB-AA12-35D3AE696EFA}" srcOrd="13" destOrd="0" presId="urn:microsoft.com/office/officeart/2005/8/layout/cycle2"/>
    <dgm:cxn modelId="{DF7573F4-92C5-454D-BF0B-651ED6A46A9D}" type="presParOf" srcId="{866C4FD2-2413-4BFB-AA12-35D3AE696EFA}" destId="{597191E0-CF90-47CA-96D0-938FC618D31B}" srcOrd="0" destOrd="0" presId="urn:microsoft.com/office/officeart/2005/8/layout/cycle2"/>
    <dgm:cxn modelId="{69B054B6-D55D-4A88-9051-392FE9E43361}" type="presParOf" srcId="{CD704ACC-D830-4748-85B2-7A395C6D5B99}" destId="{074C1B35-2CDB-457F-84CA-9D801FDB6269}" srcOrd="14" destOrd="0" presId="urn:microsoft.com/office/officeart/2005/8/layout/cycle2"/>
    <dgm:cxn modelId="{629618B3-A437-49F3-8676-FB183E71A539}" type="presParOf" srcId="{CD704ACC-D830-4748-85B2-7A395C6D5B99}" destId="{EB4625A7-7DAC-42B5-ADF1-52C94F83980C}" srcOrd="15" destOrd="0" presId="urn:microsoft.com/office/officeart/2005/8/layout/cycle2"/>
    <dgm:cxn modelId="{50580F5D-1547-4FA4-9C80-2EEBEF505819}" type="presParOf" srcId="{EB4625A7-7DAC-42B5-ADF1-52C94F83980C}" destId="{2B70E39C-E256-446D-8AC8-83430AED07B8}"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B10A76-3C3F-41B1-A8AF-0486AB4D9EF0}" type="doc">
      <dgm:prSet loTypeId="urn:microsoft.com/office/officeart/2005/8/layout/vList5" loCatId="list" qsTypeId="urn:microsoft.com/office/officeart/2005/8/quickstyle/simple2#1" qsCatId="simple" csTypeId="urn:microsoft.com/office/officeart/2005/8/colors/accent0_2#1" csCatId="mainScheme" phldr="1"/>
      <dgm:spPr/>
      <dgm:t>
        <a:bodyPr/>
        <a:lstStyle/>
        <a:p>
          <a:endParaRPr lang="en-IN"/>
        </a:p>
      </dgm:t>
    </dgm:pt>
    <dgm:pt modelId="{623F962A-2DCE-4D85-A0CD-8130E31C8DDA}">
      <dgm:prSet custT="1"/>
      <dgm:spPr/>
      <dgm:t>
        <a:bodyPr/>
        <a:lstStyle/>
        <a:p>
          <a:r>
            <a:rPr lang="en-US" sz="2000" b="1"/>
            <a:t>TECH STACK:</a:t>
          </a:r>
          <a:endParaRPr lang="en-IN" sz="2000" dirty="0"/>
        </a:p>
      </dgm:t>
    </dgm:pt>
    <dgm:pt modelId="{FF08926B-56C9-42F6-B797-36066DD93B26}" type="parTrans" cxnId="{EF57D5EF-DEB6-48CB-87D5-D63E1BA44CCE}">
      <dgm:prSet/>
      <dgm:spPr/>
      <dgm:t>
        <a:bodyPr/>
        <a:lstStyle/>
        <a:p>
          <a:endParaRPr lang="en-IN"/>
        </a:p>
      </dgm:t>
    </dgm:pt>
    <dgm:pt modelId="{E53225F5-ED50-4100-B257-359E0ED98C80}" type="sibTrans" cxnId="{EF57D5EF-DEB6-48CB-87D5-D63E1BA44CCE}">
      <dgm:prSet/>
      <dgm:spPr/>
      <dgm:t>
        <a:bodyPr/>
        <a:lstStyle/>
        <a:p>
          <a:endParaRPr lang="en-IN"/>
        </a:p>
      </dgm:t>
    </dgm:pt>
    <dgm:pt modelId="{1B6C3152-09A6-45EE-96B2-5529928433BC}">
      <dgm:prSet custT="1"/>
      <dgm:spPr/>
      <dgm:t>
        <a:bodyPr/>
        <a:lstStyle/>
        <a:p>
          <a:r>
            <a:rPr lang="en-IN" sz="1600" dirty="0"/>
            <a:t>🎨 Frontend--   HTML5, CSS, Bootstrap, JavaScript.</a:t>
          </a:r>
        </a:p>
      </dgm:t>
    </dgm:pt>
    <dgm:pt modelId="{A5DFB1CD-C88A-4826-A2F2-570E81B0D11F}" type="parTrans" cxnId="{C7578640-6376-4764-9788-D593A81569D6}">
      <dgm:prSet/>
      <dgm:spPr/>
      <dgm:t>
        <a:bodyPr/>
        <a:lstStyle/>
        <a:p>
          <a:endParaRPr lang="en-IN"/>
        </a:p>
      </dgm:t>
    </dgm:pt>
    <dgm:pt modelId="{725E99C5-B557-46E0-99C5-E8D52A712767}" type="sibTrans" cxnId="{C7578640-6376-4764-9788-D593A81569D6}">
      <dgm:prSet/>
      <dgm:spPr/>
      <dgm:t>
        <a:bodyPr/>
        <a:lstStyle/>
        <a:p>
          <a:endParaRPr lang="en-IN"/>
        </a:p>
      </dgm:t>
    </dgm:pt>
    <dgm:pt modelId="{BD679576-05A6-48F5-8F7D-BD574F708BF9}">
      <dgm:prSet custT="1"/>
      <dgm:spPr/>
      <dgm:t>
        <a:bodyPr/>
        <a:lstStyle/>
        <a:p>
          <a:r>
            <a:rPr lang="en-IN" sz="1600" dirty="0"/>
            <a:t>⚙️ Backend--    FAST APIs , REST APIs .</a:t>
          </a:r>
        </a:p>
      </dgm:t>
    </dgm:pt>
    <dgm:pt modelId="{F60914B5-03AA-4B3B-8448-7139FA90C53C}" type="parTrans" cxnId="{8EBB5F8E-7DE3-49EE-BA1E-A9017F461BDA}">
      <dgm:prSet/>
      <dgm:spPr/>
      <dgm:t>
        <a:bodyPr/>
        <a:lstStyle/>
        <a:p>
          <a:endParaRPr lang="en-IN"/>
        </a:p>
      </dgm:t>
    </dgm:pt>
    <dgm:pt modelId="{B3036E75-1AB9-4FEE-B271-3A86C4E82944}" type="sibTrans" cxnId="{8EBB5F8E-7DE3-49EE-BA1E-A9017F461BDA}">
      <dgm:prSet/>
      <dgm:spPr/>
      <dgm:t>
        <a:bodyPr/>
        <a:lstStyle/>
        <a:p>
          <a:endParaRPr lang="en-IN"/>
        </a:p>
      </dgm:t>
    </dgm:pt>
    <dgm:pt modelId="{9DA94F95-9ACE-40BE-8237-70E5394D1CCF}">
      <dgm:prSet custT="1"/>
      <dgm:spPr/>
      <dgm:t>
        <a:bodyPr/>
        <a:lstStyle/>
        <a:p>
          <a:r>
            <a:rPr lang="en-IN" sz="1600" dirty="0"/>
            <a:t>🗄️ Data &amp; Database--  MySQL,  DEM Data —elevation/topography,  Hydrological &amp; Dam Data.</a:t>
          </a:r>
        </a:p>
      </dgm:t>
    </dgm:pt>
    <dgm:pt modelId="{EE33A89E-BD3F-47CB-A521-AE1004B3C41A}" type="parTrans" cxnId="{5A9DE8F0-70F6-43CC-A636-AACAD475DA8D}">
      <dgm:prSet/>
      <dgm:spPr/>
      <dgm:t>
        <a:bodyPr/>
        <a:lstStyle/>
        <a:p>
          <a:endParaRPr lang="en-IN"/>
        </a:p>
      </dgm:t>
    </dgm:pt>
    <dgm:pt modelId="{BDC48E4B-194B-4AF5-B2D9-2DB56F588B1F}" type="sibTrans" cxnId="{5A9DE8F0-70F6-43CC-A636-AACAD475DA8D}">
      <dgm:prSet/>
      <dgm:spPr/>
      <dgm:t>
        <a:bodyPr/>
        <a:lstStyle/>
        <a:p>
          <a:endParaRPr lang="en-IN"/>
        </a:p>
      </dgm:t>
    </dgm:pt>
    <dgm:pt modelId="{697CC5C6-F9D7-4879-9F07-E57626EA5D7C}">
      <dgm:prSet custT="1"/>
      <dgm:spPr/>
      <dgm:t>
        <a:bodyPr/>
        <a:lstStyle/>
        <a:p>
          <a:r>
            <a:rPr lang="en-IN" sz="1600" dirty="0"/>
            <a:t>🌍 Geospatial &amp; Monitoring--  Google Earth Engine (GEE),  GIS / Geospatial Processing,  SHP / KML — geospatial output formats.</a:t>
          </a:r>
        </a:p>
      </dgm:t>
    </dgm:pt>
    <dgm:pt modelId="{39674538-8F39-4F43-B2B4-1B5F463802C4}" type="parTrans" cxnId="{8DD88442-4290-418F-AC64-EFABA4EE733E}">
      <dgm:prSet/>
      <dgm:spPr/>
      <dgm:t>
        <a:bodyPr/>
        <a:lstStyle/>
        <a:p>
          <a:endParaRPr lang="en-IN"/>
        </a:p>
      </dgm:t>
    </dgm:pt>
    <dgm:pt modelId="{4E1A7791-5CBA-4128-A186-7DF468E29DB1}" type="sibTrans" cxnId="{8DD88442-4290-418F-AC64-EFABA4EE733E}">
      <dgm:prSet/>
      <dgm:spPr/>
      <dgm:t>
        <a:bodyPr/>
        <a:lstStyle/>
        <a:p>
          <a:endParaRPr lang="en-IN"/>
        </a:p>
      </dgm:t>
    </dgm:pt>
    <dgm:pt modelId="{55CF4510-EC61-4BCC-881E-B60367D4FD9F}">
      <dgm:prSet custT="1"/>
      <dgm:spPr/>
      <dgm:t>
        <a:bodyPr/>
        <a:lstStyle/>
        <a:p>
          <a:r>
            <a:rPr lang="en-IN" sz="1600" dirty="0"/>
            <a:t>🌊 Hydrodynamic Modelling--  SPH (Smooth Particle Hydrodynamics),   Deft3D</a:t>
          </a:r>
        </a:p>
      </dgm:t>
    </dgm:pt>
    <dgm:pt modelId="{80F19D41-F1A7-44A1-8AB7-46A792D58877}" type="parTrans" cxnId="{A027B076-ED70-4262-BA8F-5E07137CD8AC}">
      <dgm:prSet/>
      <dgm:spPr/>
      <dgm:t>
        <a:bodyPr/>
        <a:lstStyle/>
        <a:p>
          <a:endParaRPr lang="en-IN"/>
        </a:p>
      </dgm:t>
    </dgm:pt>
    <dgm:pt modelId="{E1AB31C3-57D1-4497-A424-D56050B138B8}" type="sibTrans" cxnId="{A027B076-ED70-4262-BA8F-5E07137CD8AC}">
      <dgm:prSet/>
      <dgm:spPr/>
      <dgm:t>
        <a:bodyPr/>
        <a:lstStyle/>
        <a:p>
          <a:endParaRPr lang="en-IN"/>
        </a:p>
      </dgm:t>
    </dgm:pt>
    <dgm:pt modelId="{3CFF685B-6A4D-4AE4-A415-B59108711B6A}" type="pres">
      <dgm:prSet presAssocID="{5EB10A76-3C3F-41B1-A8AF-0486AB4D9EF0}" presName="Name0" presStyleCnt="0">
        <dgm:presLayoutVars>
          <dgm:dir/>
          <dgm:animLvl val="lvl"/>
          <dgm:resizeHandles val="exact"/>
        </dgm:presLayoutVars>
      </dgm:prSet>
      <dgm:spPr/>
    </dgm:pt>
    <dgm:pt modelId="{3AFCA583-FEE7-4F40-9AAE-EE8A601D9BA6}" type="pres">
      <dgm:prSet presAssocID="{623F962A-2DCE-4D85-A0CD-8130E31C8DDA}" presName="linNode" presStyleCnt="0"/>
      <dgm:spPr/>
    </dgm:pt>
    <dgm:pt modelId="{9BFD4087-A2CC-44AA-AF82-AF52BD447AF7}" type="pres">
      <dgm:prSet presAssocID="{623F962A-2DCE-4D85-A0CD-8130E31C8DDA}" presName="parentText" presStyleLbl="node1" presStyleIdx="0" presStyleCnt="6" custScaleX="111466" custScaleY="24718">
        <dgm:presLayoutVars>
          <dgm:chMax val="1"/>
          <dgm:bulletEnabled val="1"/>
        </dgm:presLayoutVars>
      </dgm:prSet>
      <dgm:spPr/>
    </dgm:pt>
    <dgm:pt modelId="{ACB934E4-6946-46A9-956E-89CD2E3D88DA}" type="pres">
      <dgm:prSet presAssocID="{E53225F5-ED50-4100-B257-359E0ED98C80}" presName="sp" presStyleCnt="0"/>
      <dgm:spPr/>
    </dgm:pt>
    <dgm:pt modelId="{DE30E07B-1F92-414F-93FC-17B03486DDF6}" type="pres">
      <dgm:prSet presAssocID="{1B6C3152-09A6-45EE-96B2-5529928433BC}" presName="linNode" presStyleCnt="0"/>
      <dgm:spPr/>
    </dgm:pt>
    <dgm:pt modelId="{87C23024-ADD9-4DFA-B579-9C857B6F2F0A}" type="pres">
      <dgm:prSet presAssocID="{1B6C3152-09A6-45EE-96B2-5529928433BC}" presName="parentText" presStyleLbl="node1" presStyleIdx="1" presStyleCnt="6" custScaleX="182165" custScaleY="29350">
        <dgm:presLayoutVars>
          <dgm:chMax val="1"/>
          <dgm:bulletEnabled val="1"/>
        </dgm:presLayoutVars>
      </dgm:prSet>
      <dgm:spPr/>
    </dgm:pt>
    <dgm:pt modelId="{4558D372-6F48-40E3-94C6-D4145EB71E61}" type="pres">
      <dgm:prSet presAssocID="{725E99C5-B557-46E0-99C5-E8D52A712767}" presName="sp" presStyleCnt="0"/>
      <dgm:spPr/>
    </dgm:pt>
    <dgm:pt modelId="{37DED4C4-8A98-4D58-837E-FA719F2F956A}" type="pres">
      <dgm:prSet presAssocID="{BD679576-05A6-48F5-8F7D-BD574F708BF9}" presName="linNode" presStyleCnt="0"/>
      <dgm:spPr/>
    </dgm:pt>
    <dgm:pt modelId="{6F5784CD-9212-448E-92D1-DDA5F5EE0287}" type="pres">
      <dgm:prSet presAssocID="{BD679576-05A6-48F5-8F7D-BD574F708BF9}" presName="parentText" presStyleLbl="node1" presStyleIdx="2" presStyleCnt="6" custScaleX="182165" custScaleY="29350">
        <dgm:presLayoutVars>
          <dgm:chMax val="1"/>
          <dgm:bulletEnabled val="1"/>
        </dgm:presLayoutVars>
      </dgm:prSet>
      <dgm:spPr/>
    </dgm:pt>
    <dgm:pt modelId="{1708D91A-1FAA-40D7-A9C2-F44D90B45D4A}" type="pres">
      <dgm:prSet presAssocID="{B3036E75-1AB9-4FEE-B271-3A86C4E82944}" presName="sp" presStyleCnt="0"/>
      <dgm:spPr/>
    </dgm:pt>
    <dgm:pt modelId="{C274E1EC-17DB-4906-814C-917FFF5F7064}" type="pres">
      <dgm:prSet presAssocID="{9DA94F95-9ACE-40BE-8237-70E5394D1CCF}" presName="linNode" presStyleCnt="0"/>
      <dgm:spPr/>
    </dgm:pt>
    <dgm:pt modelId="{BCD25467-E9F8-4826-8CFF-E311C8DE6F41}" type="pres">
      <dgm:prSet presAssocID="{9DA94F95-9ACE-40BE-8237-70E5394D1CCF}" presName="parentText" presStyleLbl="node1" presStyleIdx="3" presStyleCnt="6" custScaleX="182165" custScaleY="29350">
        <dgm:presLayoutVars>
          <dgm:chMax val="1"/>
          <dgm:bulletEnabled val="1"/>
        </dgm:presLayoutVars>
      </dgm:prSet>
      <dgm:spPr/>
    </dgm:pt>
    <dgm:pt modelId="{D1F97346-9976-4165-B8C2-0D0689D76EE4}" type="pres">
      <dgm:prSet presAssocID="{BDC48E4B-194B-4AF5-B2D9-2DB56F588B1F}" presName="sp" presStyleCnt="0"/>
      <dgm:spPr/>
    </dgm:pt>
    <dgm:pt modelId="{3C4B92D1-DAF6-45CC-A6A9-710A030363BD}" type="pres">
      <dgm:prSet presAssocID="{697CC5C6-F9D7-4879-9F07-E57626EA5D7C}" presName="linNode" presStyleCnt="0"/>
      <dgm:spPr/>
    </dgm:pt>
    <dgm:pt modelId="{CDB80C53-B070-433D-B7CB-017DF7E50A17}" type="pres">
      <dgm:prSet presAssocID="{697CC5C6-F9D7-4879-9F07-E57626EA5D7C}" presName="parentText" presStyleLbl="node1" presStyleIdx="4" presStyleCnt="6" custScaleX="182165" custScaleY="29350">
        <dgm:presLayoutVars>
          <dgm:chMax val="1"/>
          <dgm:bulletEnabled val="1"/>
        </dgm:presLayoutVars>
      </dgm:prSet>
      <dgm:spPr/>
    </dgm:pt>
    <dgm:pt modelId="{C80A32C5-B337-4EB7-A481-21DF3A7945B8}" type="pres">
      <dgm:prSet presAssocID="{4E1A7791-5CBA-4128-A186-7DF468E29DB1}" presName="sp" presStyleCnt="0"/>
      <dgm:spPr/>
    </dgm:pt>
    <dgm:pt modelId="{10B11DA6-EF91-4312-924F-75F501F7780C}" type="pres">
      <dgm:prSet presAssocID="{55CF4510-EC61-4BCC-881E-B60367D4FD9F}" presName="linNode" presStyleCnt="0"/>
      <dgm:spPr/>
    </dgm:pt>
    <dgm:pt modelId="{CC6BE496-4B7E-45DC-B380-B1BD58B1E70C}" type="pres">
      <dgm:prSet presAssocID="{55CF4510-EC61-4BCC-881E-B60367D4FD9F}" presName="parentText" presStyleLbl="node1" presStyleIdx="5" presStyleCnt="6" custScaleX="182165" custScaleY="29350">
        <dgm:presLayoutVars>
          <dgm:chMax val="1"/>
          <dgm:bulletEnabled val="1"/>
        </dgm:presLayoutVars>
      </dgm:prSet>
      <dgm:spPr/>
    </dgm:pt>
  </dgm:ptLst>
  <dgm:cxnLst>
    <dgm:cxn modelId="{5E2AEC20-37C7-4A07-8081-135C890C9D50}" type="presOf" srcId="{697CC5C6-F9D7-4879-9F07-E57626EA5D7C}" destId="{CDB80C53-B070-433D-B7CB-017DF7E50A17}" srcOrd="0" destOrd="0" presId="urn:microsoft.com/office/officeart/2005/8/layout/vList5"/>
    <dgm:cxn modelId="{5F917F40-F664-40AB-ABF7-21795C417DE4}" type="presOf" srcId="{55CF4510-EC61-4BCC-881E-B60367D4FD9F}" destId="{CC6BE496-4B7E-45DC-B380-B1BD58B1E70C}" srcOrd="0" destOrd="0" presId="urn:microsoft.com/office/officeart/2005/8/layout/vList5"/>
    <dgm:cxn modelId="{C7578640-6376-4764-9788-D593A81569D6}" srcId="{5EB10A76-3C3F-41B1-A8AF-0486AB4D9EF0}" destId="{1B6C3152-09A6-45EE-96B2-5529928433BC}" srcOrd="1" destOrd="0" parTransId="{A5DFB1CD-C88A-4826-A2F2-570E81B0D11F}" sibTransId="{725E99C5-B557-46E0-99C5-E8D52A712767}"/>
    <dgm:cxn modelId="{8DD88442-4290-418F-AC64-EFABA4EE733E}" srcId="{5EB10A76-3C3F-41B1-A8AF-0486AB4D9EF0}" destId="{697CC5C6-F9D7-4879-9F07-E57626EA5D7C}" srcOrd="4" destOrd="0" parTransId="{39674538-8F39-4F43-B2B4-1B5F463802C4}" sibTransId="{4E1A7791-5CBA-4128-A186-7DF468E29DB1}"/>
    <dgm:cxn modelId="{C66BBF49-A951-47A4-9303-ED5C935AA00E}" type="presOf" srcId="{1B6C3152-09A6-45EE-96B2-5529928433BC}" destId="{87C23024-ADD9-4DFA-B579-9C857B6F2F0A}" srcOrd="0" destOrd="0" presId="urn:microsoft.com/office/officeart/2005/8/layout/vList5"/>
    <dgm:cxn modelId="{A027B076-ED70-4262-BA8F-5E07137CD8AC}" srcId="{5EB10A76-3C3F-41B1-A8AF-0486AB4D9EF0}" destId="{55CF4510-EC61-4BCC-881E-B60367D4FD9F}" srcOrd="5" destOrd="0" parTransId="{80F19D41-F1A7-44A1-8AB7-46A792D58877}" sibTransId="{E1AB31C3-57D1-4497-A424-D56050B138B8}"/>
    <dgm:cxn modelId="{8EBB5F8E-7DE3-49EE-BA1E-A9017F461BDA}" srcId="{5EB10A76-3C3F-41B1-A8AF-0486AB4D9EF0}" destId="{BD679576-05A6-48F5-8F7D-BD574F708BF9}" srcOrd="2" destOrd="0" parTransId="{F60914B5-03AA-4B3B-8448-7139FA90C53C}" sibTransId="{B3036E75-1AB9-4FEE-B271-3A86C4E82944}"/>
    <dgm:cxn modelId="{9A11B9AD-8F1F-432D-89C4-49CA5188FDD8}" type="presOf" srcId="{BD679576-05A6-48F5-8F7D-BD574F708BF9}" destId="{6F5784CD-9212-448E-92D1-DDA5F5EE0287}" srcOrd="0" destOrd="0" presId="urn:microsoft.com/office/officeart/2005/8/layout/vList5"/>
    <dgm:cxn modelId="{007490CE-9D39-42D7-A633-825639C0A607}" type="presOf" srcId="{5EB10A76-3C3F-41B1-A8AF-0486AB4D9EF0}" destId="{3CFF685B-6A4D-4AE4-A415-B59108711B6A}" srcOrd="0" destOrd="0" presId="urn:microsoft.com/office/officeart/2005/8/layout/vList5"/>
    <dgm:cxn modelId="{82FCD6DA-9B5D-4A05-9D57-DFAFAF483CD8}" type="presOf" srcId="{9DA94F95-9ACE-40BE-8237-70E5394D1CCF}" destId="{BCD25467-E9F8-4826-8CFF-E311C8DE6F41}" srcOrd="0" destOrd="0" presId="urn:microsoft.com/office/officeart/2005/8/layout/vList5"/>
    <dgm:cxn modelId="{92CCB8EC-ACB4-4DAB-8847-2CAF0EB2C844}" type="presOf" srcId="{623F962A-2DCE-4D85-A0CD-8130E31C8DDA}" destId="{9BFD4087-A2CC-44AA-AF82-AF52BD447AF7}" srcOrd="0" destOrd="0" presId="urn:microsoft.com/office/officeart/2005/8/layout/vList5"/>
    <dgm:cxn modelId="{EF57D5EF-DEB6-48CB-87D5-D63E1BA44CCE}" srcId="{5EB10A76-3C3F-41B1-A8AF-0486AB4D9EF0}" destId="{623F962A-2DCE-4D85-A0CD-8130E31C8DDA}" srcOrd="0" destOrd="0" parTransId="{FF08926B-56C9-42F6-B797-36066DD93B26}" sibTransId="{E53225F5-ED50-4100-B257-359E0ED98C80}"/>
    <dgm:cxn modelId="{5A9DE8F0-70F6-43CC-A636-AACAD475DA8D}" srcId="{5EB10A76-3C3F-41B1-A8AF-0486AB4D9EF0}" destId="{9DA94F95-9ACE-40BE-8237-70E5394D1CCF}" srcOrd="3" destOrd="0" parTransId="{EE33A89E-BD3F-47CB-A521-AE1004B3C41A}" sibTransId="{BDC48E4B-194B-4AF5-B2D9-2DB56F588B1F}"/>
    <dgm:cxn modelId="{F66E1495-51FB-43AC-8647-2CEA2C5BB505}" type="presParOf" srcId="{3CFF685B-6A4D-4AE4-A415-B59108711B6A}" destId="{3AFCA583-FEE7-4F40-9AAE-EE8A601D9BA6}" srcOrd="0" destOrd="0" presId="urn:microsoft.com/office/officeart/2005/8/layout/vList5"/>
    <dgm:cxn modelId="{A82BCF58-B6E1-4EE6-A59F-FE0553E809CD}" type="presParOf" srcId="{3AFCA583-FEE7-4F40-9AAE-EE8A601D9BA6}" destId="{9BFD4087-A2CC-44AA-AF82-AF52BD447AF7}" srcOrd="0" destOrd="0" presId="urn:microsoft.com/office/officeart/2005/8/layout/vList5"/>
    <dgm:cxn modelId="{565A6109-2D2C-486E-8F90-DB3624A61C42}" type="presParOf" srcId="{3CFF685B-6A4D-4AE4-A415-B59108711B6A}" destId="{ACB934E4-6946-46A9-956E-89CD2E3D88DA}" srcOrd="1" destOrd="0" presId="urn:microsoft.com/office/officeart/2005/8/layout/vList5"/>
    <dgm:cxn modelId="{F62F773D-F10D-4C7C-B47D-5C51A989BB1C}" type="presParOf" srcId="{3CFF685B-6A4D-4AE4-A415-B59108711B6A}" destId="{DE30E07B-1F92-414F-93FC-17B03486DDF6}" srcOrd="2" destOrd="0" presId="urn:microsoft.com/office/officeart/2005/8/layout/vList5"/>
    <dgm:cxn modelId="{208032FA-CB93-44BA-90CC-FAB75CFEE760}" type="presParOf" srcId="{DE30E07B-1F92-414F-93FC-17B03486DDF6}" destId="{87C23024-ADD9-4DFA-B579-9C857B6F2F0A}" srcOrd="0" destOrd="0" presId="urn:microsoft.com/office/officeart/2005/8/layout/vList5"/>
    <dgm:cxn modelId="{F1B19CB5-8E9C-42B7-AD52-BBC98E8574C5}" type="presParOf" srcId="{3CFF685B-6A4D-4AE4-A415-B59108711B6A}" destId="{4558D372-6F48-40E3-94C6-D4145EB71E61}" srcOrd="3" destOrd="0" presId="urn:microsoft.com/office/officeart/2005/8/layout/vList5"/>
    <dgm:cxn modelId="{BD51AD22-B417-4330-B8DC-AD5E1449AB37}" type="presParOf" srcId="{3CFF685B-6A4D-4AE4-A415-B59108711B6A}" destId="{37DED4C4-8A98-4D58-837E-FA719F2F956A}" srcOrd="4" destOrd="0" presId="urn:microsoft.com/office/officeart/2005/8/layout/vList5"/>
    <dgm:cxn modelId="{F779DF97-AC64-4822-9675-27F294DB8DFB}" type="presParOf" srcId="{37DED4C4-8A98-4D58-837E-FA719F2F956A}" destId="{6F5784CD-9212-448E-92D1-DDA5F5EE0287}" srcOrd="0" destOrd="0" presId="urn:microsoft.com/office/officeart/2005/8/layout/vList5"/>
    <dgm:cxn modelId="{DBDC2B58-27C3-4131-9F5B-614D00FEEE36}" type="presParOf" srcId="{3CFF685B-6A4D-4AE4-A415-B59108711B6A}" destId="{1708D91A-1FAA-40D7-A9C2-F44D90B45D4A}" srcOrd="5" destOrd="0" presId="urn:microsoft.com/office/officeart/2005/8/layout/vList5"/>
    <dgm:cxn modelId="{4B4DBC3B-B91F-49FF-BC08-5A6121CC7921}" type="presParOf" srcId="{3CFF685B-6A4D-4AE4-A415-B59108711B6A}" destId="{C274E1EC-17DB-4906-814C-917FFF5F7064}" srcOrd="6" destOrd="0" presId="urn:microsoft.com/office/officeart/2005/8/layout/vList5"/>
    <dgm:cxn modelId="{974B5BDE-D056-4194-9553-2308982FF9EF}" type="presParOf" srcId="{C274E1EC-17DB-4906-814C-917FFF5F7064}" destId="{BCD25467-E9F8-4826-8CFF-E311C8DE6F41}" srcOrd="0" destOrd="0" presId="urn:microsoft.com/office/officeart/2005/8/layout/vList5"/>
    <dgm:cxn modelId="{AEA69DCA-7DDD-4BB4-865D-433C3ED86A9D}" type="presParOf" srcId="{3CFF685B-6A4D-4AE4-A415-B59108711B6A}" destId="{D1F97346-9976-4165-B8C2-0D0689D76EE4}" srcOrd="7" destOrd="0" presId="urn:microsoft.com/office/officeart/2005/8/layout/vList5"/>
    <dgm:cxn modelId="{63A71D7E-F5E8-42BC-BB69-FC4DC1612EEC}" type="presParOf" srcId="{3CFF685B-6A4D-4AE4-A415-B59108711B6A}" destId="{3C4B92D1-DAF6-45CC-A6A9-710A030363BD}" srcOrd="8" destOrd="0" presId="urn:microsoft.com/office/officeart/2005/8/layout/vList5"/>
    <dgm:cxn modelId="{30774372-6266-47EE-8734-30AA7A2C906F}" type="presParOf" srcId="{3C4B92D1-DAF6-45CC-A6A9-710A030363BD}" destId="{CDB80C53-B070-433D-B7CB-017DF7E50A17}" srcOrd="0" destOrd="0" presId="urn:microsoft.com/office/officeart/2005/8/layout/vList5"/>
    <dgm:cxn modelId="{CF5639BA-CEA7-429D-AC1D-884C0677A8F1}" type="presParOf" srcId="{3CFF685B-6A4D-4AE4-A415-B59108711B6A}" destId="{C80A32C5-B337-4EB7-A481-21DF3A7945B8}" srcOrd="9" destOrd="0" presId="urn:microsoft.com/office/officeart/2005/8/layout/vList5"/>
    <dgm:cxn modelId="{B2687DD6-B5A6-4744-9096-ACE7BAC4F7EC}" type="presParOf" srcId="{3CFF685B-6A4D-4AE4-A415-B59108711B6A}" destId="{10B11DA6-EF91-4312-924F-75F501F7780C}" srcOrd="10" destOrd="0" presId="urn:microsoft.com/office/officeart/2005/8/layout/vList5"/>
    <dgm:cxn modelId="{9E2A82C5-121D-4ABC-984B-9243318E62D1}" type="presParOf" srcId="{10B11DA6-EF91-4312-924F-75F501F7780C}" destId="{CC6BE496-4B7E-45DC-B380-B1BD58B1E70C}" srcOrd="0" destOrd="0" presId="urn:microsoft.com/office/officeart/2005/8/layout/vList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08EF31-BDC2-481B-A381-6FAEA154EDE3}">
      <dsp:nvSpPr>
        <dsp:cNvPr id="0" name=""/>
        <dsp:cNvSpPr/>
      </dsp:nvSpPr>
      <dsp:spPr>
        <a:xfrm>
          <a:off x="2408346" y="2103"/>
          <a:ext cx="1098032" cy="1098032"/>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01 Input Data</a:t>
          </a:r>
          <a:r>
            <a:rPr lang="en-IN" sz="1400" kern="1200" dirty="0"/>
            <a:t> →</a:t>
          </a:r>
        </a:p>
      </dsp:txBody>
      <dsp:txXfrm>
        <a:off x="2569149" y="162906"/>
        <a:ext cx="776426" cy="776426"/>
      </dsp:txXfrm>
    </dsp:sp>
    <dsp:sp modelId="{26F8E6DF-1F94-4F3B-B282-DADF7C661938}">
      <dsp:nvSpPr>
        <dsp:cNvPr id="0" name=""/>
        <dsp:cNvSpPr/>
      </dsp:nvSpPr>
      <dsp:spPr>
        <a:xfrm rot="1350000">
          <a:off x="3565380" y="678106"/>
          <a:ext cx="291786" cy="370585"/>
        </a:xfrm>
        <a:prstGeom prst="rightArrow">
          <a:avLst>
            <a:gd name="adj1" fmla="val 60000"/>
            <a:gd name="adj2" fmla="val 50000"/>
          </a:avLst>
        </a:prstGeom>
        <a:gradFill rotWithShape="0">
          <a:gsLst>
            <a:gs pos="0">
              <a:schemeClr val="accent6">
                <a:tint val="60000"/>
                <a:hueOff val="0"/>
                <a:satOff val="0"/>
                <a:lumOff val="0"/>
                <a:alphaOff val="0"/>
                <a:tint val="100000"/>
                <a:shade val="100000"/>
                <a:satMod val="130000"/>
              </a:schemeClr>
            </a:gs>
            <a:gs pos="100000">
              <a:schemeClr val="accent6">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3568712" y="735474"/>
        <a:ext cx="204250" cy="222351"/>
      </dsp:txXfrm>
    </dsp:sp>
    <dsp:sp modelId="{13668331-3192-4817-9210-C92DD531D584}">
      <dsp:nvSpPr>
        <dsp:cNvPr id="0" name=""/>
        <dsp:cNvSpPr/>
      </dsp:nvSpPr>
      <dsp:spPr>
        <a:xfrm>
          <a:off x="3931428" y="632984"/>
          <a:ext cx="1098032" cy="1098032"/>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t> </a:t>
          </a:r>
          <a:r>
            <a:rPr lang="en-IN" sz="1400" b="1" kern="1200" dirty="0"/>
            <a:t>02   Pre-processing</a:t>
          </a:r>
          <a:r>
            <a:rPr lang="en-IN" sz="1400" kern="1200" dirty="0"/>
            <a:t> →</a:t>
          </a:r>
        </a:p>
      </dsp:txBody>
      <dsp:txXfrm>
        <a:off x="4092231" y="793787"/>
        <a:ext cx="776426" cy="776426"/>
      </dsp:txXfrm>
    </dsp:sp>
    <dsp:sp modelId="{C7F0946B-3A43-42ED-98E1-0FBB893ECD40}">
      <dsp:nvSpPr>
        <dsp:cNvPr id="0" name=""/>
        <dsp:cNvSpPr/>
      </dsp:nvSpPr>
      <dsp:spPr>
        <a:xfrm rot="4050000">
          <a:off x="4648437" y="1741558"/>
          <a:ext cx="281069" cy="370585"/>
        </a:xfrm>
        <a:prstGeom prst="rightArrow">
          <a:avLst>
            <a:gd name="adj1" fmla="val 60000"/>
            <a:gd name="adj2" fmla="val 50000"/>
          </a:avLst>
        </a:prstGeom>
        <a:gradFill rotWithShape="0">
          <a:gsLst>
            <a:gs pos="0">
              <a:schemeClr val="accent6">
                <a:tint val="60000"/>
                <a:hueOff val="0"/>
                <a:satOff val="0"/>
                <a:lumOff val="0"/>
                <a:alphaOff val="0"/>
                <a:tint val="100000"/>
                <a:shade val="100000"/>
                <a:satMod val="130000"/>
              </a:schemeClr>
            </a:gs>
            <a:gs pos="100000">
              <a:schemeClr val="accent6">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4674463" y="1776724"/>
        <a:ext cx="196748" cy="222351"/>
      </dsp:txXfrm>
    </dsp:sp>
    <dsp:sp modelId="{05B35345-C493-448C-AAC1-6C3BADFAD7EA}">
      <dsp:nvSpPr>
        <dsp:cNvPr id="0" name=""/>
        <dsp:cNvSpPr/>
      </dsp:nvSpPr>
      <dsp:spPr>
        <a:xfrm>
          <a:off x="4527430" y="2138251"/>
          <a:ext cx="1167790" cy="1133663"/>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03 Scenario Configuration</a:t>
          </a:r>
          <a:r>
            <a:rPr lang="en-IN" sz="1400" kern="1200" dirty="0"/>
            <a:t> →</a:t>
          </a:r>
        </a:p>
      </dsp:txBody>
      <dsp:txXfrm>
        <a:off x="4698449" y="2304272"/>
        <a:ext cx="825752" cy="801621"/>
      </dsp:txXfrm>
    </dsp:sp>
    <dsp:sp modelId="{B70F72CE-224C-453B-BED4-71491900277E}">
      <dsp:nvSpPr>
        <dsp:cNvPr id="0" name=""/>
        <dsp:cNvSpPr/>
      </dsp:nvSpPr>
      <dsp:spPr>
        <a:xfrm rot="6750000">
          <a:off x="4654525" y="3283322"/>
          <a:ext cx="281069" cy="370585"/>
        </a:xfrm>
        <a:prstGeom prst="rightArrow">
          <a:avLst>
            <a:gd name="adj1" fmla="val 60000"/>
            <a:gd name="adj2" fmla="val 50000"/>
          </a:avLst>
        </a:prstGeom>
        <a:gradFill rotWithShape="0">
          <a:gsLst>
            <a:gs pos="0">
              <a:schemeClr val="accent6">
                <a:tint val="60000"/>
                <a:hueOff val="0"/>
                <a:satOff val="0"/>
                <a:lumOff val="0"/>
                <a:alphaOff val="0"/>
                <a:tint val="100000"/>
                <a:shade val="100000"/>
                <a:satMod val="130000"/>
              </a:schemeClr>
            </a:gs>
            <a:gs pos="100000">
              <a:schemeClr val="accent6">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4712820" y="3318488"/>
        <a:ext cx="196748" cy="222351"/>
      </dsp:txXfrm>
    </dsp:sp>
    <dsp:sp modelId="{CB8F4593-BF25-49A4-86A5-3267A2AF824D}">
      <dsp:nvSpPr>
        <dsp:cNvPr id="0" name=""/>
        <dsp:cNvSpPr/>
      </dsp:nvSpPr>
      <dsp:spPr>
        <a:xfrm>
          <a:off x="3931428" y="3679149"/>
          <a:ext cx="1098032" cy="1098032"/>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04 </a:t>
          </a:r>
          <a:r>
            <a:rPr lang="en-IN" sz="1300" b="1" kern="1200" dirty="0"/>
            <a:t>Hydrodynamic Simulation</a:t>
          </a:r>
          <a:r>
            <a:rPr lang="en-IN" sz="1400" kern="1200" dirty="0"/>
            <a:t> →</a:t>
          </a:r>
        </a:p>
      </dsp:txBody>
      <dsp:txXfrm>
        <a:off x="4092231" y="3839952"/>
        <a:ext cx="776426" cy="776426"/>
      </dsp:txXfrm>
    </dsp:sp>
    <dsp:sp modelId="{EDFE3833-0284-41CB-A5FA-7D39D054C896}">
      <dsp:nvSpPr>
        <dsp:cNvPr id="0" name=""/>
        <dsp:cNvSpPr/>
      </dsp:nvSpPr>
      <dsp:spPr>
        <a:xfrm rot="9450000">
          <a:off x="3580639" y="4355152"/>
          <a:ext cx="291786" cy="370585"/>
        </a:xfrm>
        <a:prstGeom prst="rightArrow">
          <a:avLst>
            <a:gd name="adj1" fmla="val 60000"/>
            <a:gd name="adj2" fmla="val 50000"/>
          </a:avLst>
        </a:prstGeom>
        <a:gradFill rotWithShape="0">
          <a:gsLst>
            <a:gs pos="0">
              <a:schemeClr val="accent6">
                <a:tint val="60000"/>
                <a:hueOff val="0"/>
                <a:satOff val="0"/>
                <a:lumOff val="0"/>
                <a:alphaOff val="0"/>
                <a:tint val="100000"/>
                <a:shade val="100000"/>
                <a:satMod val="130000"/>
              </a:schemeClr>
            </a:gs>
            <a:gs pos="100000">
              <a:schemeClr val="accent6">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3664843" y="4412520"/>
        <a:ext cx="204250" cy="222351"/>
      </dsp:txXfrm>
    </dsp:sp>
    <dsp:sp modelId="{C7318076-A232-4D32-81FC-C4ECF70A1F0E}">
      <dsp:nvSpPr>
        <dsp:cNvPr id="0" name=""/>
        <dsp:cNvSpPr/>
      </dsp:nvSpPr>
      <dsp:spPr>
        <a:xfrm>
          <a:off x="2408346" y="4310030"/>
          <a:ext cx="1098032" cy="1098032"/>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a:t>05 Flood Impact Analysis</a:t>
          </a:r>
          <a:r>
            <a:rPr lang="en-IN" sz="1400" kern="1200"/>
            <a:t> →</a:t>
          </a:r>
          <a:endParaRPr lang="en-IN" sz="1400" kern="1200" dirty="0"/>
        </a:p>
      </dsp:txBody>
      <dsp:txXfrm>
        <a:off x="2569149" y="4470833"/>
        <a:ext cx="776426" cy="776426"/>
      </dsp:txXfrm>
    </dsp:sp>
    <dsp:sp modelId="{DD7DD7EC-FA85-461D-B293-F906731B8915}">
      <dsp:nvSpPr>
        <dsp:cNvPr id="0" name=""/>
        <dsp:cNvSpPr/>
      </dsp:nvSpPr>
      <dsp:spPr>
        <a:xfrm rot="12214827">
          <a:off x="2161316" y="4374039"/>
          <a:ext cx="218776" cy="370585"/>
        </a:xfrm>
        <a:prstGeom prst="rightArrow">
          <a:avLst>
            <a:gd name="adj1" fmla="val 60000"/>
            <a:gd name="adj2" fmla="val 50000"/>
          </a:avLst>
        </a:prstGeom>
        <a:gradFill rotWithShape="0">
          <a:gsLst>
            <a:gs pos="0">
              <a:schemeClr val="accent6">
                <a:tint val="60000"/>
                <a:hueOff val="0"/>
                <a:satOff val="0"/>
                <a:lumOff val="0"/>
                <a:alphaOff val="0"/>
                <a:tint val="100000"/>
                <a:shade val="100000"/>
                <a:satMod val="130000"/>
              </a:schemeClr>
            </a:gs>
            <a:gs pos="100000">
              <a:schemeClr val="accent6">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2224209" y="4461284"/>
        <a:ext cx="153143" cy="222351"/>
      </dsp:txXfrm>
    </dsp:sp>
    <dsp:sp modelId="{7699FDCD-70CE-49B3-84AD-5E54EF732848}">
      <dsp:nvSpPr>
        <dsp:cNvPr id="0" name=""/>
        <dsp:cNvSpPr/>
      </dsp:nvSpPr>
      <dsp:spPr>
        <a:xfrm>
          <a:off x="799524" y="3590363"/>
          <a:ext cx="1340554" cy="1238778"/>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a:t>06 GEE/Satellite Monitoring</a:t>
          </a:r>
          <a:r>
            <a:rPr lang="en-IN" sz="1400" kern="1200"/>
            <a:t> →</a:t>
          </a:r>
          <a:endParaRPr lang="en-IN" sz="1400" kern="1200" dirty="0"/>
        </a:p>
      </dsp:txBody>
      <dsp:txXfrm>
        <a:off x="995844" y="3771778"/>
        <a:ext cx="947914" cy="875948"/>
      </dsp:txXfrm>
    </dsp:sp>
    <dsp:sp modelId="{1E43B89E-F37B-4826-9C83-4634CD3D19F4}">
      <dsp:nvSpPr>
        <dsp:cNvPr id="0" name=""/>
        <dsp:cNvSpPr/>
      </dsp:nvSpPr>
      <dsp:spPr>
        <a:xfrm rot="14766714">
          <a:off x="1060662" y="3302002"/>
          <a:ext cx="178339" cy="370585"/>
        </a:xfrm>
        <a:prstGeom prst="rightArrow">
          <a:avLst>
            <a:gd name="adj1" fmla="val 60000"/>
            <a:gd name="adj2" fmla="val 50000"/>
          </a:avLst>
        </a:prstGeom>
        <a:gradFill rotWithShape="0">
          <a:gsLst>
            <a:gs pos="0">
              <a:schemeClr val="accent6">
                <a:tint val="60000"/>
                <a:hueOff val="0"/>
                <a:satOff val="0"/>
                <a:lumOff val="0"/>
                <a:alphaOff val="0"/>
                <a:tint val="100000"/>
                <a:shade val="100000"/>
                <a:satMod val="130000"/>
              </a:schemeClr>
            </a:gs>
            <a:gs pos="100000">
              <a:schemeClr val="accent6">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1098246" y="3400578"/>
        <a:ext cx="124837" cy="222351"/>
      </dsp:txXfrm>
    </dsp:sp>
    <dsp:sp modelId="{531703C8-96EC-4463-9BA8-0405A5C9695C}">
      <dsp:nvSpPr>
        <dsp:cNvPr id="0" name=""/>
        <dsp:cNvSpPr/>
      </dsp:nvSpPr>
      <dsp:spPr>
        <a:xfrm>
          <a:off x="78257" y="2030440"/>
          <a:ext cx="1450281" cy="1349284"/>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a:t> </a:t>
          </a:r>
          <a:r>
            <a:rPr lang="en-IN" sz="1400" b="1" kern="1200"/>
            <a:t>07 Visualization &amp; Decision Support</a:t>
          </a:r>
          <a:r>
            <a:rPr lang="en-IN" sz="1400" kern="1200"/>
            <a:t> →</a:t>
          </a:r>
          <a:endParaRPr lang="en-IN" sz="1400" kern="1200" dirty="0"/>
        </a:p>
      </dsp:txBody>
      <dsp:txXfrm>
        <a:off x="290646" y="2228038"/>
        <a:ext cx="1025503" cy="954088"/>
      </dsp:txXfrm>
    </dsp:sp>
    <dsp:sp modelId="{866C4FD2-2413-4BFB-AA12-35D3AE696EFA}">
      <dsp:nvSpPr>
        <dsp:cNvPr id="0" name=""/>
        <dsp:cNvSpPr/>
      </dsp:nvSpPr>
      <dsp:spPr>
        <a:xfrm rot="17550000">
          <a:off x="1030949" y="1702898"/>
          <a:ext cx="221632" cy="370585"/>
        </a:xfrm>
        <a:prstGeom prst="rightArrow">
          <a:avLst>
            <a:gd name="adj1" fmla="val 60000"/>
            <a:gd name="adj2" fmla="val 50000"/>
          </a:avLst>
        </a:prstGeom>
        <a:gradFill rotWithShape="0">
          <a:gsLst>
            <a:gs pos="0">
              <a:schemeClr val="accent6">
                <a:tint val="60000"/>
                <a:hueOff val="0"/>
                <a:satOff val="0"/>
                <a:lumOff val="0"/>
                <a:alphaOff val="0"/>
                <a:tint val="100000"/>
                <a:shade val="100000"/>
                <a:satMod val="130000"/>
              </a:schemeClr>
            </a:gs>
            <a:gs pos="100000">
              <a:schemeClr val="accent6">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1051472" y="1807729"/>
        <a:ext cx="155142" cy="222351"/>
      </dsp:txXfrm>
    </dsp:sp>
    <dsp:sp modelId="{074C1B35-2CDB-457F-84CA-9D801FDB6269}">
      <dsp:nvSpPr>
        <dsp:cNvPr id="0" name=""/>
        <dsp:cNvSpPr/>
      </dsp:nvSpPr>
      <dsp:spPr>
        <a:xfrm>
          <a:off x="885263" y="632984"/>
          <a:ext cx="1098032" cy="1098032"/>
        </a:xfrm>
        <a:prstGeom prst="ellips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a:t>08 Export</a:t>
          </a:r>
          <a:endParaRPr lang="en-IN" sz="1400" kern="1200" dirty="0"/>
        </a:p>
      </dsp:txBody>
      <dsp:txXfrm>
        <a:off x="1046066" y="793787"/>
        <a:ext cx="776426" cy="776426"/>
      </dsp:txXfrm>
    </dsp:sp>
    <dsp:sp modelId="{EB4625A7-7DAC-42B5-ADF1-52C94F83980C}">
      <dsp:nvSpPr>
        <dsp:cNvPr id="0" name=""/>
        <dsp:cNvSpPr/>
      </dsp:nvSpPr>
      <dsp:spPr>
        <a:xfrm rot="20250000">
          <a:off x="2042298" y="684427"/>
          <a:ext cx="291786" cy="370585"/>
        </a:xfrm>
        <a:prstGeom prst="rightArrow">
          <a:avLst>
            <a:gd name="adj1" fmla="val 60000"/>
            <a:gd name="adj2" fmla="val 50000"/>
          </a:avLst>
        </a:prstGeom>
        <a:gradFill rotWithShape="0">
          <a:gsLst>
            <a:gs pos="0">
              <a:schemeClr val="accent6">
                <a:tint val="60000"/>
                <a:hueOff val="0"/>
                <a:satOff val="0"/>
                <a:lumOff val="0"/>
                <a:alphaOff val="0"/>
                <a:tint val="100000"/>
                <a:shade val="100000"/>
                <a:satMod val="130000"/>
              </a:schemeClr>
            </a:gs>
            <a:gs pos="100000">
              <a:schemeClr val="accent6">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2045630" y="775293"/>
        <a:ext cx="204250" cy="2223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FD4087-A2CC-44AA-AF82-AF52BD447AF7}">
      <dsp:nvSpPr>
        <dsp:cNvPr id="0" name=""/>
        <dsp:cNvSpPr/>
      </dsp:nvSpPr>
      <dsp:spPr>
        <a:xfrm>
          <a:off x="1195427" y="1085"/>
          <a:ext cx="2787274" cy="695672"/>
        </a:xfrm>
        <a:prstGeom prst="roundRect">
          <a:avLst/>
        </a:prstGeom>
        <a:solidFill>
          <a:schemeClr val="lt1">
            <a:hueOff val="0"/>
            <a:satOff val="0"/>
            <a:lumOff val="0"/>
            <a:alphaOff val="0"/>
          </a:schemeClr>
        </a:solidFill>
        <a:ln w="38100" cap="flat" cmpd="sng" algn="ctr">
          <a:solidFill>
            <a:schemeClr val="dk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a:t>TECH STACK:</a:t>
          </a:r>
          <a:endParaRPr lang="en-IN" sz="2000" kern="1200" dirty="0"/>
        </a:p>
      </dsp:txBody>
      <dsp:txXfrm>
        <a:off x="1229387" y="35045"/>
        <a:ext cx="2719354" cy="627752"/>
      </dsp:txXfrm>
    </dsp:sp>
    <dsp:sp modelId="{87C23024-ADD9-4DFA-B579-9C857B6F2F0A}">
      <dsp:nvSpPr>
        <dsp:cNvPr id="0" name=""/>
        <dsp:cNvSpPr/>
      </dsp:nvSpPr>
      <dsp:spPr>
        <a:xfrm>
          <a:off x="1195427" y="837479"/>
          <a:ext cx="4555145" cy="826036"/>
        </a:xfrm>
        <a:prstGeom prst="roundRect">
          <a:avLst/>
        </a:prstGeom>
        <a:solidFill>
          <a:schemeClr val="lt1">
            <a:hueOff val="0"/>
            <a:satOff val="0"/>
            <a:lumOff val="0"/>
            <a:alphaOff val="0"/>
          </a:schemeClr>
        </a:solidFill>
        <a:ln w="38100" cap="flat" cmpd="sng" algn="ctr">
          <a:solidFill>
            <a:schemeClr val="dk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 Frontend--   HTML5, CSS, Bootstrap, JavaScript.</a:t>
          </a:r>
        </a:p>
      </dsp:txBody>
      <dsp:txXfrm>
        <a:off x="1235751" y="877803"/>
        <a:ext cx="4474497" cy="745388"/>
      </dsp:txXfrm>
    </dsp:sp>
    <dsp:sp modelId="{6F5784CD-9212-448E-92D1-DDA5F5EE0287}">
      <dsp:nvSpPr>
        <dsp:cNvPr id="0" name=""/>
        <dsp:cNvSpPr/>
      </dsp:nvSpPr>
      <dsp:spPr>
        <a:xfrm>
          <a:off x="1195427" y="1804237"/>
          <a:ext cx="4555145" cy="826036"/>
        </a:xfrm>
        <a:prstGeom prst="roundRect">
          <a:avLst/>
        </a:prstGeom>
        <a:solidFill>
          <a:schemeClr val="lt1">
            <a:hueOff val="0"/>
            <a:satOff val="0"/>
            <a:lumOff val="0"/>
            <a:alphaOff val="0"/>
          </a:schemeClr>
        </a:solidFill>
        <a:ln w="38100" cap="flat" cmpd="sng" algn="ctr">
          <a:solidFill>
            <a:schemeClr val="dk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 Backend--    FAST APIs , REST APIs .</a:t>
          </a:r>
        </a:p>
      </dsp:txBody>
      <dsp:txXfrm>
        <a:off x="1235751" y="1844561"/>
        <a:ext cx="4474497" cy="745388"/>
      </dsp:txXfrm>
    </dsp:sp>
    <dsp:sp modelId="{BCD25467-E9F8-4826-8CFF-E311C8DE6F41}">
      <dsp:nvSpPr>
        <dsp:cNvPr id="0" name=""/>
        <dsp:cNvSpPr/>
      </dsp:nvSpPr>
      <dsp:spPr>
        <a:xfrm>
          <a:off x="1195427" y="2770996"/>
          <a:ext cx="4555145" cy="826036"/>
        </a:xfrm>
        <a:prstGeom prst="roundRect">
          <a:avLst/>
        </a:prstGeom>
        <a:solidFill>
          <a:schemeClr val="lt1">
            <a:hueOff val="0"/>
            <a:satOff val="0"/>
            <a:lumOff val="0"/>
            <a:alphaOff val="0"/>
          </a:schemeClr>
        </a:solidFill>
        <a:ln w="38100" cap="flat" cmpd="sng" algn="ctr">
          <a:solidFill>
            <a:schemeClr val="dk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 Data &amp; Database--  MySQL,  DEM Data —elevation/topography,  Hydrological &amp; Dam Data.</a:t>
          </a:r>
        </a:p>
      </dsp:txBody>
      <dsp:txXfrm>
        <a:off x="1235751" y="2811320"/>
        <a:ext cx="4474497" cy="745388"/>
      </dsp:txXfrm>
    </dsp:sp>
    <dsp:sp modelId="{CDB80C53-B070-433D-B7CB-017DF7E50A17}">
      <dsp:nvSpPr>
        <dsp:cNvPr id="0" name=""/>
        <dsp:cNvSpPr/>
      </dsp:nvSpPr>
      <dsp:spPr>
        <a:xfrm>
          <a:off x="1195427" y="3737755"/>
          <a:ext cx="4555145" cy="826036"/>
        </a:xfrm>
        <a:prstGeom prst="roundRect">
          <a:avLst/>
        </a:prstGeom>
        <a:solidFill>
          <a:schemeClr val="lt1">
            <a:hueOff val="0"/>
            <a:satOff val="0"/>
            <a:lumOff val="0"/>
            <a:alphaOff val="0"/>
          </a:schemeClr>
        </a:solidFill>
        <a:ln w="38100" cap="flat" cmpd="sng" algn="ctr">
          <a:solidFill>
            <a:schemeClr val="dk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 Geospatial &amp; Monitoring--  Google Earth Engine (GEE),  GIS / Geospatial Processing,  SHP / KML — geospatial output formats.</a:t>
          </a:r>
        </a:p>
      </dsp:txBody>
      <dsp:txXfrm>
        <a:off x="1235751" y="3778079"/>
        <a:ext cx="4474497" cy="745388"/>
      </dsp:txXfrm>
    </dsp:sp>
    <dsp:sp modelId="{CC6BE496-4B7E-45DC-B380-B1BD58B1E70C}">
      <dsp:nvSpPr>
        <dsp:cNvPr id="0" name=""/>
        <dsp:cNvSpPr/>
      </dsp:nvSpPr>
      <dsp:spPr>
        <a:xfrm>
          <a:off x="1195427" y="4704514"/>
          <a:ext cx="4555145" cy="826036"/>
        </a:xfrm>
        <a:prstGeom prst="roundRect">
          <a:avLst/>
        </a:prstGeom>
        <a:solidFill>
          <a:schemeClr val="lt1">
            <a:hueOff val="0"/>
            <a:satOff val="0"/>
            <a:lumOff val="0"/>
            <a:alphaOff val="0"/>
          </a:schemeClr>
        </a:solidFill>
        <a:ln w="38100" cap="flat" cmpd="sng" algn="ctr">
          <a:solidFill>
            <a:schemeClr val="dk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 Hydrodynamic Modelling--  SPH (Smooth Particle Hydrodynamics),   Deft3D</a:t>
          </a:r>
        </a:p>
      </dsp:txBody>
      <dsp:txXfrm>
        <a:off x="1235751" y="4744838"/>
        <a:ext cx="4474497" cy="745388"/>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0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ltNode1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2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10/15/2026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10/15/2026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10/15/2026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10/15/2026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13" Type="http://schemas.microsoft.com/office/2007/relationships/diagramDrawing" Target="../diagrams/drawing2.xml"/><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QuickStyle" Target="../diagrams/quickStyle2.xml"/><Relationship Id="rId5" Type="http://schemas.openxmlformats.org/officeDocument/2006/relationships/diagramQuickStyle" Target="../diagrams/quickStyle1.xml"/><Relationship Id="rId10" Type="http://schemas.openxmlformats.org/officeDocument/2006/relationships/diagramLayout" Target="../diagrams/layout2.xml"/><Relationship Id="rId4" Type="http://schemas.openxmlformats.org/officeDocument/2006/relationships/diagramLayout" Target="../diagrams/layout1.xml"/><Relationship Id="rId9"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png"/><Relationship Id="rId34" Type="http://schemas.openxmlformats.org/officeDocument/2006/relationships/image" Target="../media/image3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33" Type="http://schemas.openxmlformats.org/officeDocument/2006/relationships/image" Target="../media/image35.png"/><Relationship Id="rId2" Type="http://schemas.openxmlformats.org/officeDocument/2006/relationships/image" Target="../media/image5.png"/><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32" Type="http://schemas.openxmlformats.org/officeDocument/2006/relationships/image" Target="../media/image34.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2.png"/><Relationship Id="rId10" Type="http://schemas.openxmlformats.org/officeDocument/2006/relationships/image" Target="../media/image13.png"/><Relationship Id="rId19" Type="http://schemas.openxmlformats.org/officeDocument/2006/relationships/image" Target="../media/image22.png"/><Relationship Id="rId31" Type="http://schemas.openxmlformats.org/officeDocument/2006/relationships/image" Target="../media/image3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2.png"/><Relationship Id="rId35" Type="http://schemas.openxmlformats.org/officeDocument/2006/relationships/image" Target="../media/image37.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8826427" y="1715881"/>
            <a:ext cx="3203509" cy="3426237"/>
          </a:xfrm>
          <a:prstGeom prst="rect">
            <a:avLst/>
          </a:prstGeom>
        </p:spPr>
      </p:pic>
      <p:sp>
        <p:nvSpPr>
          <p:cNvPr id="4" name="Subtitle 3"/>
          <p:cNvSpPr>
            <a:spLocks noGrp="1"/>
          </p:cNvSpPr>
          <p:nvPr>
            <p:ph type="subTitle" idx="1"/>
          </p:nvPr>
        </p:nvSpPr>
        <p:spPr>
          <a:xfrm>
            <a:off x="1360966" y="223285"/>
            <a:ext cx="8419119" cy="1062337"/>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45979"/>
            <a:ext cx="10615028" cy="1489869"/>
          </a:xfrm>
        </p:spPr>
        <p:txBody>
          <a:bodyPr/>
          <a:lstStyle/>
          <a:p>
            <a:br>
              <a:rPr lang="en-US" sz="4000" b="1" u="sng" dirty="0">
                <a:solidFill>
                  <a:schemeClr val="tx2"/>
                </a:solidFill>
                <a:latin typeface="Garamond" panose="02020404030301010803" pitchFamily="18" charset="0"/>
              </a:rPr>
            </a:br>
            <a:r>
              <a:rPr lang="en-US" sz="4000" b="1" u="sng" dirty="0">
                <a:solidFill>
                  <a:schemeClr val="tx2"/>
                </a:solidFill>
                <a:latin typeface="Garamond" panose="02020404030301010803" pitchFamily="18" charset="0"/>
              </a:rPr>
              <a:t>SMART INDIA HACKATHON 2026</a:t>
            </a:r>
            <a:endParaRPr lang="en-IN" sz="4000" b="1" u="sng" dirty="0">
              <a:solidFill>
                <a:schemeClr val="tx2"/>
              </a:solidFill>
              <a:latin typeface="Garamond" panose="02020404030301010803" pitchFamily="18" charset="0"/>
            </a:endParaRPr>
          </a:p>
        </p:txBody>
      </p:sp>
      <p:sp>
        <p:nvSpPr>
          <p:cNvPr id="10" name="TextBox 9"/>
          <p:cNvSpPr txBox="1"/>
          <p:nvPr/>
        </p:nvSpPr>
        <p:spPr>
          <a:xfrm>
            <a:off x="37527" y="1285622"/>
            <a:ext cx="7762865" cy="4326184"/>
          </a:xfrm>
          <a:prstGeom prst="rect">
            <a:avLst/>
          </a:prstGeom>
          <a:noFill/>
        </p:spPr>
        <p:txBody>
          <a:bodyPr wrap="square" rtlCol="0">
            <a:spAutoFit/>
          </a:bodyPr>
          <a:lstStyle/>
          <a:p>
            <a:endParaRPr lang="en-US" dirty="0"/>
          </a:p>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a:t>
            </a:r>
            <a:r>
              <a:rPr lang="en-IN" sz="2400" b="1" dirty="0">
                <a:solidFill>
                  <a:schemeClr val="accent6">
                    <a:lumMod val="75000"/>
                  </a:schemeClr>
                </a:solidFill>
              </a:rPr>
              <a:t>SIH26161</a:t>
            </a:r>
            <a:endParaRPr lang="en-US" sz="2400" b="1" dirty="0">
              <a:solidFill>
                <a:schemeClr val="accent6">
                  <a:lumMod val="75000"/>
                </a:schemeClr>
              </a:solidFill>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a:t>
            </a:r>
            <a:r>
              <a:rPr lang="en-IN" sz="2400" b="1" dirty="0">
                <a:solidFill>
                  <a:schemeClr val="accent6">
                    <a:lumMod val="75000"/>
                  </a:schemeClr>
                </a:solidFill>
              </a:rPr>
              <a:t> Real-Time Hydrodynamic Simulation &amp; HADR Decision Support Platform</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Theme-PS Category- </a:t>
            </a:r>
            <a:r>
              <a:rPr lang="en-US" sz="2400" b="1" dirty="0">
                <a:solidFill>
                  <a:schemeClr val="accent6">
                    <a:lumMod val="75000"/>
                  </a:schemeClr>
                </a:solidFill>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 </a:t>
            </a:r>
            <a:r>
              <a:rPr lang="en-US" sz="2400" b="1" dirty="0">
                <a:solidFill>
                  <a:schemeClr val="accent6">
                    <a:lumMod val="75000"/>
                  </a:schemeClr>
                </a:solidFill>
                <a:latin typeface="Arial" panose="020B0604020202020204" pitchFamily="34" charset="0"/>
                <a:cs typeface="Arial" panose="020B0604020202020204" pitchFamily="34" charset="0"/>
              </a:rPr>
              <a:t>180281</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a:t>
            </a:r>
            <a:r>
              <a:rPr lang="en-IN" sz="2400" b="1" dirty="0"/>
              <a:t> </a:t>
            </a:r>
            <a:r>
              <a:rPr lang="en-IN" sz="2400" b="1" dirty="0">
                <a:solidFill>
                  <a:schemeClr val="accent6">
                    <a:lumMod val="75000"/>
                  </a:schemeClr>
                </a:solidFill>
              </a:rPr>
              <a:t>UNEXPECTED  ERRORS</a:t>
            </a:r>
            <a:r>
              <a:rPr lang="en-IN" sz="2400" b="1" dirty="0">
                <a:solidFill>
                  <a:schemeClr val="accent6">
                    <a:lumMod val="75000"/>
                  </a:schemeClr>
                </a:solidFill>
                <a:sym typeface="Wingdings" panose="05000000000000000000" pitchFamily="2" charset="2"/>
              </a:rPr>
              <a:t>:(</a:t>
            </a:r>
            <a:endParaRPr lang="en-IN" sz="2400" b="1" dirty="0">
              <a:solidFill>
                <a:schemeClr val="accent6">
                  <a:lumMod val="75000"/>
                </a:schemeClr>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40963" y="-225026"/>
            <a:ext cx="11014835" cy="701749"/>
          </a:xfrm>
        </p:spPr>
        <p:txBody>
          <a:bodyPr/>
          <a:lstStyle/>
          <a:p>
            <a:pPr eaLnBrk="1" hangingPunct="1"/>
            <a:br>
              <a:rPr lang="en-US" sz="4000" b="1" u="sng" dirty="0">
                <a:solidFill>
                  <a:srgbClr val="010000"/>
                </a:solidFill>
                <a:latin typeface="Garamond" panose="02020404030301010803" pitchFamily="18" charset="0"/>
                <a:ea typeface="ＭＳ Ｐゴシック" pitchFamily="1" charset="-128"/>
                <a:cs typeface="Times New Roman" panose="02020603050405020304" pitchFamily="18" charset="0"/>
              </a:rPr>
            </a:br>
            <a:r>
              <a:rPr lang="en-IN" b="1" u="sng" dirty="0">
                <a:solidFill>
                  <a:srgbClr val="010000"/>
                </a:solidFill>
                <a:latin typeface="Garamond" panose="02020404030301010803" pitchFamily="18" charset="0"/>
              </a:rPr>
              <a:t>SURAKSHA-SETU </a:t>
            </a:r>
            <a:endParaRPr lang="en-US" b="1" u="sng" dirty="0">
              <a:solidFill>
                <a:srgbClr val="010000"/>
              </a:solidFill>
              <a:latin typeface="Garamond" panose="02020404030301010803"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0" y="-4404"/>
            <a:ext cx="2249850" cy="701749"/>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b="1" dirty="0">
                <a:solidFill>
                  <a:schemeClr val="accent6">
                    <a:lumMod val="75000"/>
                  </a:schemeClr>
                </a:solidFill>
              </a:rPr>
              <a:t>UNEXPECTED  ERRORS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9951" y="1501"/>
            <a:ext cx="1812048" cy="752384"/>
          </a:xfrm>
          <a:prstGeom prst="rect">
            <a:avLst/>
          </a:prstGeom>
        </p:spPr>
      </p:pic>
      <p:pic>
        <p:nvPicPr>
          <p:cNvPr id="3" name="Picture 2">
            <a:extLst>
              <a:ext uri="{FF2B5EF4-FFF2-40B4-BE49-F238E27FC236}">
                <a16:creationId xmlns:a16="http://schemas.microsoft.com/office/drawing/2014/main" id="{BBCA8DC8-DB68-530F-E885-DD8D66F851E9}"/>
              </a:ext>
            </a:extLst>
          </p:cNvPr>
          <p:cNvPicPr>
            <a:picLocks noChangeAspect="1"/>
          </p:cNvPicPr>
          <p:nvPr/>
        </p:nvPicPr>
        <p:blipFill>
          <a:blip r:embed="rId4"/>
          <a:stretch>
            <a:fillRect/>
          </a:stretch>
        </p:blipFill>
        <p:spPr>
          <a:xfrm>
            <a:off x="0" y="1240160"/>
            <a:ext cx="3470159" cy="4278399"/>
          </a:xfrm>
          <a:prstGeom prst="rect">
            <a:avLst/>
          </a:prstGeom>
          <a:effectLst>
            <a:outerShdw blurRad="50800" dist="38100" dir="5400000" algn="t" rotWithShape="0">
              <a:schemeClr val="tx1">
                <a:alpha val="40000"/>
              </a:schemeClr>
            </a:outerShdw>
          </a:effectLst>
        </p:spPr>
      </p:pic>
      <p:pic>
        <p:nvPicPr>
          <p:cNvPr id="14" name="Picture 13">
            <a:extLst>
              <a:ext uri="{FF2B5EF4-FFF2-40B4-BE49-F238E27FC236}">
                <a16:creationId xmlns:a16="http://schemas.microsoft.com/office/drawing/2014/main" id="{162236DB-4C1F-1411-6C2D-64E1B48D7E54}"/>
              </a:ext>
            </a:extLst>
          </p:cNvPr>
          <p:cNvPicPr>
            <a:picLocks noChangeAspect="1"/>
          </p:cNvPicPr>
          <p:nvPr/>
        </p:nvPicPr>
        <p:blipFill>
          <a:blip r:embed="rId5"/>
          <a:stretch>
            <a:fillRect/>
          </a:stretch>
        </p:blipFill>
        <p:spPr>
          <a:xfrm>
            <a:off x="3636335" y="759415"/>
            <a:ext cx="8555663" cy="5632006"/>
          </a:xfrm>
          <a:prstGeom prst="rect">
            <a:avLst/>
          </a:prstGeom>
        </p:spPr>
      </p:pic>
      <p:sp>
        <p:nvSpPr>
          <p:cNvPr id="4" name="Oval 3" descr="Your startup LOGO">
            <a:extLst>
              <a:ext uri="{FF2B5EF4-FFF2-40B4-BE49-F238E27FC236}">
                <a16:creationId xmlns:a16="http://schemas.microsoft.com/office/drawing/2014/main" id="{58D2D4E2-9931-F58B-E379-0E8755C38AB4}"/>
              </a:ext>
              <a:ext uri="{C183D7F6-B498-43B3-948B-1728B52AA6E4}">
                <adec:decorative xmlns:adec="http://schemas.microsoft.com/office/drawing/2017/decorative" val="0"/>
              </a:ext>
            </a:extLst>
          </p:cNvPr>
          <p:cNvSpPr/>
          <p:nvPr/>
        </p:nvSpPr>
        <p:spPr>
          <a:xfrm>
            <a:off x="0" y="5782"/>
            <a:ext cx="2249850" cy="725949"/>
          </a:xfrm>
          <a:prstGeom prst="ellipse">
            <a:avLst/>
          </a:prstGeom>
          <a:solidFill>
            <a:schemeClr val="accent6">
              <a:lumMod val="40000"/>
              <a:lumOff val="60000"/>
            </a:schemeClr>
          </a:solidFill>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algn="l" defTabSz="457200" rtl="0" fontAlgn="base">
              <a:spcBef>
                <a:spcPct val="0"/>
              </a:spcBef>
              <a:spcAft>
                <a:spcPct val="0"/>
              </a:spcAft>
              <a:defRPr kern="1200">
                <a:solidFill>
                  <a:schemeClr val="dk1"/>
                </a:solidFill>
                <a:latin typeface="+mn-lt"/>
                <a:ea typeface="+mn-ea"/>
                <a:cs typeface="+mn-cs"/>
              </a:defRPr>
            </a:lvl1pPr>
            <a:lvl2pPr marL="457200" algn="l" defTabSz="457200" rtl="0" fontAlgn="base">
              <a:spcBef>
                <a:spcPct val="0"/>
              </a:spcBef>
              <a:spcAft>
                <a:spcPct val="0"/>
              </a:spcAft>
              <a:defRPr kern="1200">
                <a:solidFill>
                  <a:schemeClr val="dk1"/>
                </a:solidFill>
                <a:latin typeface="+mn-lt"/>
                <a:ea typeface="+mn-ea"/>
                <a:cs typeface="+mn-cs"/>
              </a:defRPr>
            </a:lvl2pPr>
            <a:lvl3pPr marL="914400" algn="l" defTabSz="457200" rtl="0" fontAlgn="base">
              <a:spcBef>
                <a:spcPct val="0"/>
              </a:spcBef>
              <a:spcAft>
                <a:spcPct val="0"/>
              </a:spcAft>
              <a:defRPr kern="1200">
                <a:solidFill>
                  <a:schemeClr val="dk1"/>
                </a:solidFill>
                <a:latin typeface="+mn-lt"/>
                <a:ea typeface="+mn-ea"/>
                <a:cs typeface="+mn-cs"/>
              </a:defRPr>
            </a:lvl3pPr>
            <a:lvl4pPr marL="1371600" algn="l" defTabSz="457200" rtl="0" fontAlgn="base">
              <a:spcBef>
                <a:spcPct val="0"/>
              </a:spcBef>
              <a:spcAft>
                <a:spcPct val="0"/>
              </a:spcAft>
              <a:defRPr kern="1200">
                <a:solidFill>
                  <a:schemeClr val="dk1"/>
                </a:solidFill>
                <a:latin typeface="+mn-lt"/>
                <a:ea typeface="+mn-ea"/>
                <a:cs typeface="+mn-cs"/>
              </a:defRPr>
            </a:lvl4pPr>
            <a:lvl5pPr marL="1828800" algn="l" defTabSz="457200" rtl="0" fontAlgn="base">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IN" b="1" dirty="0">
              <a:solidFill>
                <a:schemeClr val="accent6">
                  <a:lumMod val="75000"/>
                </a:schemeClr>
              </a:solidFill>
            </a:endParaRPr>
          </a:p>
          <a:p>
            <a:pPr algn="ctr"/>
            <a:r>
              <a:rPr lang="en-IN" b="1" dirty="0">
                <a:solidFill>
                  <a:schemeClr val="accent6">
                    <a:lumMod val="75000"/>
                  </a:schemeClr>
                </a:solidFill>
              </a:rPr>
              <a:t>UNEXPECTED  ERRORS:(</a:t>
            </a:r>
            <a:endParaRPr lang="en-IN" dirty="0"/>
          </a:p>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609600" y="-113549"/>
            <a:ext cx="10972800" cy="1143000"/>
          </a:xfrm>
        </p:spPr>
        <p:txBody>
          <a:bodyPr/>
          <a:lstStyle/>
          <a:p>
            <a:pPr eaLnBrk="1" hangingPunct="1"/>
            <a:r>
              <a:rPr lang="en-US" sz="4000" b="1" u="sng" dirty="0">
                <a:latin typeface="Garamond" panose="02020404030301010803" pitchFamily="18" charset="0"/>
                <a:ea typeface="ＭＳ Ｐゴシック" pitchFamily="1" charset="-128"/>
                <a:cs typeface="Times New Roman" panose="02020603050405020304" pitchFamily="18" charset="0"/>
              </a:rPr>
              <a:t>TECHNICAL APPROACH</a:t>
            </a:r>
          </a:p>
        </p:txBody>
      </p:sp>
      <p:graphicFrame>
        <p:nvGraphicFramePr>
          <p:cNvPr id="9" name="Diagram 8">
            <a:extLst>
              <a:ext uri="{FF2B5EF4-FFF2-40B4-BE49-F238E27FC236}">
                <a16:creationId xmlns:a16="http://schemas.microsoft.com/office/drawing/2014/main" id="{ABDDA149-F02B-005D-F89F-058F3383DB5A}"/>
              </a:ext>
            </a:extLst>
          </p:cNvPr>
          <p:cNvGraphicFramePr/>
          <p:nvPr>
            <p:extLst>
              <p:ext uri="{D42A27DB-BD31-4B8C-83A1-F6EECF244321}">
                <p14:modId xmlns:p14="http://schemas.microsoft.com/office/powerpoint/2010/main" val="681163775"/>
              </p:ext>
            </p:extLst>
          </p:nvPr>
        </p:nvGraphicFramePr>
        <p:xfrm>
          <a:off x="0" y="808074"/>
          <a:ext cx="5773479" cy="54101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0" y="1501"/>
            <a:ext cx="2249850" cy="725949"/>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b="1" dirty="0">
              <a:solidFill>
                <a:schemeClr val="accent6">
                  <a:lumMod val="75000"/>
                </a:schemeClr>
              </a:solidFill>
            </a:endParaRPr>
          </a:p>
          <a:p>
            <a:pPr algn="ctr"/>
            <a:r>
              <a:rPr lang="en-IN" b="1" dirty="0">
                <a:solidFill>
                  <a:schemeClr val="accent6">
                    <a:lumMod val="75000"/>
                  </a:schemeClr>
                </a:solidFill>
              </a:rPr>
              <a:t>UNEXPECTED  ERRORS</a:t>
            </a:r>
            <a:endParaRPr lang="en-IN" dirty="0"/>
          </a:p>
          <a:p>
            <a:pPr algn="ctr"/>
            <a:endParaRPr lang="en-IN" dirty="0"/>
          </a:p>
        </p:txBody>
      </p:sp>
      <p:pic>
        <p:nvPicPr>
          <p:cNvPr id="12" name="Picture 1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96568" y="1501"/>
            <a:ext cx="1933368" cy="912900"/>
          </a:xfrm>
          <a:prstGeom prst="rect">
            <a:avLst/>
          </a:prstGeom>
        </p:spPr>
      </p:pic>
      <p:sp>
        <p:nvSpPr>
          <p:cNvPr id="13" name="Octagon 12">
            <a:extLst>
              <a:ext uri="{FF2B5EF4-FFF2-40B4-BE49-F238E27FC236}">
                <a16:creationId xmlns:a16="http://schemas.microsoft.com/office/drawing/2014/main" id="{E11C9C29-52DB-80E4-2B09-D3DE953D5DCC}"/>
              </a:ext>
            </a:extLst>
          </p:cNvPr>
          <p:cNvSpPr/>
          <p:nvPr/>
        </p:nvSpPr>
        <p:spPr>
          <a:xfrm>
            <a:off x="2094614" y="2753833"/>
            <a:ext cx="1637414" cy="1605516"/>
          </a:xfrm>
          <a:prstGeom prst="octagon">
            <a:avLst/>
          </a:prstGeom>
          <a:solidFill>
            <a:srgbClr val="00B050"/>
          </a:solidFill>
          <a:effectLst>
            <a:outerShdw blurRad="50800" dist="38100" dir="8100000" algn="tr" rotWithShape="0">
              <a:prstClr val="black">
                <a:alpha val="40000"/>
              </a:prstClr>
            </a:outerShdw>
          </a:effectLst>
        </p:spPr>
        <p:style>
          <a:lnRef idx="3">
            <a:schemeClr val="lt1"/>
          </a:lnRef>
          <a:fillRef idx="1">
            <a:schemeClr val="accent3"/>
          </a:fillRef>
          <a:effectRef idx="1">
            <a:schemeClr val="accent3"/>
          </a:effectRef>
          <a:fontRef idx="minor">
            <a:schemeClr val="lt1"/>
          </a:fontRef>
        </p:style>
        <p:txBody>
          <a:bodyPr rtlCol="0" anchor="ctr"/>
          <a:lstStyle/>
          <a:p>
            <a:pPr algn="ctr"/>
            <a:r>
              <a:rPr lang="en-IN" sz="2400" b="1" u="sng" dirty="0">
                <a:solidFill>
                  <a:srgbClr val="010000"/>
                </a:solidFill>
              </a:rPr>
              <a:t>Process flow</a:t>
            </a:r>
          </a:p>
        </p:txBody>
      </p:sp>
      <p:graphicFrame>
        <p:nvGraphicFramePr>
          <p:cNvPr id="21" name="Diagram 20">
            <a:extLst>
              <a:ext uri="{FF2B5EF4-FFF2-40B4-BE49-F238E27FC236}">
                <a16:creationId xmlns:a16="http://schemas.microsoft.com/office/drawing/2014/main" id="{1C2175CF-BA9B-0A02-D815-374E1F0A3FDE}"/>
              </a:ext>
            </a:extLst>
          </p:cNvPr>
          <p:cNvGraphicFramePr/>
          <p:nvPr>
            <p:extLst>
              <p:ext uri="{D42A27DB-BD31-4B8C-83A1-F6EECF244321}">
                <p14:modId xmlns:p14="http://schemas.microsoft.com/office/powerpoint/2010/main" val="4156802764"/>
              </p:ext>
            </p:extLst>
          </p:nvPr>
        </p:nvGraphicFramePr>
        <p:xfrm>
          <a:off x="5657126" y="790773"/>
          <a:ext cx="6946000" cy="553163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3" name="Oval 2" descr="Your startup LOGO">
            <a:extLst>
              <a:ext uri="{FF2B5EF4-FFF2-40B4-BE49-F238E27FC236}">
                <a16:creationId xmlns:a16="http://schemas.microsoft.com/office/drawing/2014/main" id="{1CF74E7E-39C3-3A26-8058-A3555E0C70AF}"/>
              </a:ext>
              <a:ext uri="{C183D7F6-B498-43B3-948B-1728B52AA6E4}">
                <adec:decorative xmlns:adec="http://schemas.microsoft.com/office/drawing/2017/decorative" val="0"/>
              </a:ext>
            </a:extLst>
          </p:cNvPr>
          <p:cNvSpPr/>
          <p:nvPr/>
        </p:nvSpPr>
        <p:spPr>
          <a:xfrm>
            <a:off x="0" y="5782"/>
            <a:ext cx="2249850" cy="725949"/>
          </a:xfrm>
          <a:prstGeom prst="ellipse">
            <a:avLst/>
          </a:prstGeom>
          <a:solidFill>
            <a:schemeClr val="accent6">
              <a:lumMod val="40000"/>
              <a:lumOff val="60000"/>
            </a:schemeClr>
          </a:solidFill>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algn="l" defTabSz="457200" rtl="0" fontAlgn="base">
              <a:spcBef>
                <a:spcPct val="0"/>
              </a:spcBef>
              <a:spcAft>
                <a:spcPct val="0"/>
              </a:spcAft>
              <a:defRPr kern="1200">
                <a:solidFill>
                  <a:schemeClr val="dk1"/>
                </a:solidFill>
                <a:latin typeface="+mn-lt"/>
                <a:ea typeface="+mn-ea"/>
                <a:cs typeface="+mn-cs"/>
              </a:defRPr>
            </a:lvl1pPr>
            <a:lvl2pPr marL="457200" algn="l" defTabSz="457200" rtl="0" fontAlgn="base">
              <a:spcBef>
                <a:spcPct val="0"/>
              </a:spcBef>
              <a:spcAft>
                <a:spcPct val="0"/>
              </a:spcAft>
              <a:defRPr kern="1200">
                <a:solidFill>
                  <a:schemeClr val="dk1"/>
                </a:solidFill>
                <a:latin typeface="+mn-lt"/>
                <a:ea typeface="+mn-ea"/>
                <a:cs typeface="+mn-cs"/>
              </a:defRPr>
            </a:lvl2pPr>
            <a:lvl3pPr marL="914400" algn="l" defTabSz="457200" rtl="0" fontAlgn="base">
              <a:spcBef>
                <a:spcPct val="0"/>
              </a:spcBef>
              <a:spcAft>
                <a:spcPct val="0"/>
              </a:spcAft>
              <a:defRPr kern="1200">
                <a:solidFill>
                  <a:schemeClr val="dk1"/>
                </a:solidFill>
                <a:latin typeface="+mn-lt"/>
                <a:ea typeface="+mn-ea"/>
                <a:cs typeface="+mn-cs"/>
              </a:defRPr>
            </a:lvl3pPr>
            <a:lvl4pPr marL="1371600" algn="l" defTabSz="457200" rtl="0" fontAlgn="base">
              <a:spcBef>
                <a:spcPct val="0"/>
              </a:spcBef>
              <a:spcAft>
                <a:spcPct val="0"/>
              </a:spcAft>
              <a:defRPr kern="1200">
                <a:solidFill>
                  <a:schemeClr val="dk1"/>
                </a:solidFill>
                <a:latin typeface="+mn-lt"/>
                <a:ea typeface="+mn-ea"/>
                <a:cs typeface="+mn-cs"/>
              </a:defRPr>
            </a:lvl4pPr>
            <a:lvl5pPr marL="1828800" algn="l" defTabSz="457200" rtl="0" fontAlgn="base">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IN" b="1" dirty="0">
              <a:solidFill>
                <a:schemeClr val="accent6">
                  <a:lumMod val="75000"/>
                </a:schemeClr>
              </a:solidFill>
            </a:endParaRPr>
          </a:p>
          <a:p>
            <a:pPr algn="ctr"/>
            <a:r>
              <a:rPr lang="en-IN" b="1" dirty="0">
                <a:solidFill>
                  <a:schemeClr val="accent6">
                    <a:lumMod val="75000"/>
                  </a:schemeClr>
                </a:solidFill>
              </a:rPr>
              <a:t>UNEXPECTED  ERRORS:(</a:t>
            </a:r>
            <a:endParaRPr lang="en-IN" dirty="0"/>
          </a:p>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04800" y="1143000"/>
            <a:ext cx="3746450" cy="5486400"/>
          </a:xfrm>
          <a:prstGeom prst="roundRect">
            <a:avLst>
              <a:gd name="adj" fmla="val 305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222700" y="1143000"/>
            <a:ext cx="3746450" cy="5486400"/>
          </a:xfrm>
          <a:prstGeom prst="roundRect">
            <a:avLst>
              <a:gd name="adj" fmla="val 305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140600" y="1143000"/>
            <a:ext cx="3746450" cy="5486400"/>
          </a:xfrm>
          <a:prstGeom prst="roundRect">
            <a:avLst>
              <a:gd name="adj" fmla="val 305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04800" y="1143000"/>
            <a:ext cx="3746450" cy="4572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4800" y="1600200"/>
            <a:ext cx="3746450" cy="50292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222700" y="1143000"/>
            <a:ext cx="374645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222700" y="1600200"/>
            <a:ext cx="3746450" cy="502920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40600" y="1143000"/>
            <a:ext cx="3746450"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140600" y="1600200"/>
            <a:ext cx="3746450" cy="502920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04800" y="6619875"/>
            <a:ext cx="37464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04800" y="1600200"/>
            <a:ext cx="9525" cy="5029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041725" y="1600200"/>
            <a:ext cx="9525" cy="5029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22700" y="6619875"/>
            <a:ext cx="3746450" cy="9525"/>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22700" y="1600200"/>
            <a:ext cx="9525" cy="502920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59625" y="1600200"/>
            <a:ext cx="9525" cy="502920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40600" y="6619875"/>
            <a:ext cx="3746450" cy="9525"/>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40600" y="1600200"/>
            <a:ext cx="9525" cy="502920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1877526" y="1600200"/>
            <a:ext cx="9525" cy="502920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image.png"/>
          <p:cNvPicPr>
            <a:picLocks noChangeAspect="1"/>
          </p:cNvPicPr>
          <p:nvPr/>
        </p:nvPicPr>
        <p:blipFill>
          <a:blip r:embed="rId2"/>
          <a:stretch>
            <a:fillRect/>
          </a:stretch>
        </p:blipFill>
        <p:spPr>
          <a:xfrm>
            <a:off x="485775" y="1847850"/>
            <a:ext cx="419100" cy="419100"/>
          </a:xfrm>
          <a:prstGeom prst="rect">
            <a:avLst/>
          </a:prstGeom>
        </p:spPr>
      </p:pic>
      <p:pic>
        <p:nvPicPr>
          <p:cNvPr id="22" name="Picture 21" descr="image.png"/>
          <p:cNvPicPr>
            <a:picLocks noChangeAspect="1"/>
          </p:cNvPicPr>
          <p:nvPr/>
        </p:nvPicPr>
        <p:blipFill>
          <a:blip r:embed="rId3"/>
          <a:stretch>
            <a:fillRect/>
          </a:stretch>
        </p:blipFill>
        <p:spPr>
          <a:xfrm>
            <a:off x="485775" y="3333750"/>
            <a:ext cx="419100" cy="419100"/>
          </a:xfrm>
          <a:prstGeom prst="rect">
            <a:avLst/>
          </a:prstGeom>
        </p:spPr>
      </p:pic>
      <p:pic>
        <p:nvPicPr>
          <p:cNvPr id="23" name="Picture 22" descr="image.png"/>
          <p:cNvPicPr>
            <a:picLocks noChangeAspect="1"/>
          </p:cNvPicPr>
          <p:nvPr/>
        </p:nvPicPr>
        <p:blipFill>
          <a:blip r:embed="rId4"/>
          <a:stretch>
            <a:fillRect/>
          </a:stretch>
        </p:blipFill>
        <p:spPr>
          <a:xfrm>
            <a:off x="485775" y="4988718"/>
            <a:ext cx="419100" cy="419100"/>
          </a:xfrm>
          <a:prstGeom prst="rect">
            <a:avLst/>
          </a:prstGeom>
        </p:spPr>
      </p:pic>
      <p:pic>
        <p:nvPicPr>
          <p:cNvPr id="24" name="Picture 23" descr="image.png"/>
          <p:cNvPicPr>
            <a:picLocks noChangeAspect="1"/>
          </p:cNvPicPr>
          <p:nvPr/>
        </p:nvPicPr>
        <p:blipFill>
          <a:blip r:embed="rId5"/>
          <a:stretch>
            <a:fillRect/>
          </a:stretch>
        </p:blipFill>
        <p:spPr>
          <a:xfrm>
            <a:off x="4403675" y="1828800"/>
            <a:ext cx="342900" cy="342900"/>
          </a:xfrm>
          <a:prstGeom prst="rect">
            <a:avLst/>
          </a:prstGeom>
        </p:spPr>
      </p:pic>
      <p:pic>
        <p:nvPicPr>
          <p:cNvPr id="25" name="Picture 24" descr="image.png"/>
          <p:cNvPicPr>
            <a:picLocks noChangeAspect="1"/>
          </p:cNvPicPr>
          <p:nvPr/>
        </p:nvPicPr>
        <p:blipFill>
          <a:blip r:embed="rId6"/>
          <a:stretch>
            <a:fillRect/>
          </a:stretch>
        </p:blipFill>
        <p:spPr>
          <a:xfrm>
            <a:off x="4403675" y="2811809"/>
            <a:ext cx="342900" cy="342900"/>
          </a:xfrm>
          <a:prstGeom prst="rect">
            <a:avLst/>
          </a:prstGeom>
        </p:spPr>
      </p:pic>
      <p:pic>
        <p:nvPicPr>
          <p:cNvPr id="26" name="Picture 25" descr="image.png"/>
          <p:cNvPicPr>
            <a:picLocks noChangeAspect="1"/>
          </p:cNvPicPr>
          <p:nvPr/>
        </p:nvPicPr>
        <p:blipFill>
          <a:blip r:embed="rId7"/>
          <a:stretch>
            <a:fillRect/>
          </a:stretch>
        </p:blipFill>
        <p:spPr>
          <a:xfrm>
            <a:off x="4403675" y="3794819"/>
            <a:ext cx="342900" cy="342900"/>
          </a:xfrm>
          <a:prstGeom prst="rect">
            <a:avLst/>
          </a:prstGeom>
        </p:spPr>
      </p:pic>
      <p:pic>
        <p:nvPicPr>
          <p:cNvPr id="27" name="Picture 26" descr="image.png"/>
          <p:cNvPicPr>
            <a:picLocks noChangeAspect="1"/>
          </p:cNvPicPr>
          <p:nvPr/>
        </p:nvPicPr>
        <p:blipFill>
          <a:blip r:embed="rId8"/>
          <a:stretch>
            <a:fillRect/>
          </a:stretch>
        </p:blipFill>
        <p:spPr>
          <a:xfrm>
            <a:off x="4403675" y="4777829"/>
            <a:ext cx="342900" cy="342900"/>
          </a:xfrm>
          <a:prstGeom prst="rect">
            <a:avLst/>
          </a:prstGeom>
        </p:spPr>
      </p:pic>
      <p:pic>
        <p:nvPicPr>
          <p:cNvPr id="28" name="Picture 27" descr="image.png"/>
          <p:cNvPicPr>
            <a:picLocks noChangeAspect="1"/>
          </p:cNvPicPr>
          <p:nvPr/>
        </p:nvPicPr>
        <p:blipFill>
          <a:blip r:embed="rId9"/>
          <a:stretch>
            <a:fillRect/>
          </a:stretch>
        </p:blipFill>
        <p:spPr>
          <a:xfrm>
            <a:off x="4403675" y="5760839"/>
            <a:ext cx="342900" cy="342900"/>
          </a:xfrm>
          <a:prstGeom prst="rect">
            <a:avLst/>
          </a:prstGeom>
        </p:spPr>
      </p:pic>
      <p:pic>
        <p:nvPicPr>
          <p:cNvPr id="29" name="Picture 28" descr="image.png"/>
          <p:cNvPicPr>
            <a:picLocks noChangeAspect="1"/>
          </p:cNvPicPr>
          <p:nvPr/>
        </p:nvPicPr>
        <p:blipFill>
          <a:blip r:embed="rId10"/>
          <a:stretch>
            <a:fillRect/>
          </a:stretch>
        </p:blipFill>
        <p:spPr>
          <a:xfrm>
            <a:off x="8321575" y="1828800"/>
            <a:ext cx="342900" cy="342900"/>
          </a:xfrm>
          <a:prstGeom prst="rect">
            <a:avLst/>
          </a:prstGeom>
        </p:spPr>
      </p:pic>
      <p:pic>
        <p:nvPicPr>
          <p:cNvPr id="30" name="Picture 29" descr="image.png"/>
          <p:cNvPicPr>
            <a:picLocks noChangeAspect="1"/>
          </p:cNvPicPr>
          <p:nvPr/>
        </p:nvPicPr>
        <p:blipFill>
          <a:blip r:embed="rId11"/>
          <a:stretch>
            <a:fillRect/>
          </a:stretch>
        </p:blipFill>
        <p:spPr>
          <a:xfrm>
            <a:off x="8321575" y="2811809"/>
            <a:ext cx="342900" cy="342900"/>
          </a:xfrm>
          <a:prstGeom prst="rect">
            <a:avLst/>
          </a:prstGeom>
        </p:spPr>
      </p:pic>
      <p:pic>
        <p:nvPicPr>
          <p:cNvPr id="31" name="Picture 30" descr="image.png"/>
          <p:cNvPicPr>
            <a:picLocks noChangeAspect="1"/>
          </p:cNvPicPr>
          <p:nvPr/>
        </p:nvPicPr>
        <p:blipFill>
          <a:blip r:embed="rId12"/>
          <a:stretch>
            <a:fillRect/>
          </a:stretch>
        </p:blipFill>
        <p:spPr>
          <a:xfrm>
            <a:off x="8321575" y="3794819"/>
            <a:ext cx="342900" cy="342900"/>
          </a:xfrm>
          <a:prstGeom prst="rect">
            <a:avLst/>
          </a:prstGeom>
        </p:spPr>
      </p:pic>
      <p:pic>
        <p:nvPicPr>
          <p:cNvPr id="32" name="Picture 31" descr="image.png"/>
          <p:cNvPicPr>
            <a:picLocks noChangeAspect="1"/>
          </p:cNvPicPr>
          <p:nvPr/>
        </p:nvPicPr>
        <p:blipFill>
          <a:blip r:embed="rId13"/>
          <a:stretch>
            <a:fillRect/>
          </a:stretch>
        </p:blipFill>
        <p:spPr>
          <a:xfrm>
            <a:off x="8321575" y="4777829"/>
            <a:ext cx="342900" cy="342900"/>
          </a:xfrm>
          <a:prstGeom prst="rect">
            <a:avLst/>
          </a:prstGeom>
        </p:spPr>
      </p:pic>
      <p:pic>
        <p:nvPicPr>
          <p:cNvPr id="33" name="Picture 32" descr="image.png"/>
          <p:cNvPicPr>
            <a:picLocks noChangeAspect="1"/>
          </p:cNvPicPr>
          <p:nvPr/>
        </p:nvPicPr>
        <p:blipFill>
          <a:blip r:embed="rId14"/>
          <a:stretch>
            <a:fillRect/>
          </a:stretch>
        </p:blipFill>
        <p:spPr>
          <a:xfrm>
            <a:off x="8321575" y="5760839"/>
            <a:ext cx="342900" cy="342900"/>
          </a:xfrm>
          <a:prstGeom prst="rect">
            <a:avLst/>
          </a:prstGeom>
        </p:spPr>
      </p:pic>
      <p:pic>
        <p:nvPicPr>
          <p:cNvPr id="34" name="Picture 33" descr="image.png"/>
          <p:cNvPicPr>
            <a:picLocks noChangeAspect="1"/>
          </p:cNvPicPr>
          <p:nvPr/>
        </p:nvPicPr>
        <p:blipFill>
          <a:blip r:embed="rId15"/>
          <a:stretch>
            <a:fillRect/>
          </a:stretch>
        </p:blipFill>
        <p:spPr>
          <a:xfrm>
            <a:off x="600075" y="1962150"/>
            <a:ext cx="190500" cy="190500"/>
          </a:xfrm>
          <a:prstGeom prst="rect">
            <a:avLst/>
          </a:prstGeom>
        </p:spPr>
      </p:pic>
      <p:pic>
        <p:nvPicPr>
          <p:cNvPr id="35" name="Picture 34" descr="image.png"/>
          <p:cNvPicPr>
            <a:picLocks noChangeAspect="1"/>
          </p:cNvPicPr>
          <p:nvPr/>
        </p:nvPicPr>
        <p:blipFill>
          <a:blip r:embed="rId16"/>
          <a:stretch>
            <a:fillRect/>
          </a:stretch>
        </p:blipFill>
        <p:spPr>
          <a:xfrm>
            <a:off x="585787" y="3448050"/>
            <a:ext cx="219075" cy="190500"/>
          </a:xfrm>
          <a:prstGeom prst="rect">
            <a:avLst/>
          </a:prstGeom>
        </p:spPr>
      </p:pic>
      <p:pic>
        <p:nvPicPr>
          <p:cNvPr id="36" name="Picture 35" descr="image.png"/>
          <p:cNvPicPr>
            <a:picLocks noChangeAspect="1"/>
          </p:cNvPicPr>
          <p:nvPr/>
        </p:nvPicPr>
        <p:blipFill>
          <a:blip r:embed="rId17"/>
          <a:stretch>
            <a:fillRect/>
          </a:stretch>
        </p:blipFill>
        <p:spPr>
          <a:xfrm>
            <a:off x="600075" y="5103018"/>
            <a:ext cx="190500" cy="190500"/>
          </a:xfrm>
          <a:prstGeom prst="rect">
            <a:avLst/>
          </a:prstGeom>
        </p:spPr>
      </p:pic>
      <p:pic>
        <p:nvPicPr>
          <p:cNvPr id="37" name="Picture 36" descr="image.png"/>
          <p:cNvPicPr>
            <a:picLocks noChangeAspect="1"/>
          </p:cNvPicPr>
          <p:nvPr/>
        </p:nvPicPr>
        <p:blipFill>
          <a:blip r:embed="rId18"/>
          <a:stretch>
            <a:fillRect/>
          </a:stretch>
        </p:blipFill>
        <p:spPr>
          <a:xfrm>
            <a:off x="4498925" y="1924050"/>
            <a:ext cx="152400" cy="152400"/>
          </a:xfrm>
          <a:prstGeom prst="rect">
            <a:avLst/>
          </a:prstGeom>
        </p:spPr>
      </p:pic>
      <p:pic>
        <p:nvPicPr>
          <p:cNvPr id="38" name="Picture 37" descr="image.png"/>
          <p:cNvPicPr>
            <a:picLocks noChangeAspect="1"/>
          </p:cNvPicPr>
          <p:nvPr/>
        </p:nvPicPr>
        <p:blipFill>
          <a:blip r:embed="rId19"/>
          <a:stretch>
            <a:fillRect/>
          </a:stretch>
        </p:blipFill>
        <p:spPr>
          <a:xfrm>
            <a:off x="4498925" y="2907059"/>
            <a:ext cx="152400" cy="152400"/>
          </a:xfrm>
          <a:prstGeom prst="rect">
            <a:avLst/>
          </a:prstGeom>
        </p:spPr>
      </p:pic>
      <p:pic>
        <p:nvPicPr>
          <p:cNvPr id="39" name="Picture 38" descr="image.png"/>
          <p:cNvPicPr>
            <a:picLocks noChangeAspect="1"/>
          </p:cNvPicPr>
          <p:nvPr/>
        </p:nvPicPr>
        <p:blipFill>
          <a:blip r:embed="rId20"/>
          <a:stretch>
            <a:fillRect/>
          </a:stretch>
        </p:blipFill>
        <p:spPr>
          <a:xfrm>
            <a:off x="4498925" y="3890069"/>
            <a:ext cx="152400" cy="152400"/>
          </a:xfrm>
          <a:prstGeom prst="rect">
            <a:avLst/>
          </a:prstGeom>
        </p:spPr>
      </p:pic>
      <p:pic>
        <p:nvPicPr>
          <p:cNvPr id="40" name="Picture 39" descr="image.png"/>
          <p:cNvPicPr>
            <a:picLocks noChangeAspect="1"/>
          </p:cNvPicPr>
          <p:nvPr/>
        </p:nvPicPr>
        <p:blipFill>
          <a:blip r:embed="rId21"/>
          <a:stretch>
            <a:fillRect/>
          </a:stretch>
        </p:blipFill>
        <p:spPr>
          <a:xfrm>
            <a:off x="4479875" y="4873079"/>
            <a:ext cx="190500" cy="152400"/>
          </a:xfrm>
          <a:prstGeom prst="rect">
            <a:avLst/>
          </a:prstGeom>
        </p:spPr>
      </p:pic>
      <p:pic>
        <p:nvPicPr>
          <p:cNvPr id="41" name="Picture 40" descr="image.png"/>
          <p:cNvPicPr>
            <a:picLocks noChangeAspect="1"/>
          </p:cNvPicPr>
          <p:nvPr/>
        </p:nvPicPr>
        <p:blipFill>
          <a:blip r:embed="rId22"/>
          <a:stretch>
            <a:fillRect/>
          </a:stretch>
        </p:blipFill>
        <p:spPr>
          <a:xfrm>
            <a:off x="4508450" y="5856089"/>
            <a:ext cx="133350" cy="152400"/>
          </a:xfrm>
          <a:prstGeom prst="rect">
            <a:avLst/>
          </a:prstGeom>
        </p:spPr>
      </p:pic>
      <p:pic>
        <p:nvPicPr>
          <p:cNvPr id="42" name="Picture 41" descr="image.png"/>
          <p:cNvPicPr>
            <a:picLocks noChangeAspect="1"/>
          </p:cNvPicPr>
          <p:nvPr/>
        </p:nvPicPr>
        <p:blipFill>
          <a:blip r:embed="rId23"/>
          <a:stretch>
            <a:fillRect/>
          </a:stretch>
        </p:blipFill>
        <p:spPr>
          <a:xfrm>
            <a:off x="8397775" y="1924050"/>
            <a:ext cx="190500" cy="152400"/>
          </a:xfrm>
          <a:prstGeom prst="rect">
            <a:avLst/>
          </a:prstGeom>
        </p:spPr>
      </p:pic>
      <p:pic>
        <p:nvPicPr>
          <p:cNvPr id="43" name="Picture 42" descr="image.png"/>
          <p:cNvPicPr>
            <a:picLocks noChangeAspect="1"/>
          </p:cNvPicPr>
          <p:nvPr/>
        </p:nvPicPr>
        <p:blipFill>
          <a:blip r:embed="rId24"/>
          <a:stretch>
            <a:fillRect/>
          </a:stretch>
        </p:blipFill>
        <p:spPr>
          <a:xfrm>
            <a:off x="8416825" y="2907059"/>
            <a:ext cx="152400" cy="152400"/>
          </a:xfrm>
          <a:prstGeom prst="rect">
            <a:avLst/>
          </a:prstGeom>
        </p:spPr>
      </p:pic>
      <p:pic>
        <p:nvPicPr>
          <p:cNvPr id="44" name="Picture 43" descr="image.png"/>
          <p:cNvPicPr>
            <a:picLocks noChangeAspect="1"/>
          </p:cNvPicPr>
          <p:nvPr/>
        </p:nvPicPr>
        <p:blipFill>
          <a:blip r:embed="rId25"/>
          <a:stretch>
            <a:fillRect/>
          </a:stretch>
        </p:blipFill>
        <p:spPr>
          <a:xfrm>
            <a:off x="8407300" y="3890069"/>
            <a:ext cx="171450" cy="152400"/>
          </a:xfrm>
          <a:prstGeom prst="rect">
            <a:avLst/>
          </a:prstGeom>
        </p:spPr>
      </p:pic>
      <p:pic>
        <p:nvPicPr>
          <p:cNvPr id="45" name="Picture 44" descr="image.png"/>
          <p:cNvPicPr>
            <a:picLocks noChangeAspect="1"/>
          </p:cNvPicPr>
          <p:nvPr/>
        </p:nvPicPr>
        <p:blipFill>
          <a:blip r:embed="rId26"/>
          <a:stretch>
            <a:fillRect/>
          </a:stretch>
        </p:blipFill>
        <p:spPr>
          <a:xfrm>
            <a:off x="8407300" y="4873079"/>
            <a:ext cx="171450" cy="152400"/>
          </a:xfrm>
          <a:prstGeom prst="rect">
            <a:avLst/>
          </a:prstGeom>
        </p:spPr>
      </p:pic>
      <p:pic>
        <p:nvPicPr>
          <p:cNvPr id="46" name="Picture 45" descr="image.png"/>
          <p:cNvPicPr>
            <a:picLocks noChangeAspect="1"/>
          </p:cNvPicPr>
          <p:nvPr/>
        </p:nvPicPr>
        <p:blipFill>
          <a:blip r:embed="rId27"/>
          <a:stretch>
            <a:fillRect/>
          </a:stretch>
        </p:blipFill>
        <p:spPr>
          <a:xfrm>
            <a:off x="8407300" y="5856089"/>
            <a:ext cx="171450" cy="152400"/>
          </a:xfrm>
          <a:prstGeom prst="rect">
            <a:avLst/>
          </a:prstGeom>
        </p:spPr>
      </p:pic>
      <p:sp>
        <p:nvSpPr>
          <p:cNvPr id="47" name="TextBox 46"/>
          <p:cNvSpPr txBox="1"/>
          <p:nvPr/>
        </p:nvSpPr>
        <p:spPr>
          <a:xfrm>
            <a:off x="2383736" y="214163"/>
            <a:ext cx="7328930" cy="615553"/>
          </a:xfrm>
          <a:prstGeom prst="rect">
            <a:avLst/>
          </a:prstGeom>
          <a:noFill/>
        </p:spPr>
        <p:txBody>
          <a:bodyPr wrap="none" lIns="0" tIns="0" rIns="0" bIns="0" anchor="t">
            <a:spAutoFit/>
          </a:bodyPr>
          <a:lstStyle/>
          <a:p>
            <a:pPr algn="ctr"/>
            <a:r>
              <a:rPr sz="4000" b="1" i="0" u="sng" dirty="0">
                <a:solidFill>
                  <a:srgbClr val="000000"/>
                </a:solidFill>
                <a:latin typeface="Garamond" panose="02020404030301010803" pitchFamily="18" charset="0"/>
              </a:rPr>
              <a:t>FEASIBILITY AND VIABILITY</a:t>
            </a:r>
          </a:p>
        </p:txBody>
      </p:sp>
      <p:sp>
        <p:nvSpPr>
          <p:cNvPr id="48" name="TextBox 47"/>
          <p:cNvSpPr txBox="1"/>
          <p:nvPr/>
        </p:nvSpPr>
        <p:spPr>
          <a:xfrm>
            <a:off x="-163506" y="1143000"/>
            <a:ext cx="4683062" cy="457200"/>
          </a:xfrm>
          <a:prstGeom prst="rect">
            <a:avLst/>
          </a:prstGeom>
          <a:noFill/>
        </p:spPr>
        <p:txBody>
          <a:bodyPr wrap="square" lIns="0" tIns="0" rIns="0" bIns="0" anchor="ctr">
            <a:spAutoFit/>
          </a:bodyPr>
          <a:lstStyle/>
          <a:p>
            <a:pPr algn="ctr"/>
            <a:r>
              <a:rPr sz="1275" b="1" i="0" u="none" dirty="0">
                <a:solidFill>
                  <a:srgbClr val="FFFFFF"/>
                </a:solidFill>
                <a:latin typeface="Inter"/>
              </a:rPr>
              <a:t>FEASIBILITY</a:t>
            </a:r>
          </a:p>
        </p:txBody>
      </p:sp>
      <p:sp>
        <p:nvSpPr>
          <p:cNvPr id="49" name="TextBox 48"/>
          <p:cNvSpPr txBox="1"/>
          <p:nvPr/>
        </p:nvSpPr>
        <p:spPr>
          <a:xfrm>
            <a:off x="3754394" y="1143000"/>
            <a:ext cx="4683062" cy="457200"/>
          </a:xfrm>
          <a:prstGeom prst="rect">
            <a:avLst/>
          </a:prstGeom>
          <a:noFill/>
        </p:spPr>
        <p:txBody>
          <a:bodyPr wrap="square" lIns="0" tIns="0" rIns="0" bIns="0" anchor="ctr">
            <a:spAutoFit/>
          </a:bodyPr>
          <a:lstStyle/>
          <a:p>
            <a:pPr algn="ctr"/>
            <a:r>
              <a:rPr sz="1275" b="1" i="0" u="none">
                <a:solidFill>
                  <a:srgbClr val="FFFFFF"/>
                </a:solidFill>
                <a:latin typeface="Inter"/>
              </a:rPr>
              <a:t>POTENTIAL CONCERNS</a:t>
            </a:r>
          </a:p>
        </p:txBody>
      </p:sp>
      <p:sp>
        <p:nvSpPr>
          <p:cNvPr id="50" name="TextBox 49"/>
          <p:cNvSpPr txBox="1"/>
          <p:nvPr/>
        </p:nvSpPr>
        <p:spPr>
          <a:xfrm>
            <a:off x="7753973" y="1143000"/>
            <a:ext cx="4519705" cy="457200"/>
          </a:xfrm>
          <a:prstGeom prst="rect">
            <a:avLst/>
          </a:prstGeom>
          <a:noFill/>
        </p:spPr>
        <p:txBody>
          <a:bodyPr wrap="square" lIns="0" tIns="0" rIns="0" bIns="0" anchor="ctr">
            <a:spAutoFit/>
          </a:bodyPr>
          <a:lstStyle/>
          <a:p>
            <a:pPr algn="ctr"/>
            <a:r>
              <a:rPr sz="1275" b="1" i="0" u="none">
                <a:solidFill>
                  <a:srgbClr val="FFFFFF"/>
                </a:solidFill>
                <a:latin typeface="Inter"/>
              </a:rPr>
              <a:t>STRATEGIES TO RESOLVE</a:t>
            </a:r>
          </a:p>
        </p:txBody>
      </p:sp>
      <p:sp>
        <p:nvSpPr>
          <p:cNvPr id="51" name="TextBox 50"/>
          <p:cNvSpPr txBox="1"/>
          <p:nvPr/>
        </p:nvSpPr>
        <p:spPr>
          <a:xfrm>
            <a:off x="1038225" y="1828800"/>
            <a:ext cx="3717066" cy="190500"/>
          </a:xfrm>
          <a:prstGeom prst="rect">
            <a:avLst/>
          </a:prstGeom>
          <a:noFill/>
        </p:spPr>
        <p:txBody>
          <a:bodyPr wrap="none" lIns="0" tIns="0" rIns="0" bIns="0" anchor="t">
            <a:spAutoFit/>
          </a:bodyPr>
          <a:lstStyle/>
          <a:p>
            <a:pPr algn="l"/>
            <a:r>
              <a:rPr sz="1200" b="1" i="0" u="none" dirty="0">
                <a:solidFill>
                  <a:srgbClr val="0F172A"/>
                </a:solidFill>
                <a:latin typeface="Inter"/>
              </a:rPr>
              <a:t>Technical</a:t>
            </a:r>
          </a:p>
        </p:txBody>
      </p:sp>
      <p:sp>
        <p:nvSpPr>
          <p:cNvPr id="52" name="TextBox 51"/>
          <p:cNvSpPr txBox="1"/>
          <p:nvPr/>
        </p:nvSpPr>
        <p:spPr>
          <a:xfrm>
            <a:off x="1038225" y="2066925"/>
            <a:ext cx="2927300" cy="1014412"/>
          </a:xfrm>
          <a:prstGeom prst="rect">
            <a:avLst/>
          </a:prstGeom>
          <a:noFill/>
        </p:spPr>
        <p:txBody>
          <a:bodyPr wrap="square" lIns="0" tIns="0" rIns="0" bIns="0" anchor="t">
            <a:spAutoFit/>
          </a:bodyPr>
          <a:lstStyle/>
          <a:p>
            <a:pPr algn="l">
              <a:lnSpc>
                <a:spcPts val="1331"/>
              </a:lnSpc>
            </a:pPr>
            <a:r>
              <a:rPr sz="937" b="0" i="0" u="none" dirty="0">
                <a:solidFill>
                  <a:srgbClr val="334155"/>
                </a:solidFill>
                <a:latin typeface="Inter"/>
              </a:rPr>
              <a:t>Dual hydrodynamic modelling pipeline combining Smoothed Particle Hydrodynamics (SPH) and Delft3D. Integrates high-resolution DEM and hydrological data to simulate dynamic breach discharge, velocity propagation, and peak flood wave routing across steep river valleys.</a:t>
            </a:r>
          </a:p>
        </p:txBody>
      </p:sp>
      <p:sp>
        <p:nvSpPr>
          <p:cNvPr id="53" name="TextBox 52"/>
          <p:cNvSpPr txBox="1"/>
          <p:nvPr/>
        </p:nvSpPr>
        <p:spPr>
          <a:xfrm>
            <a:off x="1038225" y="3314700"/>
            <a:ext cx="3717066" cy="190500"/>
          </a:xfrm>
          <a:prstGeom prst="rect">
            <a:avLst/>
          </a:prstGeom>
          <a:noFill/>
        </p:spPr>
        <p:txBody>
          <a:bodyPr wrap="none" lIns="0" tIns="0" rIns="0" bIns="0" anchor="t">
            <a:spAutoFit/>
          </a:bodyPr>
          <a:lstStyle/>
          <a:p>
            <a:pPr algn="l"/>
            <a:r>
              <a:rPr sz="1200" b="1" i="0" u="none">
                <a:solidFill>
                  <a:srgbClr val="0F172A"/>
                </a:solidFill>
                <a:latin typeface="Inter"/>
              </a:rPr>
              <a:t>Operational</a:t>
            </a:r>
          </a:p>
        </p:txBody>
      </p:sp>
      <p:sp>
        <p:nvSpPr>
          <p:cNvPr id="54" name="TextBox 53"/>
          <p:cNvSpPr txBox="1"/>
          <p:nvPr/>
        </p:nvSpPr>
        <p:spPr>
          <a:xfrm>
            <a:off x="1038225" y="3552825"/>
            <a:ext cx="2927300" cy="1183481"/>
          </a:xfrm>
          <a:prstGeom prst="rect">
            <a:avLst/>
          </a:prstGeom>
          <a:noFill/>
        </p:spPr>
        <p:txBody>
          <a:bodyPr wrap="square" lIns="0" tIns="0" rIns="0" bIns="0" anchor="t">
            <a:spAutoFit/>
          </a:bodyPr>
          <a:lstStyle/>
          <a:p>
            <a:pPr algn="l">
              <a:lnSpc>
                <a:spcPts val="1331"/>
              </a:lnSpc>
            </a:pPr>
            <a:r>
              <a:rPr sz="937" b="0" i="0" u="none" dirty="0">
                <a:solidFill>
                  <a:srgbClr val="334155"/>
                </a:solidFill>
                <a:latin typeface="Inter"/>
              </a:rPr>
              <a:t>Centralized GIS dashboard actively tracking 38 major Indian dams with customizable breach scenarios. Automatically computes the six vital impact metrics including inundation boundaries, exposed populations, and critical lifeline infrastructure to guide rapid HADR response operations.</a:t>
            </a:r>
          </a:p>
        </p:txBody>
      </p:sp>
      <p:sp>
        <p:nvSpPr>
          <p:cNvPr id="55" name="TextBox 54"/>
          <p:cNvSpPr txBox="1"/>
          <p:nvPr/>
        </p:nvSpPr>
        <p:spPr>
          <a:xfrm>
            <a:off x="1038225" y="4969668"/>
            <a:ext cx="3717066" cy="190500"/>
          </a:xfrm>
          <a:prstGeom prst="rect">
            <a:avLst/>
          </a:prstGeom>
          <a:noFill/>
        </p:spPr>
        <p:txBody>
          <a:bodyPr wrap="none" lIns="0" tIns="0" rIns="0" bIns="0" anchor="t">
            <a:spAutoFit/>
          </a:bodyPr>
          <a:lstStyle/>
          <a:p>
            <a:pPr algn="l"/>
            <a:r>
              <a:rPr sz="1200" b="1" i="0" u="none">
                <a:solidFill>
                  <a:srgbClr val="0F172A"/>
                </a:solidFill>
                <a:latin typeface="Inter"/>
              </a:rPr>
              <a:t>Economical</a:t>
            </a:r>
          </a:p>
        </p:txBody>
      </p:sp>
      <p:sp>
        <p:nvSpPr>
          <p:cNvPr id="56" name="TextBox 55"/>
          <p:cNvSpPr txBox="1"/>
          <p:nvPr/>
        </p:nvSpPr>
        <p:spPr>
          <a:xfrm>
            <a:off x="1038225" y="5207793"/>
            <a:ext cx="2927300" cy="1183481"/>
          </a:xfrm>
          <a:prstGeom prst="rect">
            <a:avLst/>
          </a:prstGeom>
          <a:noFill/>
        </p:spPr>
        <p:txBody>
          <a:bodyPr wrap="square" lIns="0" tIns="0" rIns="0" bIns="0" anchor="t">
            <a:spAutoFit/>
          </a:bodyPr>
          <a:lstStyle/>
          <a:p>
            <a:pPr algn="l">
              <a:lnSpc>
                <a:spcPts val="1331"/>
              </a:lnSpc>
            </a:pPr>
            <a:r>
              <a:rPr sz="937" b="0" i="0" u="none">
                <a:solidFill>
                  <a:srgbClr val="334155"/>
                </a:solidFill>
                <a:latin typeface="Inter"/>
              </a:rPr>
              <a:t>Leverages fully open-source Sentinel-1 SAR satellite imagery and offloads intensive raster computations to serverless Google Earth Engine pipelines. Drastically reduces proprietary software licensing costs and infrastructure overhead for state and national disaster agencies.</a:t>
            </a:r>
          </a:p>
        </p:txBody>
      </p:sp>
      <p:sp>
        <p:nvSpPr>
          <p:cNvPr id="57" name="TextBox 56"/>
          <p:cNvSpPr txBox="1"/>
          <p:nvPr/>
        </p:nvSpPr>
        <p:spPr>
          <a:xfrm>
            <a:off x="4860875" y="1809750"/>
            <a:ext cx="1748877"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High Computation Demand</a:t>
            </a:r>
          </a:p>
        </p:txBody>
      </p:sp>
      <p:sp>
        <p:nvSpPr>
          <p:cNvPr id="58" name="TextBox 57"/>
          <p:cNvSpPr txBox="1"/>
          <p:nvPr/>
        </p:nvSpPr>
        <p:spPr>
          <a:xfrm>
            <a:off x="4860875" y="2005012"/>
            <a:ext cx="3022550" cy="472826"/>
          </a:xfrm>
          <a:prstGeom prst="rect">
            <a:avLst/>
          </a:prstGeom>
          <a:noFill/>
        </p:spPr>
        <p:txBody>
          <a:bodyPr wrap="square" lIns="0" tIns="0" rIns="0" bIns="0" anchor="t">
            <a:spAutoFit/>
          </a:bodyPr>
          <a:lstStyle/>
          <a:p>
            <a:pPr algn="l">
              <a:lnSpc>
                <a:spcPts val="1241"/>
              </a:lnSpc>
            </a:pPr>
            <a:r>
              <a:rPr sz="900" b="0" i="0" u="none" dirty="0">
                <a:solidFill>
                  <a:srgbClr val="7F1D1D"/>
                </a:solidFill>
                <a:latin typeface="Inter"/>
              </a:rPr>
              <a:t>SPH and Delft3D hydrodynamics require substantial GPU/CPU resources, creating computational bottlenecks during wide-area catchment simulations.</a:t>
            </a:r>
          </a:p>
        </p:txBody>
      </p:sp>
      <p:sp>
        <p:nvSpPr>
          <p:cNvPr id="59" name="TextBox 58"/>
          <p:cNvSpPr txBox="1"/>
          <p:nvPr/>
        </p:nvSpPr>
        <p:spPr>
          <a:xfrm>
            <a:off x="4860875" y="2792759"/>
            <a:ext cx="1384995"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Satellite Data Latency</a:t>
            </a:r>
          </a:p>
        </p:txBody>
      </p:sp>
      <p:sp>
        <p:nvSpPr>
          <p:cNvPr id="60" name="TextBox 59"/>
          <p:cNvSpPr txBox="1"/>
          <p:nvPr/>
        </p:nvSpPr>
        <p:spPr>
          <a:xfrm>
            <a:off x="4860875" y="2988022"/>
            <a:ext cx="3022550" cy="472826"/>
          </a:xfrm>
          <a:prstGeom prst="rect">
            <a:avLst/>
          </a:prstGeom>
          <a:noFill/>
        </p:spPr>
        <p:txBody>
          <a:bodyPr wrap="square" lIns="0" tIns="0" rIns="0" bIns="0" anchor="t">
            <a:spAutoFit/>
          </a:bodyPr>
          <a:lstStyle/>
          <a:p>
            <a:pPr algn="l">
              <a:lnSpc>
                <a:spcPts val="1241"/>
              </a:lnSpc>
            </a:pPr>
            <a:r>
              <a:rPr sz="900" b="0" i="0" u="none">
                <a:solidFill>
                  <a:srgbClr val="7F1D1D"/>
                </a:solidFill>
                <a:latin typeface="Inter"/>
              </a:rPr>
              <a:t>Sentinel-1 SAR constellation exhibits a 6 to 12-day revisit interval, limiting instantaneous observational verification during active sudden flash flood events.</a:t>
            </a:r>
          </a:p>
        </p:txBody>
      </p:sp>
      <p:sp>
        <p:nvSpPr>
          <p:cNvPr id="61" name="TextBox 60"/>
          <p:cNvSpPr txBox="1"/>
          <p:nvPr/>
        </p:nvSpPr>
        <p:spPr>
          <a:xfrm>
            <a:off x="4860875" y="3775769"/>
            <a:ext cx="1671933"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Topographical Complexity</a:t>
            </a:r>
          </a:p>
        </p:txBody>
      </p:sp>
      <p:sp>
        <p:nvSpPr>
          <p:cNvPr id="62" name="TextBox 61"/>
          <p:cNvSpPr txBox="1"/>
          <p:nvPr/>
        </p:nvSpPr>
        <p:spPr>
          <a:xfrm>
            <a:off x="4860875" y="3971032"/>
            <a:ext cx="3022550" cy="472826"/>
          </a:xfrm>
          <a:prstGeom prst="rect">
            <a:avLst/>
          </a:prstGeom>
          <a:noFill/>
        </p:spPr>
        <p:txBody>
          <a:bodyPr wrap="square" lIns="0" tIns="0" rIns="0" bIns="0" anchor="t">
            <a:spAutoFit/>
          </a:bodyPr>
          <a:lstStyle/>
          <a:p>
            <a:pPr algn="l">
              <a:lnSpc>
                <a:spcPts val="1241"/>
              </a:lnSpc>
            </a:pPr>
            <a:r>
              <a:rPr sz="900" b="0" i="0" u="none" dirty="0">
                <a:solidFill>
                  <a:srgbClr val="7F1D1D"/>
                </a:solidFill>
                <a:latin typeface="Inter"/>
              </a:rPr>
              <a:t>Steep Himalayan catchments and landslide dams (e.g., Rishi Ganga) produce non-linear surge kinetics and sudden debris-laden flood propagation.</a:t>
            </a:r>
          </a:p>
        </p:txBody>
      </p:sp>
      <p:sp>
        <p:nvSpPr>
          <p:cNvPr id="63" name="TextBox 62"/>
          <p:cNvSpPr txBox="1"/>
          <p:nvPr/>
        </p:nvSpPr>
        <p:spPr>
          <a:xfrm>
            <a:off x="4860875" y="4758779"/>
            <a:ext cx="1397306"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Impact Quantification</a:t>
            </a:r>
          </a:p>
        </p:txBody>
      </p:sp>
      <p:sp>
        <p:nvSpPr>
          <p:cNvPr id="64" name="TextBox 63"/>
          <p:cNvSpPr txBox="1"/>
          <p:nvPr/>
        </p:nvSpPr>
        <p:spPr>
          <a:xfrm>
            <a:off x="4860875" y="4954041"/>
            <a:ext cx="3022550" cy="472826"/>
          </a:xfrm>
          <a:prstGeom prst="rect">
            <a:avLst/>
          </a:prstGeom>
          <a:noFill/>
        </p:spPr>
        <p:txBody>
          <a:bodyPr wrap="square" lIns="0" tIns="0" rIns="0" bIns="0" anchor="t">
            <a:spAutoFit/>
          </a:bodyPr>
          <a:lstStyle/>
          <a:p>
            <a:pPr algn="l">
              <a:lnSpc>
                <a:spcPts val="1241"/>
              </a:lnSpc>
            </a:pPr>
            <a:r>
              <a:rPr sz="900" b="0" i="0" u="none" dirty="0">
                <a:solidFill>
                  <a:srgbClr val="7F1D1D"/>
                </a:solidFill>
                <a:latin typeface="Inter"/>
              </a:rPr>
              <a:t>Accurately assessing submerged road networks, agricultural losses, and critical hospitals requires integrating diverse geospatial demographic layers.</a:t>
            </a:r>
          </a:p>
        </p:txBody>
      </p:sp>
      <p:sp>
        <p:nvSpPr>
          <p:cNvPr id="65" name="TextBox 64"/>
          <p:cNvSpPr txBox="1"/>
          <p:nvPr/>
        </p:nvSpPr>
        <p:spPr>
          <a:xfrm>
            <a:off x="4860875" y="5741789"/>
            <a:ext cx="1453860"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Large Volume Datasets</a:t>
            </a:r>
          </a:p>
        </p:txBody>
      </p:sp>
      <p:sp>
        <p:nvSpPr>
          <p:cNvPr id="66" name="TextBox 65"/>
          <p:cNvSpPr txBox="1"/>
          <p:nvPr/>
        </p:nvSpPr>
        <p:spPr>
          <a:xfrm>
            <a:off x="4860875" y="5937051"/>
            <a:ext cx="3022550" cy="472826"/>
          </a:xfrm>
          <a:prstGeom prst="rect">
            <a:avLst/>
          </a:prstGeom>
          <a:noFill/>
        </p:spPr>
        <p:txBody>
          <a:bodyPr wrap="square" lIns="0" tIns="0" rIns="0" bIns="0" anchor="t">
            <a:spAutoFit/>
          </a:bodyPr>
          <a:lstStyle/>
          <a:p>
            <a:pPr algn="l">
              <a:lnSpc>
                <a:spcPts val="1241"/>
              </a:lnSpc>
            </a:pPr>
            <a:r>
              <a:rPr sz="900" b="0" i="0" u="none" dirty="0">
                <a:solidFill>
                  <a:srgbClr val="7F1D1D"/>
                </a:solidFill>
                <a:latin typeface="Inter"/>
              </a:rPr>
              <a:t>Ingesting multi-temporal raster arrays, national DEM files, and continuous hydrological time-series creates significant data handling bottlenecks.</a:t>
            </a:r>
          </a:p>
        </p:txBody>
      </p:sp>
      <p:sp>
        <p:nvSpPr>
          <p:cNvPr id="67" name="TextBox 66"/>
          <p:cNvSpPr txBox="1"/>
          <p:nvPr/>
        </p:nvSpPr>
        <p:spPr>
          <a:xfrm>
            <a:off x="8778775" y="1809750"/>
            <a:ext cx="1538434"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Cloud Parallel Execution</a:t>
            </a:r>
          </a:p>
        </p:txBody>
      </p:sp>
      <p:sp>
        <p:nvSpPr>
          <p:cNvPr id="68" name="TextBox 67"/>
          <p:cNvSpPr txBox="1"/>
          <p:nvPr/>
        </p:nvSpPr>
        <p:spPr>
          <a:xfrm>
            <a:off x="8778775" y="2005012"/>
            <a:ext cx="3022550" cy="472826"/>
          </a:xfrm>
          <a:prstGeom prst="rect">
            <a:avLst/>
          </a:prstGeom>
          <a:noFill/>
        </p:spPr>
        <p:txBody>
          <a:bodyPr wrap="square" lIns="0" tIns="0" rIns="0" bIns="0" anchor="t">
            <a:spAutoFit/>
          </a:bodyPr>
          <a:lstStyle/>
          <a:p>
            <a:pPr algn="l">
              <a:lnSpc>
                <a:spcPts val="1241"/>
              </a:lnSpc>
            </a:pPr>
            <a:r>
              <a:rPr sz="900" b="0" i="0" u="none">
                <a:solidFill>
                  <a:srgbClr val="14532D"/>
                </a:solidFill>
                <a:latin typeface="Inter"/>
              </a:rPr>
              <a:t>Offload heavy satellite processing to Google Earth Engine and distribute hydrodynamic solvers across scalable cloud instances for rapid scenario runs.</a:t>
            </a:r>
          </a:p>
        </p:txBody>
      </p:sp>
      <p:sp>
        <p:nvSpPr>
          <p:cNvPr id="69" name="TextBox 68"/>
          <p:cNvSpPr txBox="1"/>
          <p:nvPr/>
        </p:nvSpPr>
        <p:spPr>
          <a:xfrm>
            <a:off x="8778775" y="2792759"/>
            <a:ext cx="1856790"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Asynchronous Stream Hybrid</a:t>
            </a:r>
          </a:p>
        </p:txBody>
      </p:sp>
      <p:sp>
        <p:nvSpPr>
          <p:cNvPr id="70" name="TextBox 69"/>
          <p:cNvSpPr txBox="1"/>
          <p:nvPr/>
        </p:nvSpPr>
        <p:spPr>
          <a:xfrm>
            <a:off x="8778775" y="2988022"/>
            <a:ext cx="3022550" cy="472826"/>
          </a:xfrm>
          <a:prstGeom prst="rect">
            <a:avLst/>
          </a:prstGeom>
          <a:noFill/>
        </p:spPr>
        <p:txBody>
          <a:bodyPr wrap="square" lIns="0" tIns="0" rIns="0" bIns="0" anchor="t">
            <a:spAutoFit/>
          </a:bodyPr>
          <a:lstStyle/>
          <a:p>
            <a:pPr algn="l">
              <a:lnSpc>
                <a:spcPts val="1241"/>
              </a:lnSpc>
            </a:pPr>
            <a:r>
              <a:rPr sz="900" b="0" i="0" u="none">
                <a:solidFill>
                  <a:srgbClr val="14532D"/>
                </a:solidFill>
                <a:latin typeface="Inter"/>
              </a:rPr>
              <a:t>Bridge the 6-12 day satellite revisit gap by coupling predictive hydrodynamic flow simulations with continuous live telemetry and dam water sensors.</a:t>
            </a:r>
          </a:p>
        </p:txBody>
      </p:sp>
      <p:sp>
        <p:nvSpPr>
          <p:cNvPr id="71" name="TextBox 70"/>
          <p:cNvSpPr txBox="1"/>
          <p:nvPr/>
        </p:nvSpPr>
        <p:spPr>
          <a:xfrm>
            <a:off x="8778775" y="3775769"/>
            <a:ext cx="1643014"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Dynamic DEM Integration</a:t>
            </a:r>
          </a:p>
        </p:txBody>
      </p:sp>
      <p:sp>
        <p:nvSpPr>
          <p:cNvPr id="72" name="TextBox 71"/>
          <p:cNvSpPr txBox="1"/>
          <p:nvPr/>
        </p:nvSpPr>
        <p:spPr>
          <a:xfrm>
            <a:off x="8778775" y="3971032"/>
            <a:ext cx="3022550" cy="472826"/>
          </a:xfrm>
          <a:prstGeom prst="rect">
            <a:avLst/>
          </a:prstGeom>
          <a:noFill/>
        </p:spPr>
        <p:txBody>
          <a:bodyPr wrap="square" lIns="0" tIns="0" rIns="0" bIns="0" anchor="t">
            <a:spAutoFit/>
          </a:bodyPr>
          <a:lstStyle/>
          <a:p>
            <a:pPr algn="l">
              <a:lnSpc>
                <a:spcPts val="1241"/>
              </a:lnSpc>
            </a:pPr>
            <a:r>
              <a:rPr sz="900" b="0" i="0" u="none">
                <a:solidFill>
                  <a:srgbClr val="14532D"/>
                </a:solidFill>
                <a:latin typeface="Inter"/>
              </a:rPr>
              <a:t>Integrate localized high-resolution elevation data with adaptive mesh refinement to accurately map steep river valleys and sudden breach kinetics.</a:t>
            </a:r>
          </a:p>
        </p:txBody>
      </p:sp>
      <p:sp>
        <p:nvSpPr>
          <p:cNvPr id="73" name="TextBox 72"/>
          <p:cNvSpPr txBox="1"/>
          <p:nvPr/>
        </p:nvSpPr>
        <p:spPr>
          <a:xfrm>
            <a:off x="8778775" y="4758779"/>
            <a:ext cx="1809726"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Automated Exposure Engine</a:t>
            </a:r>
          </a:p>
        </p:txBody>
      </p:sp>
      <p:sp>
        <p:nvSpPr>
          <p:cNvPr id="74" name="TextBox 73"/>
          <p:cNvSpPr txBox="1"/>
          <p:nvPr/>
        </p:nvSpPr>
        <p:spPr>
          <a:xfrm>
            <a:off x="8778775" y="4954041"/>
            <a:ext cx="3022550" cy="472826"/>
          </a:xfrm>
          <a:prstGeom prst="rect">
            <a:avLst/>
          </a:prstGeom>
          <a:noFill/>
        </p:spPr>
        <p:txBody>
          <a:bodyPr wrap="square" lIns="0" tIns="0" rIns="0" bIns="0" anchor="t">
            <a:spAutoFit/>
          </a:bodyPr>
          <a:lstStyle/>
          <a:p>
            <a:pPr algn="l">
              <a:lnSpc>
                <a:spcPts val="1241"/>
              </a:lnSpc>
            </a:pPr>
            <a:r>
              <a:rPr sz="900" b="0" i="0" u="none">
                <a:solidFill>
                  <a:srgbClr val="14532D"/>
                </a:solidFill>
                <a:latin typeface="Inter"/>
              </a:rPr>
              <a:t>Overlay inundation boundaries onto OpenStreetMap and census layers to automatically calculate exposed populations, cropland, and road cutoffs.</a:t>
            </a:r>
          </a:p>
        </p:txBody>
      </p:sp>
      <p:sp>
        <p:nvSpPr>
          <p:cNvPr id="75" name="TextBox 74"/>
          <p:cNvSpPr txBox="1"/>
          <p:nvPr/>
        </p:nvSpPr>
        <p:spPr>
          <a:xfrm>
            <a:off x="8778775" y="5741789"/>
            <a:ext cx="1500091" cy="166712"/>
          </a:xfrm>
          <a:prstGeom prst="rect">
            <a:avLst/>
          </a:prstGeom>
          <a:noFill/>
        </p:spPr>
        <p:txBody>
          <a:bodyPr wrap="none" lIns="0" tIns="0" rIns="0" bIns="0" anchor="t">
            <a:spAutoFit/>
          </a:bodyPr>
          <a:lstStyle/>
          <a:p>
            <a:pPr algn="l">
              <a:lnSpc>
                <a:spcPts val="1312"/>
              </a:lnSpc>
            </a:pPr>
            <a:r>
              <a:rPr sz="1200" b="1" i="0" u="none" dirty="0">
                <a:solidFill>
                  <a:srgbClr val="010000"/>
                </a:solidFill>
                <a:latin typeface="Inter"/>
              </a:rPr>
              <a:t>Format Standardization</a:t>
            </a:r>
          </a:p>
        </p:txBody>
      </p:sp>
      <p:sp>
        <p:nvSpPr>
          <p:cNvPr id="76" name="TextBox 75"/>
          <p:cNvSpPr txBox="1"/>
          <p:nvPr/>
        </p:nvSpPr>
        <p:spPr>
          <a:xfrm>
            <a:off x="8778775" y="5937051"/>
            <a:ext cx="3022550" cy="472826"/>
          </a:xfrm>
          <a:prstGeom prst="rect">
            <a:avLst/>
          </a:prstGeom>
          <a:noFill/>
        </p:spPr>
        <p:txBody>
          <a:bodyPr wrap="square" lIns="0" tIns="0" rIns="0" bIns="0" anchor="t">
            <a:spAutoFit/>
          </a:bodyPr>
          <a:lstStyle/>
          <a:p>
            <a:pPr algn="l">
              <a:lnSpc>
                <a:spcPts val="1241"/>
              </a:lnSpc>
            </a:pPr>
            <a:r>
              <a:rPr sz="900" b="0" i="0" u="none">
                <a:solidFill>
                  <a:srgbClr val="14532D"/>
                </a:solidFill>
                <a:latin typeface="Inter"/>
              </a:rPr>
              <a:t>Automate processing pipelines to instantly export flood extents, velocity contours, and reports in interoperable .shp, .kml, and GeoJSON formats.</a:t>
            </a:r>
          </a:p>
        </p:txBody>
      </p:sp>
      <p:pic>
        <p:nvPicPr>
          <p:cNvPr id="78" name="Picture 77">
            <a:extLst>
              <a:ext uri="{FF2B5EF4-FFF2-40B4-BE49-F238E27FC236}">
                <a16:creationId xmlns:a16="http://schemas.microsoft.com/office/drawing/2014/main" id="{F1B940B2-F393-A874-C2C6-E8FC801E6352}"/>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9846553" y="-52984"/>
            <a:ext cx="2249850" cy="1062337"/>
          </a:xfrm>
          <a:prstGeom prst="rect">
            <a:avLst/>
          </a:prstGeom>
        </p:spPr>
      </p:pic>
      <p:sp>
        <p:nvSpPr>
          <p:cNvPr id="80" name="Rectangle 79">
            <a:extLst>
              <a:ext uri="{FF2B5EF4-FFF2-40B4-BE49-F238E27FC236}">
                <a16:creationId xmlns:a16="http://schemas.microsoft.com/office/drawing/2014/main" id="{6EBD3E0A-AA4C-3141-0610-4B6DAE237E14}"/>
              </a:ext>
            </a:extLst>
          </p:cNvPr>
          <p:cNvSpPr>
            <a:spLocks noChangeArrowheads="1"/>
          </p:cNvSpPr>
          <p:nvPr/>
        </p:nvSpPr>
        <p:spPr bwMode="auto">
          <a:xfrm>
            <a:off x="0" y="6638478"/>
            <a:ext cx="12191999" cy="219522"/>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smtClean="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82" name="Oval 81" descr="Your startup LOGO">
            <a:extLst>
              <a:ext uri="{FF2B5EF4-FFF2-40B4-BE49-F238E27FC236}">
                <a16:creationId xmlns:a16="http://schemas.microsoft.com/office/drawing/2014/main" id="{E6CC2993-A40B-E8BF-4B33-0C96B08EAD1A}"/>
              </a:ext>
              <a:ext uri="{C183D7F6-B498-43B3-948B-1728B52AA6E4}">
                <adec:decorative xmlns:adec="http://schemas.microsoft.com/office/drawing/2017/decorative" val="0"/>
              </a:ext>
            </a:extLst>
          </p:cNvPr>
          <p:cNvSpPr/>
          <p:nvPr/>
        </p:nvSpPr>
        <p:spPr>
          <a:xfrm>
            <a:off x="-1" y="15643"/>
            <a:ext cx="2249850" cy="725949"/>
          </a:xfrm>
          <a:prstGeom prst="ellipse">
            <a:avLst/>
          </a:prstGeom>
          <a:solidFill>
            <a:schemeClr val="accent6">
              <a:lumMod val="40000"/>
              <a:lumOff val="60000"/>
            </a:schemeClr>
          </a:solidFill>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algn="l" defTabSz="457200" rtl="0" fontAlgn="base">
              <a:spcBef>
                <a:spcPct val="0"/>
              </a:spcBef>
              <a:spcAft>
                <a:spcPct val="0"/>
              </a:spcAft>
              <a:defRPr kern="1200">
                <a:solidFill>
                  <a:schemeClr val="dk1"/>
                </a:solidFill>
                <a:latin typeface="+mn-lt"/>
                <a:ea typeface="+mn-ea"/>
                <a:cs typeface="+mn-cs"/>
              </a:defRPr>
            </a:lvl1pPr>
            <a:lvl2pPr marL="457200" algn="l" defTabSz="457200" rtl="0" fontAlgn="base">
              <a:spcBef>
                <a:spcPct val="0"/>
              </a:spcBef>
              <a:spcAft>
                <a:spcPct val="0"/>
              </a:spcAft>
              <a:defRPr kern="1200">
                <a:solidFill>
                  <a:schemeClr val="dk1"/>
                </a:solidFill>
                <a:latin typeface="+mn-lt"/>
                <a:ea typeface="+mn-ea"/>
                <a:cs typeface="+mn-cs"/>
              </a:defRPr>
            </a:lvl2pPr>
            <a:lvl3pPr marL="914400" algn="l" defTabSz="457200" rtl="0" fontAlgn="base">
              <a:spcBef>
                <a:spcPct val="0"/>
              </a:spcBef>
              <a:spcAft>
                <a:spcPct val="0"/>
              </a:spcAft>
              <a:defRPr kern="1200">
                <a:solidFill>
                  <a:schemeClr val="dk1"/>
                </a:solidFill>
                <a:latin typeface="+mn-lt"/>
                <a:ea typeface="+mn-ea"/>
                <a:cs typeface="+mn-cs"/>
              </a:defRPr>
            </a:lvl3pPr>
            <a:lvl4pPr marL="1371600" algn="l" defTabSz="457200" rtl="0" fontAlgn="base">
              <a:spcBef>
                <a:spcPct val="0"/>
              </a:spcBef>
              <a:spcAft>
                <a:spcPct val="0"/>
              </a:spcAft>
              <a:defRPr kern="1200">
                <a:solidFill>
                  <a:schemeClr val="dk1"/>
                </a:solidFill>
                <a:latin typeface="+mn-lt"/>
                <a:ea typeface="+mn-ea"/>
                <a:cs typeface="+mn-cs"/>
              </a:defRPr>
            </a:lvl4pPr>
            <a:lvl5pPr marL="1828800" algn="l" defTabSz="457200" rtl="0" fontAlgn="base">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IN" b="1" dirty="0">
              <a:solidFill>
                <a:schemeClr val="accent6">
                  <a:lumMod val="75000"/>
                </a:schemeClr>
              </a:solidFill>
            </a:endParaRPr>
          </a:p>
          <a:p>
            <a:pPr algn="ctr"/>
            <a:r>
              <a:rPr lang="en-IN" b="1" dirty="0">
                <a:solidFill>
                  <a:schemeClr val="accent6">
                    <a:lumMod val="75000"/>
                  </a:schemeClr>
                </a:solidFill>
              </a:rPr>
              <a:t>UNEXPECTED  ERRORS:(</a:t>
            </a:r>
            <a:endParaRPr lang="en-IN" dirty="0"/>
          </a:p>
          <a:p>
            <a:pPr algn="ctr"/>
            <a:endParaRPr lang="en-IN" dirty="0"/>
          </a:p>
        </p:txBody>
      </p:sp>
      <p:pic>
        <p:nvPicPr>
          <p:cNvPr id="77" name="Picture 76">
            <a:extLst>
              <a:ext uri="{FF2B5EF4-FFF2-40B4-BE49-F238E27FC236}">
                <a16:creationId xmlns:a16="http://schemas.microsoft.com/office/drawing/2014/main" id="{D2F35CA6-F3FF-023D-5492-B4FA45F522F6}"/>
              </a:ext>
            </a:extLst>
          </p:cNvPr>
          <p:cNvPicPr>
            <a:picLocks noChangeAspect="1"/>
          </p:cNvPicPr>
          <p:nvPr/>
        </p:nvPicPr>
        <p:blipFill>
          <a:blip r:embed="rId29"/>
          <a:stretch>
            <a:fillRect/>
          </a:stretch>
        </p:blipFill>
        <p:spPr>
          <a:xfrm>
            <a:off x="8165900" y="1783094"/>
            <a:ext cx="590550" cy="4965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1" name="Picture 80">
            <a:extLst>
              <a:ext uri="{FF2B5EF4-FFF2-40B4-BE49-F238E27FC236}">
                <a16:creationId xmlns:a16="http://schemas.microsoft.com/office/drawing/2014/main" id="{7557873D-3F09-5D53-16AC-004A4FB90588}"/>
              </a:ext>
            </a:extLst>
          </p:cNvPr>
          <p:cNvPicPr>
            <a:picLocks noChangeAspect="1"/>
          </p:cNvPicPr>
          <p:nvPr/>
        </p:nvPicPr>
        <p:blipFill>
          <a:blip r:embed="rId30"/>
          <a:stretch>
            <a:fillRect/>
          </a:stretch>
        </p:blipFill>
        <p:spPr>
          <a:xfrm>
            <a:off x="8118853" y="2766414"/>
            <a:ext cx="637597" cy="5982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4" name="Picture 83">
            <a:extLst>
              <a:ext uri="{FF2B5EF4-FFF2-40B4-BE49-F238E27FC236}">
                <a16:creationId xmlns:a16="http://schemas.microsoft.com/office/drawing/2014/main" id="{4D877212-5010-4131-876F-34F3165F5229}"/>
              </a:ext>
            </a:extLst>
          </p:cNvPr>
          <p:cNvPicPr>
            <a:picLocks noChangeAspect="1"/>
          </p:cNvPicPr>
          <p:nvPr/>
        </p:nvPicPr>
        <p:blipFill>
          <a:blip r:embed="rId31"/>
          <a:stretch>
            <a:fillRect/>
          </a:stretch>
        </p:blipFill>
        <p:spPr>
          <a:xfrm>
            <a:off x="8097195" y="3770270"/>
            <a:ext cx="680521" cy="5368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6" name="Picture 85">
            <a:extLst>
              <a:ext uri="{FF2B5EF4-FFF2-40B4-BE49-F238E27FC236}">
                <a16:creationId xmlns:a16="http://schemas.microsoft.com/office/drawing/2014/main" id="{30F59300-DD4A-A78F-BEE2-2D31979B4E06}"/>
              </a:ext>
            </a:extLst>
          </p:cNvPr>
          <p:cNvPicPr>
            <a:picLocks noChangeAspect="1"/>
          </p:cNvPicPr>
          <p:nvPr/>
        </p:nvPicPr>
        <p:blipFill>
          <a:blip r:embed="rId32"/>
          <a:stretch>
            <a:fillRect/>
          </a:stretch>
        </p:blipFill>
        <p:spPr>
          <a:xfrm>
            <a:off x="8140600" y="4759726"/>
            <a:ext cx="632169" cy="531505"/>
          </a:xfrm>
          <a:prstGeom prst="roundRect">
            <a:avLst>
              <a:gd name="adj" fmla="val 35468"/>
            </a:avLst>
          </a:prstGeom>
          <a:solidFill>
            <a:srgbClr val="FFFFFF">
              <a:shade val="85000"/>
            </a:srgbClr>
          </a:solidFill>
          <a:ln>
            <a:noFill/>
          </a:ln>
          <a:effectLst>
            <a:reflection blurRad="12700" stA="38000" endPos="28000" dist="5000" dir="5400000" sy="-100000" algn="bl" rotWithShape="0"/>
          </a:effectLst>
        </p:spPr>
      </p:pic>
      <p:pic>
        <p:nvPicPr>
          <p:cNvPr id="88" name="Picture 87">
            <a:extLst>
              <a:ext uri="{FF2B5EF4-FFF2-40B4-BE49-F238E27FC236}">
                <a16:creationId xmlns:a16="http://schemas.microsoft.com/office/drawing/2014/main" id="{984A4E06-DB76-DBA3-3D71-F80988CB2107}"/>
              </a:ext>
            </a:extLst>
          </p:cNvPr>
          <p:cNvPicPr>
            <a:picLocks noChangeAspect="1"/>
          </p:cNvPicPr>
          <p:nvPr/>
        </p:nvPicPr>
        <p:blipFill>
          <a:blip r:embed="rId33"/>
          <a:stretch>
            <a:fillRect/>
          </a:stretch>
        </p:blipFill>
        <p:spPr>
          <a:xfrm>
            <a:off x="304799" y="1847634"/>
            <a:ext cx="718871" cy="5786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0" name="Picture 89">
            <a:extLst>
              <a:ext uri="{FF2B5EF4-FFF2-40B4-BE49-F238E27FC236}">
                <a16:creationId xmlns:a16="http://schemas.microsoft.com/office/drawing/2014/main" id="{A646FB20-C21E-7F83-EF8D-546F22C2EDFC}"/>
              </a:ext>
            </a:extLst>
          </p:cNvPr>
          <p:cNvPicPr>
            <a:picLocks noChangeAspect="1"/>
          </p:cNvPicPr>
          <p:nvPr/>
        </p:nvPicPr>
        <p:blipFill>
          <a:blip r:embed="rId34"/>
          <a:stretch>
            <a:fillRect/>
          </a:stretch>
        </p:blipFill>
        <p:spPr>
          <a:xfrm>
            <a:off x="357270" y="3319731"/>
            <a:ext cx="664563" cy="5330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2" name="Picture 91">
            <a:extLst>
              <a:ext uri="{FF2B5EF4-FFF2-40B4-BE49-F238E27FC236}">
                <a16:creationId xmlns:a16="http://schemas.microsoft.com/office/drawing/2014/main" id="{701814DA-2671-C76F-FF1E-E5D1F7D89AC4}"/>
              </a:ext>
            </a:extLst>
          </p:cNvPr>
          <p:cNvPicPr>
            <a:picLocks noChangeAspect="1"/>
          </p:cNvPicPr>
          <p:nvPr/>
        </p:nvPicPr>
        <p:blipFill>
          <a:blip r:embed="rId35"/>
          <a:stretch>
            <a:fillRect/>
          </a:stretch>
        </p:blipFill>
        <p:spPr>
          <a:xfrm>
            <a:off x="368814" y="5000237"/>
            <a:ext cx="653019" cy="6106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477000"/>
            <a:ext cx="12192000" cy="190500"/>
          </a:xfrm>
          <a:prstGeom prst="rect">
            <a:avLst/>
          </a:prstGeom>
          <a:noFill/>
        </p:spPr>
        <p:txBody>
          <a:bodyPr wrap="none" lIns="0" tIns="0" rIns="0" bIns="0" anchor="t">
            <a:spAutoFit/>
          </a:bodyPr>
          <a:lstStyle/>
          <a:p>
            <a:pPr algn="l"/>
            <a:r>
              <a:rPr sz="1200" b="0" i="0" u="none">
                <a:solidFill>
                  <a:srgbClr val="000000"/>
                </a:solidFill>
                <a:latin typeface="Inter"/>
              </a:rPr>
              <a:t>2</a:t>
            </a:r>
          </a:p>
        </p:txBody>
      </p:sp>
      <p:sp>
        <p:nvSpPr>
          <p:cNvPr id="6" name="TextBox 5"/>
          <p:cNvSpPr txBox="1"/>
          <p:nvPr/>
        </p:nvSpPr>
        <p:spPr>
          <a:xfrm>
            <a:off x="3086850" y="276821"/>
            <a:ext cx="6057043" cy="615553"/>
          </a:xfrm>
          <a:prstGeom prst="rect">
            <a:avLst/>
          </a:prstGeom>
          <a:noFill/>
        </p:spPr>
        <p:txBody>
          <a:bodyPr wrap="none" lIns="0" tIns="0" rIns="0" bIns="0" anchor="t">
            <a:spAutoFit/>
          </a:bodyPr>
          <a:lstStyle/>
          <a:p>
            <a:pPr algn="l"/>
            <a:r>
              <a:rPr sz="4000" b="1" i="0" u="sng" dirty="0">
                <a:solidFill>
                  <a:srgbClr val="010000"/>
                </a:solidFill>
                <a:latin typeface="Garamond" panose="02020404030301010803" pitchFamily="18" charset="0"/>
              </a:rPr>
              <a:t>IMPACT AND BENEFITS</a:t>
            </a:r>
          </a:p>
        </p:txBody>
      </p:sp>
      <p:pic>
        <p:nvPicPr>
          <p:cNvPr id="7" name="Picture 6" descr="image.png"/>
          <p:cNvPicPr>
            <a:picLocks noChangeAspect="1"/>
          </p:cNvPicPr>
          <p:nvPr/>
        </p:nvPicPr>
        <p:blipFill>
          <a:blip r:embed="rId2"/>
          <a:stretch>
            <a:fillRect/>
          </a:stretch>
        </p:blipFill>
        <p:spPr>
          <a:xfrm>
            <a:off x="0" y="1143000"/>
            <a:ext cx="12192000" cy="5334000"/>
          </a:xfrm>
          <a:prstGeom prst="rect">
            <a:avLst/>
          </a:prstGeom>
        </p:spPr>
      </p:pic>
      <p:sp>
        <p:nvSpPr>
          <p:cNvPr id="8" name="Rounded Rectangle 7"/>
          <p:cNvSpPr/>
          <p:nvPr/>
        </p:nvSpPr>
        <p:spPr>
          <a:xfrm>
            <a:off x="381000" y="1428750"/>
            <a:ext cx="4191000" cy="1076325"/>
          </a:xfrm>
          <a:custGeom>
            <a:avLst/>
            <a:gdLst>
              <a:gd name="csX0" fmla="*/ 0 w 4191000"/>
              <a:gd name="csY0" fmla="*/ 114295 h 1076325"/>
              <a:gd name="csX1" fmla="*/ 114295 w 4191000"/>
              <a:gd name="csY1" fmla="*/ 0 h 1076325"/>
              <a:gd name="csX2" fmla="*/ 735073 w 4191000"/>
              <a:gd name="csY2" fmla="*/ 0 h 1076325"/>
              <a:gd name="csX3" fmla="*/ 1276602 w 4191000"/>
              <a:gd name="csY3" fmla="*/ 0 h 1076325"/>
              <a:gd name="csX4" fmla="*/ 1857755 w 4191000"/>
              <a:gd name="csY4" fmla="*/ 0 h 1076325"/>
              <a:gd name="csX5" fmla="*/ 2438909 w 4191000"/>
              <a:gd name="csY5" fmla="*/ 0 h 1076325"/>
              <a:gd name="csX6" fmla="*/ 2980438 w 4191000"/>
              <a:gd name="csY6" fmla="*/ 0 h 1076325"/>
              <a:gd name="csX7" fmla="*/ 4076705 w 4191000"/>
              <a:gd name="csY7" fmla="*/ 0 h 1076325"/>
              <a:gd name="csX8" fmla="*/ 4191000 w 4191000"/>
              <a:gd name="csY8" fmla="*/ 114295 h 1076325"/>
              <a:gd name="csX9" fmla="*/ 4191000 w 4191000"/>
              <a:gd name="csY9" fmla="*/ 538163 h 1076325"/>
              <a:gd name="csX10" fmla="*/ 4191000 w 4191000"/>
              <a:gd name="csY10" fmla="*/ 962030 h 1076325"/>
              <a:gd name="csX11" fmla="*/ 4076705 w 4191000"/>
              <a:gd name="csY11" fmla="*/ 1076325 h 1076325"/>
              <a:gd name="csX12" fmla="*/ 3416303 w 4191000"/>
              <a:gd name="csY12" fmla="*/ 1076325 h 1076325"/>
              <a:gd name="csX13" fmla="*/ 2676653 w 4191000"/>
              <a:gd name="csY13" fmla="*/ 1076325 h 1076325"/>
              <a:gd name="csX14" fmla="*/ 1937004 w 4191000"/>
              <a:gd name="csY14" fmla="*/ 1076325 h 1076325"/>
              <a:gd name="csX15" fmla="*/ 1395474 w 4191000"/>
              <a:gd name="csY15" fmla="*/ 1076325 h 1076325"/>
              <a:gd name="csX16" fmla="*/ 695448 w 4191000"/>
              <a:gd name="csY16" fmla="*/ 1076325 h 1076325"/>
              <a:gd name="csX17" fmla="*/ 114295 w 4191000"/>
              <a:gd name="csY17" fmla="*/ 1076325 h 1076325"/>
              <a:gd name="csX18" fmla="*/ 0 w 4191000"/>
              <a:gd name="csY18" fmla="*/ 962030 h 1076325"/>
              <a:gd name="csX19" fmla="*/ 0 w 4191000"/>
              <a:gd name="csY19" fmla="*/ 529685 h 1076325"/>
              <a:gd name="csX20" fmla="*/ 0 w 4191000"/>
              <a:gd name="csY20" fmla="*/ 114295 h 1076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91000" h="1076325" fill="none" extrusionOk="0">
                <a:moveTo>
                  <a:pt x="0" y="114295"/>
                </a:moveTo>
                <a:cubicBezTo>
                  <a:pt x="-15102" y="50490"/>
                  <a:pt x="54263" y="15160"/>
                  <a:pt x="114295" y="0"/>
                </a:cubicBezTo>
                <a:cubicBezTo>
                  <a:pt x="258441" y="7300"/>
                  <a:pt x="464581" y="15320"/>
                  <a:pt x="735073" y="0"/>
                </a:cubicBezTo>
                <a:cubicBezTo>
                  <a:pt x="1005565" y="-15320"/>
                  <a:pt x="1134424" y="2743"/>
                  <a:pt x="1276602" y="0"/>
                </a:cubicBezTo>
                <a:cubicBezTo>
                  <a:pt x="1418780" y="-2743"/>
                  <a:pt x="1725001" y="-11057"/>
                  <a:pt x="1857755" y="0"/>
                </a:cubicBezTo>
                <a:cubicBezTo>
                  <a:pt x="1990509" y="11057"/>
                  <a:pt x="2193765" y="26714"/>
                  <a:pt x="2438909" y="0"/>
                </a:cubicBezTo>
                <a:cubicBezTo>
                  <a:pt x="2684053" y="-26714"/>
                  <a:pt x="2710364" y="15109"/>
                  <a:pt x="2980438" y="0"/>
                </a:cubicBezTo>
                <a:cubicBezTo>
                  <a:pt x="3250512" y="-15109"/>
                  <a:pt x="3536564" y="-2652"/>
                  <a:pt x="4076705" y="0"/>
                </a:cubicBezTo>
                <a:cubicBezTo>
                  <a:pt x="4135244" y="-2217"/>
                  <a:pt x="4182185" y="58671"/>
                  <a:pt x="4191000" y="114295"/>
                </a:cubicBezTo>
                <a:cubicBezTo>
                  <a:pt x="4208326" y="321367"/>
                  <a:pt x="4194765" y="437977"/>
                  <a:pt x="4191000" y="538163"/>
                </a:cubicBezTo>
                <a:cubicBezTo>
                  <a:pt x="4187235" y="638349"/>
                  <a:pt x="4175908" y="787893"/>
                  <a:pt x="4191000" y="962030"/>
                </a:cubicBezTo>
                <a:cubicBezTo>
                  <a:pt x="4199205" y="1038536"/>
                  <a:pt x="4148328" y="1086069"/>
                  <a:pt x="4076705" y="1076325"/>
                </a:cubicBezTo>
                <a:cubicBezTo>
                  <a:pt x="3868978" y="1080799"/>
                  <a:pt x="3729048" y="1100541"/>
                  <a:pt x="3416303" y="1076325"/>
                </a:cubicBezTo>
                <a:cubicBezTo>
                  <a:pt x="3103558" y="1052109"/>
                  <a:pt x="2883897" y="1064469"/>
                  <a:pt x="2676653" y="1076325"/>
                </a:cubicBezTo>
                <a:cubicBezTo>
                  <a:pt x="2469409" y="1088182"/>
                  <a:pt x="2192669" y="1064679"/>
                  <a:pt x="1937004" y="1076325"/>
                </a:cubicBezTo>
                <a:cubicBezTo>
                  <a:pt x="1681339" y="1087971"/>
                  <a:pt x="1624453" y="1091847"/>
                  <a:pt x="1395474" y="1076325"/>
                </a:cubicBezTo>
                <a:cubicBezTo>
                  <a:pt x="1166495" y="1060804"/>
                  <a:pt x="913391" y="1101674"/>
                  <a:pt x="695448" y="1076325"/>
                </a:cubicBezTo>
                <a:cubicBezTo>
                  <a:pt x="477505" y="1050976"/>
                  <a:pt x="317770" y="1083478"/>
                  <a:pt x="114295" y="1076325"/>
                </a:cubicBezTo>
                <a:cubicBezTo>
                  <a:pt x="50501" y="1072218"/>
                  <a:pt x="-488" y="1021286"/>
                  <a:pt x="0" y="962030"/>
                </a:cubicBezTo>
                <a:cubicBezTo>
                  <a:pt x="5789" y="862930"/>
                  <a:pt x="-2233" y="726072"/>
                  <a:pt x="0" y="529685"/>
                </a:cubicBezTo>
                <a:cubicBezTo>
                  <a:pt x="2233" y="333298"/>
                  <a:pt x="8542" y="296090"/>
                  <a:pt x="0" y="114295"/>
                </a:cubicBezTo>
                <a:close/>
              </a:path>
              <a:path w="4191000" h="1076325" stroke="0" extrusionOk="0">
                <a:moveTo>
                  <a:pt x="0" y="114295"/>
                </a:moveTo>
                <a:cubicBezTo>
                  <a:pt x="-69" y="53648"/>
                  <a:pt x="53746" y="3328"/>
                  <a:pt x="114295" y="0"/>
                </a:cubicBezTo>
                <a:cubicBezTo>
                  <a:pt x="471074" y="13736"/>
                  <a:pt x="590650" y="23306"/>
                  <a:pt x="853945" y="0"/>
                </a:cubicBezTo>
                <a:cubicBezTo>
                  <a:pt x="1117240" y="-23306"/>
                  <a:pt x="1372520" y="-25171"/>
                  <a:pt x="1553971" y="0"/>
                </a:cubicBezTo>
                <a:cubicBezTo>
                  <a:pt x="1735422" y="25171"/>
                  <a:pt x="2115247" y="36771"/>
                  <a:pt x="2293620" y="0"/>
                </a:cubicBezTo>
                <a:cubicBezTo>
                  <a:pt x="2471993" y="-36771"/>
                  <a:pt x="2830446" y="751"/>
                  <a:pt x="2993646" y="0"/>
                </a:cubicBezTo>
                <a:cubicBezTo>
                  <a:pt x="3156846" y="-751"/>
                  <a:pt x="3614105" y="51139"/>
                  <a:pt x="4076705" y="0"/>
                </a:cubicBezTo>
                <a:cubicBezTo>
                  <a:pt x="4149074" y="7509"/>
                  <a:pt x="4188369" y="58431"/>
                  <a:pt x="4191000" y="114295"/>
                </a:cubicBezTo>
                <a:cubicBezTo>
                  <a:pt x="4197574" y="309103"/>
                  <a:pt x="4172438" y="348744"/>
                  <a:pt x="4191000" y="512730"/>
                </a:cubicBezTo>
                <a:cubicBezTo>
                  <a:pt x="4209562" y="676716"/>
                  <a:pt x="4183556" y="796202"/>
                  <a:pt x="4191000" y="962030"/>
                </a:cubicBezTo>
                <a:cubicBezTo>
                  <a:pt x="4181871" y="1036838"/>
                  <a:pt x="4142279" y="1077291"/>
                  <a:pt x="4076705" y="1076325"/>
                </a:cubicBezTo>
                <a:cubicBezTo>
                  <a:pt x="3966570" y="1079794"/>
                  <a:pt x="3648250" y="1071057"/>
                  <a:pt x="3535176" y="1076325"/>
                </a:cubicBezTo>
                <a:cubicBezTo>
                  <a:pt x="3422102" y="1081593"/>
                  <a:pt x="3173260" y="1092979"/>
                  <a:pt x="2993646" y="1076325"/>
                </a:cubicBezTo>
                <a:cubicBezTo>
                  <a:pt x="2814032" y="1059672"/>
                  <a:pt x="2463284" y="1089035"/>
                  <a:pt x="2253996" y="1076325"/>
                </a:cubicBezTo>
                <a:cubicBezTo>
                  <a:pt x="2044708" y="1063616"/>
                  <a:pt x="1909807" y="1068083"/>
                  <a:pt x="1593595" y="1076325"/>
                </a:cubicBezTo>
                <a:cubicBezTo>
                  <a:pt x="1277383" y="1084567"/>
                  <a:pt x="1066733" y="1046941"/>
                  <a:pt x="933193" y="1076325"/>
                </a:cubicBezTo>
                <a:cubicBezTo>
                  <a:pt x="799653" y="1105709"/>
                  <a:pt x="356330" y="1117122"/>
                  <a:pt x="114295" y="1076325"/>
                </a:cubicBezTo>
                <a:cubicBezTo>
                  <a:pt x="50930" y="1078047"/>
                  <a:pt x="8561" y="1037674"/>
                  <a:pt x="0" y="962030"/>
                </a:cubicBezTo>
                <a:cubicBezTo>
                  <a:pt x="5218" y="852578"/>
                  <a:pt x="3176" y="755994"/>
                  <a:pt x="0" y="555117"/>
                </a:cubicBezTo>
                <a:cubicBezTo>
                  <a:pt x="-3176" y="354240"/>
                  <a:pt x="17312" y="282063"/>
                  <a:pt x="0" y="114295"/>
                </a:cubicBezTo>
                <a:close/>
              </a:path>
            </a:pathLst>
          </a:custGeom>
          <a:solidFill>
            <a:srgbClr val="FFFFFF"/>
          </a:solidFill>
          <a:ln w="38100">
            <a:solidFill>
              <a:srgbClr val="3B82F6"/>
            </a:solidFill>
            <a:extLst>
              <a:ext uri="{C807C97D-BFC1-408E-A445-0C87EB9F89A2}">
                <ask:lineSketchStyleProps xmlns:ask="http://schemas.microsoft.com/office/drawing/2018/sketchyshapes" sd="2029960213">
                  <a:prstGeom prst="roundRect">
                    <a:avLst>
                      <a:gd name="adj" fmla="val 1061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81000" y="2657475"/>
            <a:ext cx="4191000" cy="1076325"/>
          </a:xfrm>
          <a:custGeom>
            <a:avLst/>
            <a:gdLst>
              <a:gd name="csX0" fmla="*/ 0 w 4191000"/>
              <a:gd name="csY0" fmla="*/ 114295 h 1076325"/>
              <a:gd name="csX1" fmla="*/ 114295 w 4191000"/>
              <a:gd name="csY1" fmla="*/ 0 h 1076325"/>
              <a:gd name="csX2" fmla="*/ 735073 w 4191000"/>
              <a:gd name="csY2" fmla="*/ 0 h 1076325"/>
              <a:gd name="csX3" fmla="*/ 1316226 w 4191000"/>
              <a:gd name="csY3" fmla="*/ 0 h 1076325"/>
              <a:gd name="csX4" fmla="*/ 2016252 w 4191000"/>
              <a:gd name="csY4" fmla="*/ 0 h 1076325"/>
              <a:gd name="csX5" fmla="*/ 2637029 w 4191000"/>
              <a:gd name="csY5" fmla="*/ 0 h 1076325"/>
              <a:gd name="csX6" fmla="*/ 3218183 w 4191000"/>
              <a:gd name="csY6" fmla="*/ 0 h 1076325"/>
              <a:gd name="csX7" fmla="*/ 4076705 w 4191000"/>
              <a:gd name="csY7" fmla="*/ 0 h 1076325"/>
              <a:gd name="csX8" fmla="*/ 4191000 w 4191000"/>
              <a:gd name="csY8" fmla="*/ 114295 h 1076325"/>
              <a:gd name="csX9" fmla="*/ 4191000 w 4191000"/>
              <a:gd name="csY9" fmla="*/ 538163 h 1076325"/>
              <a:gd name="csX10" fmla="*/ 4191000 w 4191000"/>
              <a:gd name="csY10" fmla="*/ 962030 h 1076325"/>
              <a:gd name="csX11" fmla="*/ 4076705 w 4191000"/>
              <a:gd name="csY11" fmla="*/ 1076325 h 1076325"/>
              <a:gd name="csX12" fmla="*/ 3535176 w 4191000"/>
              <a:gd name="csY12" fmla="*/ 1076325 h 1076325"/>
              <a:gd name="csX13" fmla="*/ 2993646 w 4191000"/>
              <a:gd name="csY13" fmla="*/ 1076325 h 1076325"/>
              <a:gd name="csX14" fmla="*/ 2372869 w 4191000"/>
              <a:gd name="csY14" fmla="*/ 1076325 h 1076325"/>
              <a:gd name="csX15" fmla="*/ 1712467 w 4191000"/>
              <a:gd name="csY15" fmla="*/ 1076325 h 1076325"/>
              <a:gd name="csX16" fmla="*/ 1131314 w 4191000"/>
              <a:gd name="csY16" fmla="*/ 1076325 h 1076325"/>
              <a:gd name="csX17" fmla="*/ 114295 w 4191000"/>
              <a:gd name="csY17" fmla="*/ 1076325 h 1076325"/>
              <a:gd name="csX18" fmla="*/ 0 w 4191000"/>
              <a:gd name="csY18" fmla="*/ 962030 h 1076325"/>
              <a:gd name="csX19" fmla="*/ 0 w 4191000"/>
              <a:gd name="csY19" fmla="*/ 546640 h 1076325"/>
              <a:gd name="csX20" fmla="*/ 0 w 4191000"/>
              <a:gd name="csY20" fmla="*/ 114295 h 1076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91000" h="1076325" fill="none" extrusionOk="0">
                <a:moveTo>
                  <a:pt x="0" y="114295"/>
                </a:moveTo>
                <a:cubicBezTo>
                  <a:pt x="12059" y="58684"/>
                  <a:pt x="57584" y="-756"/>
                  <a:pt x="114295" y="0"/>
                </a:cubicBezTo>
                <a:cubicBezTo>
                  <a:pt x="273897" y="201"/>
                  <a:pt x="603408" y="3773"/>
                  <a:pt x="735073" y="0"/>
                </a:cubicBezTo>
                <a:cubicBezTo>
                  <a:pt x="866738" y="-3773"/>
                  <a:pt x="1049648" y="-21432"/>
                  <a:pt x="1316226" y="0"/>
                </a:cubicBezTo>
                <a:cubicBezTo>
                  <a:pt x="1582804" y="21432"/>
                  <a:pt x="1784469" y="30361"/>
                  <a:pt x="2016252" y="0"/>
                </a:cubicBezTo>
                <a:cubicBezTo>
                  <a:pt x="2248035" y="-30361"/>
                  <a:pt x="2341929" y="-22950"/>
                  <a:pt x="2637029" y="0"/>
                </a:cubicBezTo>
                <a:cubicBezTo>
                  <a:pt x="2932129" y="22950"/>
                  <a:pt x="3081204" y="-18547"/>
                  <a:pt x="3218183" y="0"/>
                </a:cubicBezTo>
                <a:cubicBezTo>
                  <a:pt x="3355162" y="18547"/>
                  <a:pt x="3758695" y="3122"/>
                  <a:pt x="4076705" y="0"/>
                </a:cubicBezTo>
                <a:cubicBezTo>
                  <a:pt x="4137924" y="9703"/>
                  <a:pt x="4183140" y="56421"/>
                  <a:pt x="4191000" y="114295"/>
                </a:cubicBezTo>
                <a:cubicBezTo>
                  <a:pt x="4195531" y="311184"/>
                  <a:pt x="4185669" y="330832"/>
                  <a:pt x="4191000" y="538163"/>
                </a:cubicBezTo>
                <a:cubicBezTo>
                  <a:pt x="4196331" y="745494"/>
                  <a:pt x="4170845" y="813850"/>
                  <a:pt x="4191000" y="962030"/>
                </a:cubicBezTo>
                <a:cubicBezTo>
                  <a:pt x="4196288" y="1022270"/>
                  <a:pt x="4143081" y="1077107"/>
                  <a:pt x="4076705" y="1076325"/>
                </a:cubicBezTo>
                <a:cubicBezTo>
                  <a:pt x="3811053" y="1097536"/>
                  <a:pt x="3664765" y="1090909"/>
                  <a:pt x="3535176" y="1076325"/>
                </a:cubicBezTo>
                <a:cubicBezTo>
                  <a:pt x="3405587" y="1061741"/>
                  <a:pt x="3108560" y="1074284"/>
                  <a:pt x="2993646" y="1076325"/>
                </a:cubicBezTo>
                <a:cubicBezTo>
                  <a:pt x="2878732" y="1078367"/>
                  <a:pt x="2547847" y="1102903"/>
                  <a:pt x="2372869" y="1076325"/>
                </a:cubicBezTo>
                <a:cubicBezTo>
                  <a:pt x="2197891" y="1049747"/>
                  <a:pt x="1963447" y="1082553"/>
                  <a:pt x="1712467" y="1076325"/>
                </a:cubicBezTo>
                <a:cubicBezTo>
                  <a:pt x="1461487" y="1070097"/>
                  <a:pt x="1287472" y="1071430"/>
                  <a:pt x="1131314" y="1076325"/>
                </a:cubicBezTo>
                <a:cubicBezTo>
                  <a:pt x="975156" y="1081220"/>
                  <a:pt x="421999" y="1108001"/>
                  <a:pt x="114295" y="1076325"/>
                </a:cubicBezTo>
                <a:cubicBezTo>
                  <a:pt x="41164" y="1083065"/>
                  <a:pt x="10857" y="1027671"/>
                  <a:pt x="0" y="962030"/>
                </a:cubicBezTo>
                <a:cubicBezTo>
                  <a:pt x="-6421" y="849742"/>
                  <a:pt x="-5838" y="737538"/>
                  <a:pt x="0" y="546640"/>
                </a:cubicBezTo>
                <a:cubicBezTo>
                  <a:pt x="5838" y="355742"/>
                  <a:pt x="-14502" y="285511"/>
                  <a:pt x="0" y="114295"/>
                </a:cubicBezTo>
                <a:close/>
              </a:path>
              <a:path w="4191000" h="1076325" stroke="0" extrusionOk="0">
                <a:moveTo>
                  <a:pt x="0" y="114295"/>
                </a:moveTo>
                <a:cubicBezTo>
                  <a:pt x="1517" y="50189"/>
                  <a:pt x="53441" y="-1676"/>
                  <a:pt x="114295" y="0"/>
                </a:cubicBezTo>
                <a:cubicBezTo>
                  <a:pt x="272929" y="-3876"/>
                  <a:pt x="527046" y="10941"/>
                  <a:pt x="695448" y="0"/>
                </a:cubicBezTo>
                <a:cubicBezTo>
                  <a:pt x="863850" y="-10941"/>
                  <a:pt x="1186616" y="-18189"/>
                  <a:pt x="1316226" y="0"/>
                </a:cubicBezTo>
                <a:cubicBezTo>
                  <a:pt x="1445836" y="18189"/>
                  <a:pt x="1778003" y="3316"/>
                  <a:pt x="1897380" y="0"/>
                </a:cubicBezTo>
                <a:cubicBezTo>
                  <a:pt x="2016757" y="-3316"/>
                  <a:pt x="2453061" y="8984"/>
                  <a:pt x="2597405" y="0"/>
                </a:cubicBezTo>
                <a:cubicBezTo>
                  <a:pt x="2741749" y="-8984"/>
                  <a:pt x="3036984" y="-5483"/>
                  <a:pt x="3337055" y="0"/>
                </a:cubicBezTo>
                <a:cubicBezTo>
                  <a:pt x="3637126" y="5483"/>
                  <a:pt x="3775019" y="-6642"/>
                  <a:pt x="4076705" y="0"/>
                </a:cubicBezTo>
                <a:cubicBezTo>
                  <a:pt x="4138570" y="-3545"/>
                  <a:pt x="4182144" y="53811"/>
                  <a:pt x="4191000" y="114295"/>
                </a:cubicBezTo>
                <a:cubicBezTo>
                  <a:pt x="4175900" y="299344"/>
                  <a:pt x="4174018" y="438055"/>
                  <a:pt x="4191000" y="546640"/>
                </a:cubicBezTo>
                <a:cubicBezTo>
                  <a:pt x="4207982" y="655225"/>
                  <a:pt x="4208657" y="878291"/>
                  <a:pt x="4191000" y="962030"/>
                </a:cubicBezTo>
                <a:cubicBezTo>
                  <a:pt x="4192671" y="1028778"/>
                  <a:pt x="4133849" y="1088528"/>
                  <a:pt x="4076705" y="1076325"/>
                </a:cubicBezTo>
                <a:cubicBezTo>
                  <a:pt x="3774695" y="1050689"/>
                  <a:pt x="3632164" y="1077685"/>
                  <a:pt x="3416303" y="1076325"/>
                </a:cubicBezTo>
                <a:cubicBezTo>
                  <a:pt x="3200442" y="1074965"/>
                  <a:pt x="3041726" y="1094616"/>
                  <a:pt x="2755902" y="1076325"/>
                </a:cubicBezTo>
                <a:cubicBezTo>
                  <a:pt x="2470078" y="1058034"/>
                  <a:pt x="2392580" y="1107513"/>
                  <a:pt x="2095500" y="1076325"/>
                </a:cubicBezTo>
                <a:cubicBezTo>
                  <a:pt x="1798420" y="1045137"/>
                  <a:pt x="1597864" y="1047485"/>
                  <a:pt x="1355850" y="1076325"/>
                </a:cubicBezTo>
                <a:cubicBezTo>
                  <a:pt x="1113836" y="1105166"/>
                  <a:pt x="500502" y="1058801"/>
                  <a:pt x="114295" y="1076325"/>
                </a:cubicBezTo>
                <a:cubicBezTo>
                  <a:pt x="40118" y="1083575"/>
                  <a:pt x="-5699" y="1036080"/>
                  <a:pt x="0" y="962030"/>
                </a:cubicBezTo>
                <a:cubicBezTo>
                  <a:pt x="81" y="853072"/>
                  <a:pt x="7037" y="726589"/>
                  <a:pt x="0" y="538163"/>
                </a:cubicBezTo>
                <a:cubicBezTo>
                  <a:pt x="-7037" y="349737"/>
                  <a:pt x="-9840" y="285052"/>
                  <a:pt x="0" y="114295"/>
                </a:cubicBezTo>
                <a:close/>
              </a:path>
            </a:pathLst>
          </a:custGeom>
          <a:solidFill>
            <a:srgbClr val="FFFFFF"/>
          </a:solidFill>
          <a:ln w="38100">
            <a:solidFill>
              <a:srgbClr val="3B82F6"/>
            </a:solidFill>
            <a:extLst>
              <a:ext uri="{C807C97D-BFC1-408E-A445-0C87EB9F89A2}">
                <ask:lineSketchStyleProps xmlns:ask="http://schemas.microsoft.com/office/drawing/2018/sketchyshapes" sd="4081803505">
                  <a:prstGeom prst="roundRect">
                    <a:avLst>
                      <a:gd name="adj" fmla="val 1061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81000" y="3886200"/>
            <a:ext cx="4191000" cy="1076325"/>
          </a:xfrm>
          <a:custGeom>
            <a:avLst/>
            <a:gdLst>
              <a:gd name="csX0" fmla="*/ 0 w 4191000"/>
              <a:gd name="csY0" fmla="*/ 114295 h 1076325"/>
              <a:gd name="csX1" fmla="*/ 114295 w 4191000"/>
              <a:gd name="csY1" fmla="*/ 0 h 1076325"/>
              <a:gd name="csX2" fmla="*/ 719978 w 4191000"/>
              <a:gd name="csY2" fmla="*/ 0 h 1076325"/>
              <a:gd name="csX3" fmla="*/ 1325660 w 4191000"/>
              <a:gd name="csY3" fmla="*/ 0 h 1076325"/>
              <a:gd name="csX4" fmla="*/ 1970967 w 4191000"/>
              <a:gd name="csY4" fmla="*/ 0 h 1076325"/>
              <a:gd name="csX5" fmla="*/ 2497402 w 4191000"/>
              <a:gd name="csY5" fmla="*/ 0 h 1076325"/>
              <a:gd name="csX6" fmla="*/ 3103084 w 4191000"/>
              <a:gd name="csY6" fmla="*/ 0 h 1076325"/>
              <a:gd name="csX7" fmla="*/ 4076705 w 4191000"/>
              <a:gd name="csY7" fmla="*/ 0 h 1076325"/>
              <a:gd name="csX8" fmla="*/ 4191000 w 4191000"/>
              <a:gd name="csY8" fmla="*/ 114295 h 1076325"/>
              <a:gd name="csX9" fmla="*/ 4191000 w 4191000"/>
              <a:gd name="csY9" fmla="*/ 529685 h 1076325"/>
              <a:gd name="csX10" fmla="*/ 4191000 w 4191000"/>
              <a:gd name="csY10" fmla="*/ 962030 h 1076325"/>
              <a:gd name="csX11" fmla="*/ 4076705 w 4191000"/>
              <a:gd name="csY11" fmla="*/ 1076325 h 1076325"/>
              <a:gd name="csX12" fmla="*/ 3471022 w 4191000"/>
              <a:gd name="csY12" fmla="*/ 1076325 h 1076325"/>
              <a:gd name="csX13" fmla="*/ 2984212 w 4191000"/>
              <a:gd name="csY13" fmla="*/ 1076325 h 1076325"/>
              <a:gd name="csX14" fmla="*/ 2457777 w 4191000"/>
              <a:gd name="csY14" fmla="*/ 1076325 h 1076325"/>
              <a:gd name="csX15" fmla="*/ 1812471 w 4191000"/>
              <a:gd name="csY15" fmla="*/ 1076325 h 1076325"/>
              <a:gd name="csX16" fmla="*/ 1365284 w 4191000"/>
              <a:gd name="csY16" fmla="*/ 1076325 h 1076325"/>
              <a:gd name="csX17" fmla="*/ 799226 w 4191000"/>
              <a:gd name="csY17" fmla="*/ 1076325 h 1076325"/>
              <a:gd name="csX18" fmla="*/ 114295 w 4191000"/>
              <a:gd name="csY18" fmla="*/ 1076325 h 1076325"/>
              <a:gd name="csX19" fmla="*/ 0 w 4191000"/>
              <a:gd name="csY19" fmla="*/ 962030 h 1076325"/>
              <a:gd name="csX20" fmla="*/ 0 w 4191000"/>
              <a:gd name="csY20" fmla="*/ 538163 h 1076325"/>
              <a:gd name="csX21" fmla="*/ 0 w 4191000"/>
              <a:gd name="csY21" fmla="*/ 114295 h 1076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191000" h="1076325" fill="none" extrusionOk="0">
                <a:moveTo>
                  <a:pt x="0" y="114295"/>
                </a:moveTo>
                <a:cubicBezTo>
                  <a:pt x="7869" y="34049"/>
                  <a:pt x="52758" y="10113"/>
                  <a:pt x="114295" y="0"/>
                </a:cubicBezTo>
                <a:cubicBezTo>
                  <a:pt x="289818" y="-11066"/>
                  <a:pt x="486946" y="64936"/>
                  <a:pt x="719978" y="0"/>
                </a:cubicBezTo>
                <a:cubicBezTo>
                  <a:pt x="953010" y="-64936"/>
                  <a:pt x="1078033" y="57013"/>
                  <a:pt x="1325660" y="0"/>
                </a:cubicBezTo>
                <a:cubicBezTo>
                  <a:pt x="1573287" y="-57013"/>
                  <a:pt x="1786816" y="38189"/>
                  <a:pt x="1970967" y="0"/>
                </a:cubicBezTo>
                <a:cubicBezTo>
                  <a:pt x="2155118" y="-38189"/>
                  <a:pt x="2279663" y="56257"/>
                  <a:pt x="2497402" y="0"/>
                </a:cubicBezTo>
                <a:cubicBezTo>
                  <a:pt x="2715142" y="-56257"/>
                  <a:pt x="2885588" y="4218"/>
                  <a:pt x="3103084" y="0"/>
                </a:cubicBezTo>
                <a:cubicBezTo>
                  <a:pt x="3320580" y="-4218"/>
                  <a:pt x="3831815" y="110073"/>
                  <a:pt x="4076705" y="0"/>
                </a:cubicBezTo>
                <a:cubicBezTo>
                  <a:pt x="4138184" y="4027"/>
                  <a:pt x="4204059" y="55395"/>
                  <a:pt x="4191000" y="114295"/>
                </a:cubicBezTo>
                <a:cubicBezTo>
                  <a:pt x="4216054" y="223096"/>
                  <a:pt x="4155993" y="384896"/>
                  <a:pt x="4191000" y="529685"/>
                </a:cubicBezTo>
                <a:cubicBezTo>
                  <a:pt x="4226007" y="674474"/>
                  <a:pt x="4148106" y="809736"/>
                  <a:pt x="4191000" y="962030"/>
                </a:cubicBezTo>
                <a:cubicBezTo>
                  <a:pt x="4202872" y="1011104"/>
                  <a:pt x="4156575" y="1080712"/>
                  <a:pt x="4076705" y="1076325"/>
                </a:cubicBezTo>
                <a:cubicBezTo>
                  <a:pt x="3878860" y="1086334"/>
                  <a:pt x="3641569" y="1069221"/>
                  <a:pt x="3471022" y="1076325"/>
                </a:cubicBezTo>
                <a:cubicBezTo>
                  <a:pt x="3300475" y="1083429"/>
                  <a:pt x="3223132" y="1059763"/>
                  <a:pt x="2984212" y="1076325"/>
                </a:cubicBezTo>
                <a:cubicBezTo>
                  <a:pt x="2745292" y="1092887"/>
                  <a:pt x="2680575" y="1021150"/>
                  <a:pt x="2457777" y="1076325"/>
                </a:cubicBezTo>
                <a:cubicBezTo>
                  <a:pt x="2234979" y="1131500"/>
                  <a:pt x="2018132" y="1076128"/>
                  <a:pt x="1812471" y="1076325"/>
                </a:cubicBezTo>
                <a:cubicBezTo>
                  <a:pt x="1606810" y="1076522"/>
                  <a:pt x="1501960" y="1062460"/>
                  <a:pt x="1365284" y="1076325"/>
                </a:cubicBezTo>
                <a:cubicBezTo>
                  <a:pt x="1228608" y="1090190"/>
                  <a:pt x="1057580" y="1039596"/>
                  <a:pt x="799226" y="1076325"/>
                </a:cubicBezTo>
                <a:cubicBezTo>
                  <a:pt x="540872" y="1113054"/>
                  <a:pt x="374779" y="1048746"/>
                  <a:pt x="114295" y="1076325"/>
                </a:cubicBezTo>
                <a:cubicBezTo>
                  <a:pt x="52867" y="1085910"/>
                  <a:pt x="17049" y="1019164"/>
                  <a:pt x="0" y="962030"/>
                </a:cubicBezTo>
                <a:cubicBezTo>
                  <a:pt x="-40479" y="858341"/>
                  <a:pt x="11323" y="626889"/>
                  <a:pt x="0" y="538163"/>
                </a:cubicBezTo>
                <a:cubicBezTo>
                  <a:pt x="-11323" y="449437"/>
                  <a:pt x="19329" y="236093"/>
                  <a:pt x="0" y="114295"/>
                </a:cubicBezTo>
                <a:close/>
              </a:path>
              <a:path w="4191000" h="1076325" stroke="0" extrusionOk="0">
                <a:moveTo>
                  <a:pt x="0" y="114295"/>
                </a:moveTo>
                <a:cubicBezTo>
                  <a:pt x="-3943" y="60537"/>
                  <a:pt x="52519" y="-14054"/>
                  <a:pt x="114295" y="0"/>
                </a:cubicBezTo>
                <a:cubicBezTo>
                  <a:pt x="297190" y="-11058"/>
                  <a:pt x="435385" y="50005"/>
                  <a:pt x="601105" y="0"/>
                </a:cubicBezTo>
                <a:cubicBezTo>
                  <a:pt x="766825" y="-50005"/>
                  <a:pt x="913244" y="49344"/>
                  <a:pt x="1167164" y="0"/>
                </a:cubicBezTo>
                <a:cubicBezTo>
                  <a:pt x="1421084" y="-49344"/>
                  <a:pt x="1556279" y="52787"/>
                  <a:pt x="1733223" y="0"/>
                </a:cubicBezTo>
                <a:cubicBezTo>
                  <a:pt x="1910167" y="-52787"/>
                  <a:pt x="2003057" y="32978"/>
                  <a:pt x="2259657" y="0"/>
                </a:cubicBezTo>
                <a:cubicBezTo>
                  <a:pt x="2516257" y="-32978"/>
                  <a:pt x="2603452" y="25000"/>
                  <a:pt x="2825716" y="0"/>
                </a:cubicBezTo>
                <a:cubicBezTo>
                  <a:pt x="3047980" y="-25000"/>
                  <a:pt x="3179997" y="36870"/>
                  <a:pt x="3391774" y="0"/>
                </a:cubicBezTo>
                <a:cubicBezTo>
                  <a:pt x="3603551" y="-36870"/>
                  <a:pt x="3879817" y="11459"/>
                  <a:pt x="4076705" y="0"/>
                </a:cubicBezTo>
                <a:cubicBezTo>
                  <a:pt x="4130758" y="12819"/>
                  <a:pt x="4208126" y="45567"/>
                  <a:pt x="4191000" y="114295"/>
                </a:cubicBezTo>
                <a:cubicBezTo>
                  <a:pt x="4196992" y="300963"/>
                  <a:pt x="4184933" y="437890"/>
                  <a:pt x="4191000" y="529685"/>
                </a:cubicBezTo>
                <a:cubicBezTo>
                  <a:pt x="4197067" y="621480"/>
                  <a:pt x="4156985" y="760555"/>
                  <a:pt x="4191000" y="962030"/>
                </a:cubicBezTo>
                <a:cubicBezTo>
                  <a:pt x="4179311" y="1021647"/>
                  <a:pt x="4131361" y="1076529"/>
                  <a:pt x="4076705" y="1076325"/>
                </a:cubicBezTo>
                <a:cubicBezTo>
                  <a:pt x="3920630" y="1121512"/>
                  <a:pt x="3684276" y="1071684"/>
                  <a:pt x="3471022" y="1076325"/>
                </a:cubicBezTo>
                <a:cubicBezTo>
                  <a:pt x="3257768" y="1080966"/>
                  <a:pt x="3139646" y="1045415"/>
                  <a:pt x="2984212" y="1076325"/>
                </a:cubicBezTo>
                <a:cubicBezTo>
                  <a:pt x="2828778" y="1107235"/>
                  <a:pt x="2727675" y="1036103"/>
                  <a:pt x="2497402" y="1076325"/>
                </a:cubicBezTo>
                <a:cubicBezTo>
                  <a:pt x="2267129" y="1116547"/>
                  <a:pt x="2184751" y="1037805"/>
                  <a:pt x="2010591" y="1076325"/>
                </a:cubicBezTo>
                <a:cubicBezTo>
                  <a:pt x="1836431" y="1114845"/>
                  <a:pt x="1698774" y="1055659"/>
                  <a:pt x="1563405" y="1076325"/>
                </a:cubicBezTo>
                <a:cubicBezTo>
                  <a:pt x="1428036" y="1096991"/>
                  <a:pt x="1200033" y="1047668"/>
                  <a:pt x="1076595" y="1076325"/>
                </a:cubicBezTo>
                <a:cubicBezTo>
                  <a:pt x="953157" y="1104982"/>
                  <a:pt x="820795" y="1060109"/>
                  <a:pt x="629408" y="1076325"/>
                </a:cubicBezTo>
                <a:cubicBezTo>
                  <a:pt x="438021" y="1092541"/>
                  <a:pt x="228105" y="1020977"/>
                  <a:pt x="114295" y="1076325"/>
                </a:cubicBezTo>
                <a:cubicBezTo>
                  <a:pt x="43753" y="1071008"/>
                  <a:pt x="-8834" y="1010124"/>
                  <a:pt x="0" y="962030"/>
                </a:cubicBezTo>
                <a:cubicBezTo>
                  <a:pt x="-46733" y="768777"/>
                  <a:pt x="39649" y="688979"/>
                  <a:pt x="0" y="538163"/>
                </a:cubicBezTo>
                <a:cubicBezTo>
                  <a:pt x="-39649" y="387347"/>
                  <a:pt x="38033" y="235942"/>
                  <a:pt x="0" y="114295"/>
                </a:cubicBezTo>
                <a:close/>
              </a:path>
            </a:pathLst>
          </a:custGeom>
          <a:solidFill>
            <a:srgbClr val="FFFFFF"/>
          </a:solidFill>
          <a:ln w="38100">
            <a:solidFill>
              <a:srgbClr val="3B82F6"/>
            </a:solidFill>
            <a:extLst>
              <a:ext uri="{C807C97D-BFC1-408E-A445-0C87EB9F89A2}">
                <ask:lineSketchStyleProps xmlns:ask="http://schemas.microsoft.com/office/drawing/2018/sketchyshapes" sd="2913298138">
                  <a:prstGeom prst="roundRect">
                    <a:avLst>
                      <a:gd name="adj" fmla="val 10619"/>
                    </a:avLst>
                  </a:prstGeom>
                  <ask:type>
                    <ask:lineSketchScribble/>
                  </ask:type>
                </ask:lineSketchStyleProps>
              </a:ext>
            </a:extLs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81000" y="5114925"/>
            <a:ext cx="4191000" cy="1076325"/>
          </a:xfrm>
          <a:custGeom>
            <a:avLst/>
            <a:gdLst>
              <a:gd name="csX0" fmla="*/ 0 w 4191000"/>
              <a:gd name="csY0" fmla="*/ 114295 h 1076325"/>
              <a:gd name="csX1" fmla="*/ 114295 w 4191000"/>
              <a:gd name="csY1" fmla="*/ 0 h 1076325"/>
              <a:gd name="csX2" fmla="*/ 759602 w 4191000"/>
              <a:gd name="csY2" fmla="*/ 0 h 1076325"/>
              <a:gd name="csX3" fmla="*/ 1206788 w 4191000"/>
              <a:gd name="csY3" fmla="*/ 0 h 1076325"/>
              <a:gd name="csX4" fmla="*/ 1733223 w 4191000"/>
              <a:gd name="csY4" fmla="*/ 0 h 1076325"/>
              <a:gd name="csX5" fmla="*/ 2220033 w 4191000"/>
              <a:gd name="csY5" fmla="*/ 0 h 1076325"/>
              <a:gd name="csX6" fmla="*/ 2786091 w 4191000"/>
              <a:gd name="csY6" fmla="*/ 0 h 1076325"/>
              <a:gd name="csX7" fmla="*/ 3312526 w 4191000"/>
              <a:gd name="csY7" fmla="*/ 0 h 1076325"/>
              <a:gd name="csX8" fmla="*/ 4076705 w 4191000"/>
              <a:gd name="csY8" fmla="*/ 0 h 1076325"/>
              <a:gd name="csX9" fmla="*/ 4191000 w 4191000"/>
              <a:gd name="csY9" fmla="*/ 114295 h 1076325"/>
              <a:gd name="csX10" fmla="*/ 4191000 w 4191000"/>
              <a:gd name="csY10" fmla="*/ 538163 h 1076325"/>
              <a:gd name="csX11" fmla="*/ 4191000 w 4191000"/>
              <a:gd name="csY11" fmla="*/ 962030 h 1076325"/>
              <a:gd name="csX12" fmla="*/ 4076705 w 4191000"/>
              <a:gd name="csY12" fmla="*/ 1076325 h 1076325"/>
              <a:gd name="csX13" fmla="*/ 3589895 w 4191000"/>
              <a:gd name="csY13" fmla="*/ 1076325 h 1076325"/>
              <a:gd name="csX14" fmla="*/ 2944588 w 4191000"/>
              <a:gd name="csY14" fmla="*/ 1076325 h 1076325"/>
              <a:gd name="csX15" fmla="*/ 2299281 w 4191000"/>
              <a:gd name="csY15" fmla="*/ 1076325 h 1076325"/>
              <a:gd name="csX16" fmla="*/ 1852095 w 4191000"/>
              <a:gd name="csY16" fmla="*/ 1076325 h 1076325"/>
              <a:gd name="csX17" fmla="*/ 1286036 w 4191000"/>
              <a:gd name="csY17" fmla="*/ 1076325 h 1076325"/>
              <a:gd name="csX18" fmla="*/ 838850 w 4191000"/>
              <a:gd name="csY18" fmla="*/ 1076325 h 1076325"/>
              <a:gd name="csX19" fmla="*/ 114295 w 4191000"/>
              <a:gd name="csY19" fmla="*/ 1076325 h 1076325"/>
              <a:gd name="csX20" fmla="*/ 0 w 4191000"/>
              <a:gd name="csY20" fmla="*/ 962030 h 1076325"/>
              <a:gd name="csX21" fmla="*/ 0 w 4191000"/>
              <a:gd name="csY21" fmla="*/ 538163 h 1076325"/>
              <a:gd name="csX22" fmla="*/ 0 w 4191000"/>
              <a:gd name="csY22" fmla="*/ 114295 h 1076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191000" h="1076325" fill="none" extrusionOk="0">
                <a:moveTo>
                  <a:pt x="0" y="114295"/>
                </a:moveTo>
                <a:cubicBezTo>
                  <a:pt x="-5354" y="35533"/>
                  <a:pt x="48872" y="-1227"/>
                  <a:pt x="114295" y="0"/>
                </a:cubicBezTo>
                <a:cubicBezTo>
                  <a:pt x="280828" y="-20693"/>
                  <a:pt x="601706" y="42453"/>
                  <a:pt x="759602" y="0"/>
                </a:cubicBezTo>
                <a:cubicBezTo>
                  <a:pt x="917498" y="-42453"/>
                  <a:pt x="1066764" y="3208"/>
                  <a:pt x="1206788" y="0"/>
                </a:cubicBezTo>
                <a:cubicBezTo>
                  <a:pt x="1346812" y="-3208"/>
                  <a:pt x="1602523" y="1442"/>
                  <a:pt x="1733223" y="0"/>
                </a:cubicBezTo>
                <a:cubicBezTo>
                  <a:pt x="1863924" y="-1442"/>
                  <a:pt x="1982125" y="1596"/>
                  <a:pt x="2220033" y="0"/>
                </a:cubicBezTo>
                <a:cubicBezTo>
                  <a:pt x="2457941" y="-1596"/>
                  <a:pt x="2535717" y="21373"/>
                  <a:pt x="2786091" y="0"/>
                </a:cubicBezTo>
                <a:cubicBezTo>
                  <a:pt x="3036465" y="-21373"/>
                  <a:pt x="3104340" y="63097"/>
                  <a:pt x="3312526" y="0"/>
                </a:cubicBezTo>
                <a:cubicBezTo>
                  <a:pt x="3520713" y="-63097"/>
                  <a:pt x="3748071" y="82852"/>
                  <a:pt x="4076705" y="0"/>
                </a:cubicBezTo>
                <a:cubicBezTo>
                  <a:pt x="4127296" y="6738"/>
                  <a:pt x="4189049" y="34097"/>
                  <a:pt x="4191000" y="114295"/>
                </a:cubicBezTo>
                <a:cubicBezTo>
                  <a:pt x="4191680" y="223600"/>
                  <a:pt x="4147804" y="376167"/>
                  <a:pt x="4191000" y="538163"/>
                </a:cubicBezTo>
                <a:cubicBezTo>
                  <a:pt x="4234196" y="700159"/>
                  <a:pt x="4187858" y="831361"/>
                  <a:pt x="4191000" y="962030"/>
                </a:cubicBezTo>
                <a:cubicBezTo>
                  <a:pt x="4200127" y="1028289"/>
                  <a:pt x="4139039" y="1086063"/>
                  <a:pt x="4076705" y="1076325"/>
                </a:cubicBezTo>
                <a:cubicBezTo>
                  <a:pt x="3939611" y="1121605"/>
                  <a:pt x="3704070" y="1057234"/>
                  <a:pt x="3589895" y="1076325"/>
                </a:cubicBezTo>
                <a:cubicBezTo>
                  <a:pt x="3475720" y="1095416"/>
                  <a:pt x="3165513" y="1071810"/>
                  <a:pt x="2944588" y="1076325"/>
                </a:cubicBezTo>
                <a:cubicBezTo>
                  <a:pt x="2723663" y="1080840"/>
                  <a:pt x="2489495" y="1037758"/>
                  <a:pt x="2299281" y="1076325"/>
                </a:cubicBezTo>
                <a:cubicBezTo>
                  <a:pt x="2109067" y="1114892"/>
                  <a:pt x="1952400" y="1059550"/>
                  <a:pt x="1852095" y="1076325"/>
                </a:cubicBezTo>
                <a:cubicBezTo>
                  <a:pt x="1751790" y="1093100"/>
                  <a:pt x="1506850" y="1052287"/>
                  <a:pt x="1286036" y="1076325"/>
                </a:cubicBezTo>
                <a:cubicBezTo>
                  <a:pt x="1065222" y="1100363"/>
                  <a:pt x="1003112" y="1058997"/>
                  <a:pt x="838850" y="1076325"/>
                </a:cubicBezTo>
                <a:cubicBezTo>
                  <a:pt x="674588" y="1093653"/>
                  <a:pt x="278480" y="1053354"/>
                  <a:pt x="114295" y="1076325"/>
                </a:cubicBezTo>
                <a:cubicBezTo>
                  <a:pt x="33432" y="1074147"/>
                  <a:pt x="-3436" y="1015925"/>
                  <a:pt x="0" y="962030"/>
                </a:cubicBezTo>
                <a:cubicBezTo>
                  <a:pt x="-13134" y="778207"/>
                  <a:pt x="46595" y="658961"/>
                  <a:pt x="0" y="538163"/>
                </a:cubicBezTo>
                <a:cubicBezTo>
                  <a:pt x="-46595" y="417365"/>
                  <a:pt x="33133" y="314448"/>
                  <a:pt x="0" y="114295"/>
                </a:cubicBezTo>
                <a:close/>
              </a:path>
              <a:path w="4191000" h="1076325" stroke="0" extrusionOk="0">
                <a:moveTo>
                  <a:pt x="0" y="114295"/>
                </a:moveTo>
                <a:cubicBezTo>
                  <a:pt x="10363" y="38621"/>
                  <a:pt x="52718" y="7685"/>
                  <a:pt x="114295" y="0"/>
                </a:cubicBezTo>
                <a:cubicBezTo>
                  <a:pt x="294142" y="-17469"/>
                  <a:pt x="455413" y="37927"/>
                  <a:pt x="719978" y="0"/>
                </a:cubicBezTo>
                <a:cubicBezTo>
                  <a:pt x="984543" y="-37927"/>
                  <a:pt x="1017430" y="3035"/>
                  <a:pt x="1246412" y="0"/>
                </a:cubicBezTo>
                <a:cubicBezTo>
                  <a:pt x="1475394" y="-3035"/>
                  <a:pt x="1566125" y="51362"/>
                  <a:pt x="1772847" y="0"/>
                </a:cubicBezTo>
                <a:cubicBezTo>
                  <a:pt x="1979570" y="-51362"/>
                  <a:pt x="2156757" y="582"/>
                  <a:pt x="2259657" y="0"/>
                </a:cubicBezTo>
                <a:cubicBezTo>
                  <a:pt x="2362557" y="-582"/>
                  <a:pt x="2613497" y="24052"/>
                  <a:pt x="2746467" y="0"/>
                </a:cubicBezTo>
                <a:cubicBezTo>
                  <a:pt x="2879437" y="-24052"/>
                  <a:pt x="3190320" y="22104"/>
                  <a:pt x="3391774" y="0"/>
                </a:cubicBezTo>
                <a:cubicBezTo>
                  <a:pt x="3593228" y="-22104"/>
                  <a:pt x="3835342" y="63071"/>
                  <a:pt x="4076705" y="0"/>
                </a:cubicBezTo>
                <a:cubicBezTo>
                  <a:pt x="4134332" y="-6700"/>
                  <a:pt x="4185271" y="59623"/>
                  <a:pt x="4191000" y="114295"/>
                </a:cubicBezTo>
                <a:cubicBezTo>
                  <a:pt x="4237278" y="198936"/>
                  <a:pt x="4174558" y="422350"/>
                  <a:pt x="4191000" y="512730"/>
                </a:cubicBezTo>
                <a:cubicBezTo>
                  <a:pt x="4207442" y="603110"/>
                  <a:pt x="4174487" y="786306"/>
                  <a:pt x="4191000" y="962030"/>
                </a:cubicBezTo>
                <a:cubicBezTo>
                  <a:pt x="4189825" y="1029024"/>
                  <a:pt x="4146571" y="1058928"/>
                  <a:pt x="4076705" y="1076325"/>
                </a:cubicBezTo>
                <a:cubicBezTo>
                  <a:pt x="3951859" y="1130456"/>
                  <a:pt x="3777023" y="1024186"/>
                  <a:pt x="3589895" y="1076325"/>
                </a:cubicBezTo>
                <a:cubicBezTo>
                  <a:pt x="3402767" y="1128464"/>
                  <a:pt x="3259184" y="1018924"/>
                  <a:pt x="2984212" y="1076325"/>
                </a:cubicBezTo>
                <a:cubicBezTo>
                  <a:pt x="2709240" y="1133726"/>
                  <a:pt x="2641232" y="1031484"/>
                  <a:pt x="2497402" y="1076325"/>
                </a:cubicBezTo>
                <a:cubicBezTo>
                  <a:pt x="2353572" y="1121166"/>
                  <a:pt x="2164522" y="1026691"/>
                  <a:pt x="2050215" y="1076325"/>
                </a:cubicBezTo>
                <a:cubicBezTo>
                  <a:pt x="1935908" y="1125959"/>
                  <a:pt x="1752074" y="1045532"/>
                  <a:pt x="1563405" y="1076325"/>
                </a:cubicBezTo>
                <a:cubicBezTo>
                  <a:pt x="1374736" y="1107118"/>
                  <a:pt x="1189808" y="1027972"/>
                  <a:pt x="1036970" y="1076325"/>
                </a:cubicBezTo>
                <a:cubicBezTo>
                  <a:pt x="884133" y="1124678"/>
                  <a:pt x="514874" y="1037467"/>
                  <a:pt x="114295" y="1076325"/>
                </a:cubicBezTo>
                <a:cubicBezTo>
                  <a:pt x="48459" y="1074103"/>
                  <a:pt x="10000" y="1030653"/>
                  <a:pt x="0" y="962030"/>
                </a:cubicBezTo>
                <a:cubicBezTo>
                  <a:pt x="-51587" y="767731"/>
                  <a:pt x="1669" y="695515"/>
                  <a:pt x="0" y="529685"/>
                </a:cubicBezTo>
                <a:cubicBezTo>
                  <a:pt x="-1669" y="363856"/>
                  <a:pt x="21965" y="310113"/>
                  <a:pt x="0" y="114295"/>
                </a:cubicBezTo>
                <a:close/>
              </a:path>
            </a:pathLst>
          </a:custGeom>
          <a:solidFill>
            <a:srgbClr val="FFFFFF"/>
          </a:solidFill>
          <a:ln w="38100">
            <a:solidFill>
              <a:srgbClr val="3B82F6"/>
            </a:solidFill>
            <a:extLst>
              <a:ext uri="{C807C97D-BFC1-408E-A445-0C87EB9F89A2}">
                <ask:lineSketchStyleProps xmlns:ask="http://schemas.microsoft.com/office/drawing/2018/sketchyshapes" sd="2168919366">
                  <a:prstGeom prst="roundRect">
                    <a:avLst>
                      <a:gd name="adj" fmla="val 10619"/>
                    </a:avLst>
                  </a:prstGeom>
                  <ask:type>
                    <ask:lineSketchScribble/>
                  </ask:type>
                </ask:lineSketchStyleProps>
              </a:ext>
            </a:extLs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048500" y="1428750"/>
            <a:ext cx="4762500" cy="2286000"/>
          </a:xfrm>
          <a:custGeom>
            <a:avLst/>
            <a:gdLst>
              <a:gd name="csX0" fmla="*/ 0 w 4762500"/>
              <a:gd name="csY0" fmla="*/ 114300 h 2286000"/>
              <a:gd name="csX1" fmla="*/ 114300 w 4762500"/>
              <a:gd name="csY1" fmla="*/ 0 h 2286000"/>
              <a:gd name="csX2" fmla="*/ 635699 w 4762500"/>
              <a:gd name="csY2" fmla="*/ 0 h 2286000"/>
              <a:gd name="csX3" fmla="*/ 1111758 w 4762500"/>
              <a:gd name="csY3" fmla="*/ 0 h 2286000"/>
              <a:gd name="csX4" fmla="*/ 1542479 w 4762500"/>
              <a:gd name="csY4" fmla="*/ 0 h 2286000"/>
              <a:gd name="csX5" fmla="*/ 2154555 w 4762500"/>
              <a:gd name="csY5" fmla="*/ 0 h 2286000"/>
              <a:gd name="csX6" fmla="*/ 2721293 w 4762500"/>
              <a:gd name="csY6" fmla="*/ 0 h 2286000"/>
              <a:gd name="csX7" fmla="*/ 3333369 w 4762500"/>
              <a:gd name="csY7" fmla="*/ 0 h 2286000"/>
              <a:gd name="csX8" fmla="*/ 3854768 w 4762500"/>
              <a:gd name="csY8" fmla="*/ 0 h 2286000"/>
              <a:gd name="csX9" fmla="*/ 4648200 w 4762500"/>
              <a:gd name="csY9" fmla="*/ 0 h 2286000"/>
              <a:gd name="csX10" fmla="*/ 4762500 w 4762500"/>
              <a:gd name="csY10" fmla="*/ 114300 h 2286000"/>
              <a:gd name="csX11" fmla="*/ 4762500 w 4762500"/>
              <a:gd name="csY11" fmla="*/ 587502 h 2286000"/>
              <a:gd name="csX12" fmla="*/ 4762500 w 4762500"/>
              <a:gd name="csY12" fmla="*/ 1060704 h 2286000"/>
              <a:gd name="csX13" fmla="*/ 4762500 w 4762500"/>
              <a:gd name="csY13" fmla="*/ 1616202 h 2286000"/>
              <a:gd name="csX14" fmla="*/ 4762500 w 4762500"/>
              <a:gd name="csY14" fmla="*/ 2171700 h 2286000"/>
              <a:gd name="csX15" fmla="*/ 4648200 w 4762500"/>
              <a:gd name="csY15" fmla="*/ 2286000 h 2286000"/>
              <a:gd name="csX16" fmla="*/ 4036124 w 4762500"/>
              <a:gd name="csY16" fmla="*/ 2286000 h 2286000"/>
              <a:gd name="csX17" fmla="*/ 3514725 w 4762500"/>
              <a:gd name="csY17" fmla="*/ 2286000 h 2286000"/>
              <a:gd name="csX18" fmla="*/ 3084005 w 4762500"/>
              <a:gd name="csY18" fmla="*/ 2286000 h 2286000"/>
              <a:gd name="csX19" fmla="*/ 2653284 w 4762500"/>
              <a:gd name="csY19" fmla="*/ 2286000 h 2286000"/>
              <a:gd name="csX20" fmla="*/ 1995869 w 4762500"/>
              <a:gd name="csY20" fmla="*/ 2286000 h 2286000"/>
              <a:gd name="csX21" fmla="*/ 1519809 w 4762500"/>
              <a:gd name="csY21" fmla="*/ 2286000 h 2286000"/>
              <a:gd name="csX22" fmla="*/ 1043750 w 4762500"/>
              <a:gd name="csY22" fmla="*/ 2286000 h 2286000"/>
              <a:gd name="csX23" fmla="*/ 114300 w 4762500"/>
              <a:gd name="csY23" fmla="*/ 2286000 h 2286000"/>
              <a:gd name="csX24" fmla="*/ 0 w 4762500"/>
              <a:gd name="csY24" fmla="*/ 2171700 h 2286000"/>
              <a:gd name="csX25" fmla="*/ 0 w 4762500"/>
              <a:gd name="csY25" fmla="*/ 1719072 h 2286000"/>
              <a:gd name="csX26" fmla="*/ 0 w 4762500"/>
              <a:gd name="csY26" fmla="*/ 1225296 h 2286000"/>
              <a:gd name="csX27" fmla="*/ 0 w 4762500"/>
              <a:gd name="csY27" fmla="*/ 752094 h 2286000"/>
              <a:gd name="csX28" fmla="*/ 0 w 4762500"/>
              <a:gd name="csY28" fmla="*/ 11430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4762500" h="2286000" fill="none" extrusionOk="0">
                <a:moveTo>
                  <a:pt x="0" y="114300"/>
                </a:moveTo>
                <a:cubicBezTo>
                  <a:pt x="2666" y="39337"/>
                  <a:pt x="38127" y="-12361"/>
                  <a:pt x="114300" y="0"/>
                </a:cubicBezTo>
                <a:cubicBezTo>
                  <a:pt x="326228" y="-44966"/>
                  <a:pt x="501786" y="37061"/>
                  <a:pt x="635699" y="0"/>
                </a:cubicBezTo>
                <a:cubicBezTo>
                  <a:pt x="769612" y="-37061"/>
                  <a:pt x="1006541" y="3290"/>
                  <a:pt x="1111758" y="0"/>
                </a:cubicBezTo>
                <a:cubicBezTo>
                  <a:pt x="1216975" y="-3290"/>
                  <a:pt x="1369847" y="34331"/>
                  <a:pt x="1542479" y="0"/>
                </a:cubicBezTo>
                <a:cubicBezTo>
                  <a:pt x="1715111" y="-34331"/>
                  <a:pt x="1868281" y="37305"/>
                  <a:pt x="2154555" y="0"/>
                </a:cubicBezTo>
                <a:cubicBezTo>
                  <a:pt x="2440829" y="-37305"/>
                  <a:pt x="2516234" y="6593"/>
                  <a:pt x="2721293" y="0"/>
                </a:cubicBezTo>
                <a:cubicBezTo>
                  <a:pt x="2926352" y="-6593"/>
                  <a:pt x="3135752" y="9826"/>
                  <a:pt x="3333369" y="0"/>
                </a:cubicBezTo>
                <a:cubicBezTo>
                  <a:pt x="3530986" y="-9826"/>
                  <a:pt x="3624716" y="17415"/>
                  <a:pt x="3854768" y="0"/>
                </a:cubicBezTo>
                <a:cubicBezTo>
                  <a:pt x="4084820" y="-17415"/>
                  <a:pt x="4331037" y="31131"/>
                  <a:pt x="4648200" y="0"/>
                </a:cubicBezTo>
                <a:cubicBezTo>
                  <a:pt x="4713437" y="-8826"/>
                  <a:pt x="4766272" y="46765"/>
                  <a:pt x="4762500" y="114300"/>
                </a:cubicBezTo>
                <a:cubicBezTo>
                  <a:pt x="4789375" y="329489"/>
                  <a:pt x="4720813" y="490481"/>
                  <a:pt x="4762500" y="587502"/>
                </a:cubicBezTo>
                <a:cubicBezTo>
                  <a:pt x="4804187" y="684523"/>
                  <a:pt x="4723311" y="830917"/>
                  <a:pt x="4762500" y="1060704"/>
                </a:cubicBezTo>
                <a:cubicBezTo>
                  <a:pt x="4801689" y="1290491"/>
                  <a:pt x="4723169" y="1455053"/>
                  <a:pt x="4762500" y="1616202"/>
                </a:cubicBezTo>
                <a:cubicBezTo>
                  <a:pt x="4801831" y="1777351"/>
                  <a:pt x="4727629" y="1991250"/>
                  <a:pt x="4762500" y="2171700"/>
                </a:cubicBezTo>
                <a:cubicBezTo>
                  <a:pt x="4766006" y="2234701"/>
                  <a:pt x="4724377" y="2295351"/>
                  <a:pt x="4648200" y="2286000"/>
                </a:cubicBezTo>
                <a:cubicBezTo>
                  <a:pt x="4473245" y="2350724"/>
                  <a:pt x="4275017" y="2227882"/>
                  <a:pt x="4036124" y="2286000"/>
                </a:cubicBezTo>
                <a:cubicBezTo>
                  <a:pt x="3797231" y="2344118"/>
                  <a:pt x="3766304" y="2229666"/>
                  <a:pt x="3514725" y="2286000"/>
                </a:cubicBezTo>
                <a:cubicBezTo>
                  <a:pt x="3263146" y="2342334"/>
                  <a:pt x="3246684" y="2267549"/>
                  <a:pt x="3084005" y="2286000"/>
                </a:cubicBezTo>
                <a:cubicBezTo>
                  <a:pt x="2921326" y="2304451"/>
                  <a:pt x="2806444" y="2269488"/>
                  <a:pt x="2653284" y="2286000"/>
                </a:cubicBezTo>
                <a:cubicBezTo>
                  <a:pt x="2500124" y="2302512"/>
                  <a:pt x="2201220" y="2244823"/>
                  <a:pt x="1995869" y="2286000"/>
                </a:cubicBezTo>
                <a:cubicBezTo>
                  <a:pt x="1790518" y="2327177"/>
                  <a:pt x="1682570" y="2251813"/>
                  <a:pt x="1519809" y="2286000"/>
                </a:cubicBezTo>
                <a:cubicBezTo>
                  <a:pt x="1357048" y="2320187"/>
                  <a:pt x="1218780" y="2254138"/>
                  <a:pt x="1043750" y="2286000"/>
                </a:cubicBezTo>
                <a:cubicBezTo>
                  <a:pt x="868720" y="2317862"/>
                  <a:pt x="301658" y="2212164"/>
                  <a:pt x="114300" y="2286000"/>
                </a:cubicBezTo>
                <a:cubicBezTo>
                  <a:pt x="53534" y="2284779"/>
                  <a:pt x="-1667" y="2247090"/>
                  <a:pt x="0" y="2171700"/>
                </a:cubicBezTo>
                <a:cubicBezTo>
                  <a:pt x="-11132" y="2067112"/>
                  <a:pt x="6025" y="1927738"/>
                  <a:pt x="0" y="1719072"/>
                </a:cubicBezTo>
                <a:cubicBezTo>
                  <a:pt x="-6025" y="1510406"/>
                  <a:pt x="4634" y="1328188"/>
                  <a:pt x="0" y="1225296"/>
                </a:cubicBezTo>
                <a:cubicBezTo>
                  <a:pt x="-4634" y="1122404"/>
                  <a:pt x="38747" y="985328"/>
                  <a:pt x="0" y="752094"/>
                </a:cubicBezTo>
                <a:cubicBezTo>
                  <a:pt x="-38747" y="518860"/>
                  <a:pt x="45938" y="346618"/>
                  <a:pt x="0" y="114300"/>
                </a:cubicBezTo>
                <a:close/>
              </a:path>
              <a:path w="4762500" h="2286000" stroke="0" extrusionOk="0">
                <a:moveTo>
                  <a:pt x="0" y="114300"/>
                </a:moveTo>
                <a:cubicBezTo>
                  <a:pt x="-5382" y="68197"/>
                  <a:pt x="45434" y="-2336"/>
                  <a:pt x="114300" y="0"/>
                </a:cubicBezTo>
                <a:cubicBezTo>
                  <a:pt x="265260" y="-44893"/>
                  <a:pt x="403512" y="29212"/>
                  <a:pt x="681038" y="0"/>
                </a:cubicBezTo>
                <a:cubicBezTo>
                  <a:pt x="958564" y="-29212"/>
                  <a:pt x="1076559" y="238"/>
                  <a:pt x="1247775" y="0"/>
                </a:cubicBezTo>
                <a:cubicBezTo>
                  <a:pt x="1418991" y="-238"/>
                  <a:pt x="1613745" y="45906"/>
                  <a:pt x="1769174" y="0"/>
                </a:cubicBezTo>
                <a:cubicBezTo>
                  <a:pt x="1924603" y="-45906"/>
                  <a:pt x="2108310" y="35484"/>
                  <a:pt x="2245233" y="0"/>
                </a:cubicBezTo>
                <a:cubicBezTo>
                  <a:pt x="2382156" y="-35484"/>
                  <a:pt x="2512043" y="47751"/>
                  <a:pt x="2766632" y="0"/>
                </a:cubicBezTo>
                <a:cubicBezTo>
                  <a:pt x="3021221" y="-47751"/>
                  <a:pt x="3047958" y="46277"/>
                  <a:pt x="3197352" y="0"/>
                </a:cubicBezTo>
                <a:cubicBezTo>
                  <a:pt x="3346746" y="-46277"/>
                  <a:pt x="3649438" y="4288"/>
                  <a:pt x="3809428" y="0"/>
                </a:cubicBezTo>
                <a:cubicBezTo>
                  <a:pt x="3969418" y="-4288"/>
                  <a:pt x="4336054" y="55093"/>
                  <a:pt x="4648200" y="0"/>
                </a:cubicBezTo>
                <a:cubicBezTo>
                  <a:pt x="4694415" y="-5787"/>
                  <a:pt x="4765331" y="59891"/>
                  <a:pt x="4762500" y="114300"/>
                </a:cubicBezTo>
                <a:cubicBezTo>
                  <a:pt x="4795042" y="331092"/>
                  <a:pt x="4744116" y="406314"/>
                  <a:pt x="4762500" y="628650"/>
                </a:cubicBezTo>
                <a:cubicBezTo>
                  <a:pt x="4780884" y="850986"/>
                  <a:pt x="4721491" y="1009507"/>
                  <a:pt x="4762500" y="1143000"/>
                </a:cubicBezTo>
                <a:cubicBezTo>
                  <a:pt x="4803509" y="1276493"/>
                  <a:pt x="4709442" y="1460476"/>
                  <a:pt x="4762500" y="1657350"/>
                </a:cubicBezTo>
                <a:cubicBezTo>
                  <a:pt x="4815558" y="1854224"/>
                  <a:pt x="4729477" y="1935608"/>
                  <a:pt x="4762500" y="2171700"/>
                </a:cubicBezTo>
                <a:cubicBezTo>
                  <a:pt x="4771852" y="2221941"/>
                  <a:pt x="4725316" y="2291698"/>
                  <a:pt x="4648200" y="2286000"/>
                </a:cubicBezTo>
                <a:cubicBezTo>
                  <a:pt x="4492872" y="2290889"/>
                  <a:pt x="4397761" y="2247186"/>
                  <a:pt x="4217480" y="2286000"/>
                </a:cubicBezTo>
                <a:cubicBezTo>
                  <a:pt x="4037199" y="2324814"/>
                  <a:pt x="3875794" y="2223625"/>
                  <a:pt x="3696081" y="2286000"/>
                </a:cubicBezTo>
                <a:cubicBezTo>
                  <a:pt x="3516368" y="2348375"/>
                  <a:pt x="3345473" y="2246281"/>
                  <a:pt x="3129344" y="2286000"/>
                </a:cubicBezTo>
                <a:cubicBezTo>
                  <a:pt x="2913215" y="2325719"/>
                  <a:pt x="2790212" y="2266637"/>
                  <a:pt x="2517267" y="2286000"/>
                </a:cubicBezTo>
                <a:cubicBezTo>
                  <a:pt x="2244322" y="2305363"/>
                  <a:pt x="2102439" y="2242167"/>
                  <a:pt x="1950530" y="2286000"/>
                </a:cubicBezTo>
                <a:cubicBezTo>
                  <a:pt x="1798621" y="2329833"/>
                  <a:pt x="1577311" y="2245374"/>
                  <a:pt x="1429131" y="2286000"/>
                </a:cubicBezTo>
                <a:cubicBezTo>
                  <a:pt x="1280951" y="2326626"/>
                  <a:pt x="1061016" y="2226924"/>
                  <a:pt x="817055" y="2286000"/>
                </a:cubicBezTo>
                <a:cubicBezTo>
                  <a:pt x="573094" y="2345076"/>
                  <a:pt x="448585" y="2227097"/>
                  <a:pt x="114300" y="2286000"/>
                </a:cubicBezTo>
                <a:cubicBezTo>
                  <a:pt x="35621" y="2281959"/>
                  <a:pt x="-16318" y="2242261"/>
                  <a:pt x="0" y="2171700"/>
                </a:cubicBezTo>
                <a:cubicBezTo>
                  <a:pt x="-6480" y="2007969"/>
                  <a:pt x="27383" y="1757024"/>
                  <a:pt x="0" y="1636776"/>
                </a:cubicBezTo>
                <a:cubicBezTo>
                  <a:pt x="-27383" y="1516528"/>
                  <a:pt x="18445" y="1280187"/>
                  <a:pt x="0" y="1163574"/>
                </a:cubicBezTo>
                <a:cubicBezTo>
                  <a:pt x="-18445" y="1046961"/>
                  <a:pt x="3510" y="920333"/>
                  <a:pt x="0" y="690372"/>
                </a:cubicBezTo>
                <a:cubicBezTo>
                  <a:pt x="-3510" y="460411"/>
                  <a:pt x="16195" y="324474"/>
                  <a:pt x="0" y="114300"/>
                </a:cubicBezTo>
                <a:close/>
              </a:path>
            </a:pathLst>
          </a:custGeom>
          <a:solidFill>
            <a:srgbClr val="FFFFFF"/>
          </a:solidFill>
          <a:ln w="57150">
            <a:solidFill>
              <a:srgbClr val="EA580C"/>
            </a:solidFill>
            <a:extLst>
              <a:ext uri="{C807C97D-BFC1-408E-A445-0C87EB9F89A2}">
                <ask:lineSketchStyleProps xmlns:ask="http://schemas.microsoft.com/office/drawing/2018/sketchyshapes" sd="1180593098">
                  <a:prstGeom prst="roundRect">
                    <a:avLst>
                      <a:gd name="adj" fmla="val 5000"/>
                    </a:avLst>
                  </a:prstGeom>
                  <ask:type>
                    <ask:lineSketchScribble/>
                  </ask:type>
                </ask:lineSketchStyleProps>
              </a:ext>
            </a:extLs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048500" y="3905250"/>
            <a:ext cx="4762500" cy="2286000"/>
          </a:xfrm>
          <a:custGeom>
            <a:avLst/>
            <a:gdLst>
              <a:gd name="csX0" fmla="*/ 0 w 4762500"/>
              <a:gd name="csY0" fmla="*/ 114300 h 2286000"/>
              <a:gd name="csX1" fmla="*/ 114300 w 4762500"/>
              <a:gd name="csY1" fmla="*/ 0 h 2286000"/>
              <a:gd name="csX2" fmla="*/ 771716 w 4762500"/>
              <a:gd name="csY2" fmla="*/ 0 h 2286000"/>
              <a:gd name="csX3" fmla="*/ 1429131 w 4762500"/>
              <a:gd name="csY3" fmla="*/ 0 h 2286000"/>
              <a:gd name="csX4" fmla="*/ 1950529 w 4762500"/>
              <a:gd name="csY4" fmla="*/ 0 h 2286000"/>
              <a:gd name="csX5" fmla="*/ 2517267 w 4762500"/>
              <a:gd name="csY5" fmla="*/ 0 h 2286000"/>
              <a:gd name="csX6" fmla="*/ 3174683 w 4762500"/>
              <a:gd name="csY6" fmla="*/ 0 h 2286000"/>
              <a:gd name="csX7" fmla="*/ 3741420 w 4762500"/>
              <a:gd name="csY7" fmla="*/ 0 h 2286000"/>
              <a:gd name="csX8" fmla="*/ 4648200 w 4762500"/>
              <a:gd name="csY8" fmla="*/ 0 h 2286000"/>
              <a:gd name="csX9" fmla="*/ 4762500 w 4762500"/>
              <a:gd name="csY9" fmla="*/ 114300 h 2286000"/>
              <a:gd name="csX10" fmla="*/ 4762500 w 4762500"/>
              <a:gd name="csY10" fmla="*/ 628650 h 2286000"/>
              <a:gd name="csX11" fmla="*/ 4762500 w 4762500"/>
              <a:gd name="csY11" fmla="*/ 1163574 h 2286000"/>
              <a:gd name="csX12" fmla="*/ 4762500 w 4762500"/>
              <a:gd name="csY12" fmla="*/ 1636776 h 2286000"/>
              <a:gd name="csX13" fmla="*/ 4762500 w 4762500"/>
              <a:gd name="csY13" fmla="*/ 2171700 h 2286000"/>
              <a:gd name="csX14" fmla="*/ 4648200 w 4762500"/>
              <a:gd name="csY14" fmla="*/ 2286000 h 2286000"/>
              <a:gd name="csX15" fmla="*/ 4172141 w 4762500"/>
              <a:gd name="csY15" fmla="*/ 2286000 h 2286000"/>
              <a:gd name="csX16" fmla="*/ 3696081 w 4762500"/>
              <a:gd name="csY16" fmla="*/ 2286000 h 2286000"/>
              <a:gd name="csX17" fmla="*/ 3265361 w 4762500"/>
              <a:gd name="csY17" fmla="*/ 2286000 h 2286000"/>
              <a:gd name="csX18" fmla="*/ 2607945 w 4762500"/>
              <a:gd name="csY18" fmla="*/ 2286000 h 2286000"/>
              <a:gd name="csX19" fmla="*/ 1995869 w 4762500"/>
              <a:gd name="csY19" fmla="*/ 2286000 h 2286000"/>
              <a:gd name="csX20" fmla="*/ 1474470 w 4762500"/>
              <a:gd name="csY20" fmla="*/ 2286000 h 2286000"/>
              <a:gd name="csX21" fmla="*/ 953072 w 4762500"/>
              <a:gd name="csY21" fmla="*/ 2286000 h 2286000"/>
              <a:gd name="csX22" fmla="*/ 114300 w 4762500"/>
              <a:gd name="csY22" fmla="*/ 2286000 h 2286000"/>
              <a:gd name="csX23" fmla="*/ 0 w 4762500"/>
              <a:gd name="csY23" fmla="*/ 2171700 h 2286000"/>
              <a:gd name="csX24" fmla="*/ 0 w 4762500"/>
              <a:gd name="csY24" fmla="*/ 1636776 h 2286000"/>
              <a:gd name="csX25" fmla="*/ 0 w 4762500"/>
              <a:gd name="csY25" fmla="*/ 1163574 h 2286000"/>
              <a:gd name="csX26" fmla="*/ 0 w 4762500"/>
              <a:gd name="csY26" fmla="*/ 669798 h 2286000"/>
              <a:gd name="csX27" fmla="*/ 0 w 4762500"/>
              <a:gd name="csY27" fmla="*/ 11430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4762500" h="2286000" fill="none" extrusionOk="0">
                <a:moveTo>
                  <a:pt x="0" y="114300"/>
                </a:moveTo>
                <a:cubicBezTo>
                  <a:pt x="-8203" y="52625"/>
                  <a:pt x="58854" y="-11620"/>
                  <a:pt x="114300" y="0"/>
                </a:cubicBezTo>
                <a:cubicBezTo>
                  <a:pt x="372828" y="-55129"/>
                  <a:pt x="580997" y="6866"/>
                  <a:pt x="771716" y="0"/>
                </a:cubicBezTo>
                <a:cubicBezTo>
                  <a:pt x="962435" y="-6866"/>
                  <a:pt x="1114442" y="35346"/>
                  <a:pt x="1429131" y="0"/>
                </a:cubicBezTo>
                <a:cubicBezTo>
                  <a:pt x="1743820" y="-35346"/>
                  <a:pt x="1737796" y="1259"/>
                  <a:pt x="1950529" y="0"/>
                </a:cubicBezTo>
                <a:cubicBezTo>
                  <a:pt x="2163262" y="-1259"/>
                  <a:pt x="2323465" y="15443"/>
                  <a:pt x="2517267" y="0"/>
                </a:cubicBezTo>
                <a:cubicBezTo>
                  <a:pt x="2711069" y="-15443"/>
                  <a:pt x="2848310" y="75247"/>
                  <a:pt x="3174683" y="0"/>
                </a:cubicBezTo>
                <a:cubicBezTo>
                  <a:pt x="3501056" y="-75247"/>
                  <a:pt x="3466439" y="12687"/>
                  <a:pt x="3741420" y="0"/>
                </a:cubicBezTo>
                <a:cubicBezTo>
                  <a:pt x="4016401" y="-12687"/>
                  <a:pt x="4227486" y="104704"/>
                  <a:pt x="4648200" y="0"/>
                </a:cubicBezTo>
                <a:cubicBezTo>
                  <a:pt x="4713082" y="13741"/>
                  <a:pt x="4758305" y="45210"/>
                  <a:pt x="4762500" y="114300"/>
                </a:cubicBezTo>
                <a:cubicBezTo>
                  <a:pt x="4766922" y="311570"/>
                  <a:pt x="4706133" y="471337"/>
                  <a:pt x="4762500" y="628650"/>
                </a:cubicBezTo>
                <a:cubicBezTo>
                  <a:pt x="4818867" y="785963"/>
                  <a:pt x="4716161" y="1022974"/>
                  <a:pt x="4762500" y="1163574"/>
                </a:cubicBezTo>
                <a:cubicBezTo>
                  <a:pt x="4808839" y="1304174"/>
                  <a:pt x="4729742" y="1437996"/>
                  <a:pt x="4762500" y="1636776"/>
                </a:cubicBezTo>
                <a:cubicBezTo>
                  <a:pt x="4795258" y="1835556"/>
                  <a:pt x="4703188" y="1909433"/>
                  <a:pt x="4762500" y="2171700"/>
                </a:cubicBezTo>
                <a:cubicBezTo>
                  <a:pt x="4767232" y="2232365"/>
                  <a:pt x="4709758" y="2276676"/>
                  <a:pt x="4648200" y="2286000"/>
                </a:cubicBezTo>
                <a:cubicBezTo>
                  <a:pt x="4430796" y="2299191"/>
                  <a:pt x="4355659" y="2285663"/>
                  <a:pt x="4172141" y="2286000"/>
                </a:cubicBezTo>
                <a:cubicBezTo>
                  <a:pt x="3988623" y="2286337"/>
                  <a:pt x="3860351" y="2229511"/>
                  <a:pt x="3696081" y="2286000"/>
                </a:cubicBezTo>
                <a:cubicBezTo>
                  <a:pt x="3531811" y="2342489"/>
                  <a:pt x="3352564" y="2252653"/>
                  <a:pt x="3265361" y="2286000"/>
                </a:cubicBezTo>
                <a:cubicBezTo>
                  <a:pt x="3178158" y="2319347"/>
                  <a:pt x="2805997" y="2276193"/>
                  <a:pt x="2607945" y="2286000"/>
                </a:cubicBezTo>
                <a:cubicBezTo>
                  <a:pt x="2409893" y="2295807"/>
                  <a:pt x="2162552" y="2237724"/>
                  <a:pt x="1995869" y="2286000"/>
                </a:cubicBezTo>
                <a:cubicBezTo>
                  <a:pt x="1829186" y="2334276"/>
                  <a:pt x="1684108" y="2249108"/>
                  <a:pt x="1474470" y="2286000"/>
                </a:cubicBezTo>
                <a:cubicBezTo>
                  <a:pt x="1264832" y="2322892"/>
                  <a:pt x="1153933" y="2224876"/>
                  <a:pt x="953072" y="2286000"/>
                </a:cubicBezTo>
                <a:cubicBezTo>
                  <a:pt x="752211" y="2347124"/>
                  <a:pt x="491511" y="2211907"/>
                  <a:pt x="114300" y="2286000"/>
                </a:cubicBezTo>
                <a:cubicBezTo>
                  <a:pt x="44056" y="2279811"/>
                  <a:pt x="2164" y="2247969"/>
                  <a:pt x="0" y="2171700"/>
                </a:cubicBezTo>
                <a:cubicBezTo>
                  <a:pt x="-42021" y="2000688"/>
                  <a:pt x="49105" y="1769420"/>
                  <a:pt x="0" y="1636776"/>
                </a:cubicBezTo>
                <a:cubicBezTo>
                  <a:pt x="-49105" y="1504132"/>
                  <a:pt x="30263" y="1336213"/>
                  <a:pt x="0" y="1163574"/>
                </a:cubicBezTo>
                <a:cubicBezTo>
                  <a:pt x="-30263" y="990935"/>
                  <a:pt x="21473" y="893349"/>
                  <a:pt x="0" y="669798"/>
                </a:cubicBezTo>
                <a:cubicBezTo>
                  <a:pt x="-21473" y="446247"/>
                  <a:pt x="66344" y="301584"/>
                  <a:pt x="0" y="114300"/>
                </a:cubicBezTo>
                <a:close/>
              </a:path>
              <a:path w="4762500" h="2286000" stroke="0" extrusionOk="0">
                <a:moveTo>
                  <a:pt x="0" y="114300"/>
                </a:moveTo>
                <a:cubicBezTo>
                  <a:pt x="10907" y="64618"/>
                  <a:pt x="58664" y="9603"/>
                  <a:pt x="114300" y="0"/>
                </a:cubicBezTo>
                <a:cubicBezTo>
                  <a:pt x="220742" y="-50260"/>
                  <a:pt x="386868" y="29672"/>
                  <a:pt x="545021" y="0"/>
                </a:cubicBezTo>
                <a:cubicBezTo>
                  <a:pt x="703174" y="-29672"/>
                  <a:pt x="921086" y="41482"/>
                  <a:pt x="1202436" y="0"/>
                </a:cubicBezTo>
                <a:cubicBezTo>
                  <a:pt x="1483786" y="-41482"/>
                  <a:pt x="1512318" y="34083"/>
                  <a:pt x="1678495" y="0"/>
                </a:cubicBezTo>
                <a:cubicBezTo>
                  <a:pt x="1844672" y="-34083"/>
                  <a:pt x="2073049" y="13115"/>
                  <a:pt x="2199894" y="0"/>
                </a:cubicBezTo>
                <a:cubicBezTo>
                  <a:pt x="2326739" y="-13115"/>
                  <a:pt x="2544339" y="39706"/>
                  <a:pt x="2675953" y="0"/>
                </a:cubicBezTo>
                <a:cubicBezTo>
                  <a:pt x="2807567" y="-39706"/>
                  <a:pt x="3065522" y="8847"/>
                  <a:pt x="3242691" y="0"/>
                </a:cubicBezTo>
                <a:cubicBezTo>
                  <a:pt x="3419860" y="-8847"/>
                  <a:pt x="3498666" y="33403"/>
                  <a:pt x="3673411" y="0"/>
                </a:cubicBezTo>
                <a:cubicBezTo>
                  <a:pt x="3848156" y="-33403"/>
                  <a:pt x="4211572" y="48157"/>
                  <a:pt x="4648200" y="0"/>
                </a:cubicBezTo>
                <a:cubicBezTo>
                  <a:pt x="4716576" y="-7182"/>
                  <a:pt x="4764228" y="49070"/>
                  <a:pt x="4762500" y="114300"/>
                </a:cubicBezTo>
                <a:cubicBezTo>
                  <a:pt x="4825588" y="334658"/>
                  <a:pt x="4735929" y="518230"/>
                  <a:pt x="4762500" y="669798"/>
                </a:cubicBezTo>
                <a:cubicBezTo>
                  <a:pt x="4789071" y="821366"/>
                  <a:pt x="4706541" y="1043082"/>
                  <a:pt x="4762500" y="1204722"/>
                </a:cubicBezTo>
                <a:cubicBezTo>
                  <a:pt x="4818459" y="1366362"/>
                  <a:pt x="4674698" y="1798341"/>
                  <a:pt x="4762500" y="2171700"/>
                </a:cubicBezTo>
                <a:cubicBezTo>
                  <a:pt x="4763619" y="2238744"/>
                  <a:pt x="4697374" y="2284558"/>
                  <a:pt x="4648200" y="2286000"/>
                </a:cubicBezTo>
                <a:cubicBezTo>
                  <a:pt x="4374410" y="2303492"/>
                  <a:pt x="4361115" y="2255592"/>
                  <a:pt x="4081463" y="2286000"/>
                </a:cubicBezTo>
                <a:cubicBezTo>
                  <a:pt x="3801811" y="2316408"/>
                  <a:pt x="3735716" y="2243483"/>
                  <a:pt x="3469386" y="2286000"/>
                </a:cubicBezTo>
                <a:cubicBezTo>
                  <a:pt x="3203056" y="2328517"/>
                  <a:pt x="3050022" y="2229592"/>
                  <a:pt x="2902649" y="2286000"/>
                </a:cubicBezTo>
                <a:cubicBezTo>
                  <a:pt x="2755276" y="2342408"/>
                  <a:pt x="2599061" y="2235159"/>
                  <a:pt x="2471928" y="2286000"/>
                </a:cubicBezTo>
                <a:cubicBezTo>
                  <a:pt x="2344795" y="2336841"/>
                  <a:pt x="1964508" y="2258895"/>
                  <a:pt x="1814513" y="2286000"/>
                </a:cubicBezTo>
                <a:cubicBezTo>
                  <a:pt x="1664519" y="2313105"/>
                  <a:pt x="1483062" y="2255614"/>
                  <a:pt x="1247775" y="2286000"/>
                </a:cubicBezTo>
                <a:cubicBezTo>
                  <a:pt x="1012488" y="2316386"/>
                  <a:pt x="904557" y="2249918"/>
                  <a:pt x="817055" y="2286000"/>
                </a:cubicBezTo>
                <a:cubicBezTo>
                  <a:pt x="729553" y="2322082"/>
                  <a:pt x="315816" y="2254831"/>
                  <a:pt x="114300" y="2286000"/>
                </a:cubicBezTo>
                <a:cubicBezTo>
                  <a:pt x="66296" y="2288512"/>
                  <a:pt x="-6741" y="2232147"/>
                  <a:pt x="0" y="2171700"/>
                </a:cubicBezTo>
                <a:cubicBezTo>
                  <a:pt x="-22482" y="2011259"/>
                  <a:pt x="2564" y="1777316"/>
                  <a:pt x="0" y="1657350"/>
                </a:cubicBezTo>
                <a:cubicBezTo>
                  <a:pt x="-2564" y="1537384"/>
                  <a:pt x="22541" y="1269008"/>
                  <a:pt x="0" y="1122426"/>
                </a:cubicBezTo>
                <a:cubicBezTo>
                  <a:pt x="-22541" y="975844"/>
                  <a:pt x="35372" y="761516"/>
                  <a:pt x="0" y="587502"/>
                </a:cubicBezTo>
                <a:cubicBezTo>
                  <a:pt x="-35372" y="413488"/>
                  <a:pt x="36156" y="322775"/>
                  <a:pt x="0" y="114300"/>
                </a:cubicBezTo>
                <a:close/>
              </a:path>
            </a:pathLst>
          </a:custGeom>
          <a:solidFill>
            <a:srgbClr val="FFFFFF"/>
          </a:solidFill>
          <a:ln w="57150">
            <a:solidFill>
              <a:srgbClr val="EA580C"/>
            </a:solidFill>
            <a:extLst>
              <a:ext uri="{C807C97D-BFC1-408E-A445-0C87EB9F89A2}">
                <ask:lineSketchStyleProps xmlns:ask="http://schemas.microsoft.com/office/drawing/2018/sketchyshapes" sd="1706410125">
                  <a:prstGeom prst="roundRect">
                    <a:avLst>
                      <a:gd name="adj" fmla="val 5000"/>
                    </a:avLst>
                  </a:prstGeom>
                  <ask:type>
                    <ask:lineSketchScribble/>
                  </ask:type>
                </ask:lineSketchStyleProps>
              </a:ext>
            </a:extLs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image.png"/>
          <p:cNvPicPr>
            <a:picLocks noChangeAspect="1"/>
          </p:cNvPicPr>
          <p:nvPr/>
        </p:nvPicPr>
        <p:blipFill>
          <a:blip r:embed="rId3"/>
          <a:stretch>
            <a:fillRect/>
          </a:stretch>
        </p:blipFill>
        <p:spPr>
          <a:xfrm>
            <a:off x="7267575" y="1571625"/>
            <a:ext cx="161925" cy="161925"/>
          </a:xfrm>
          <a:prstGeom prst="rect">
            <a:avLst/>
          </a:prstGeom>
        </p:spPr>
      </p:pic>
      <p:pic>
        <p:nvPicPr>
          <p:cNvPr id="15" name="Picture 14" descr="image.png"/>
          <p:cNvPicPr>
            <a:picLocks noChangeAspect="1"/>
          </p:cNvPicPr>
          <p:nvPr/>
        </p:nvPicPr>
        <p:blipFill>
          <a:blip r:embed="rId4"/>
          <a:stretch>
            <a:fillRect/>
          </a:stretch>
        </p:blipFill>
        <p:spPr>
          <a:xfrm>
            <a:off x="7267575" y="4048125"/>
            <a:ext cx="161925" cy="161925"/>
          </a:xfrm>
          <a:prstGeom prst="rect">
            <a:avLst/>
          </a:prstGeom>
        </p:spPr>
      </p:pic>
      <p:sp>
        <p:nvSpPr>
          <p:cNvPr id="16" name="TextBox 15"/>
          <p:cNvSpPr txBox="1"/>
          <p:nvPr/>
        </p:nvSpPr>
        <p:spPr>
          <a:xfrm>
            <a:off x="561975" y="1579981"/>
            <a:ext cx="2982740" cy="184666"/>
          </a:xfrm>
          <a:prstGeom prst="rect">
            <a:avLst/>
          </a:prstGeom>
          <a:noFill/>
        </p:spPr>
        <p:txBody>
          <a:bodyPr wrap="none" lIns="0" tIns="0" rIns="0" bIns="0" anchor="t">
            <a:spAutoFit/>
          </a:bodyPr>
          <a:lstStyle/>
          <a:p>
            <a:pPr algn="l"/>
            <a:r>
              <a:rPr sz="1200" b="1" i="0" u="none" dirty="0">
                <a:solidFill>
                  <a:srgbClr val="1E40AF"/>
                </a:solidFill>
                <a:latin typeface="Arial Black" panose="020B0A04020102020204" pitchFamily="34" charset="0"/>
              </a:rPr>
              <a:t>National &amp; State Disaster Agencies</a:t>
            </a:r>
          </a:p>
        </p:txBody>
      </p:sp>
      <p:sp>
        <p:nvSpPr>
          <p:cNvPr id="17" name="TextBox 16"/>
          <p:cNvSpPr txBox="1"/>
          <p:nvPr/>
        </p:nvSpPr>
        <p:spPr>
          <a:xfrm>
            <a:off x="566089" y="1782771"/>
            <a:ext cx="3924300" cy="655629"/>
          </a:xfrm>
          <a:prstGeom prst="rect">
            <a:avLst/>
          </a:prstGeom>
          <a:noFill/>
        </p:spPr>
        <p:txBody>
          <a:bodyPr wrap="square" lIns="0" tIns="0" rIns="0" bIns="0" anchor="t">
            <a:spAutoFit/>
          </a:bodyPr>
          <a:lstStyle/>
          <a:p>
            <a:pPr algn="l">
              <a:lnSpc>
                <a:spcPts val="1260"/>
              </a:lnSpc>
            </a:pPr>
            <a:r>
              <a:rPr sz="1050" i="0" u="none" dirty="0">
                <a:solidFill>
                  <a:srgbClr val="010000"/>
                </a:solidFill>
                <a:latin typeface="Segoe UI" panose="020B0502040204020203" pitchFamily="34" charset="0"/>
                <a:cs typeface="Segoe UI" panose="020B0502040204020203" pitchFamily="34" charset="0"/>
              </a:rPr>
              <a:t>Shifts response from reactive rescue to proactive HADR planning. The centralized dashboard provides near real-time inundation boundaries, enabling targeted evacuation before the flood wave hits.</a:t>
            </a:r>
          </a:p>
        </p:txBody>
      </p:sp>
      <p:sp>
        <p:nvSpPr>
          <p:cNvPr id="18" name="TextBox 17"/>
          <p:cNvSpPr txBox="1"/>
          <p:nvPr/>
        </p:nvSpPr>
        <p:spPr>
          <a:xfrm>
            <a:off x="561975" y="2788053"/>
            <a:ext cx="2284280" cy="173124"/>
          </a:xfrm>
          <a:prstGeom prst="rect">
            <a:avLst/>
          </a:prstGeom>
          <a:noFill/>
        </p:spPr>
        <p:txBody>
          <a:bodyPr wrap="none" lIns="0" tIns="0" rIns="0" bIns="0" anchor="t">
            <a:spAutoFit/>
          </a:bodyPr>
          <a:lstStyle/>
          <a:p>
            <a:pPr algn="l"/>
            <a:r>
              <a:rPr sz="1125" b="1" i="0" u="none" dirty="0">
                <a:solidFill>
                  <a:srgbClr val="1E40AF"/>
                </a:solidFill>
                <a:latin typeface="Arial Black" panose="020B0A04020102020204" pitchFamily="34" charset="0"/>
              </a:rPr>
              <a:t>Dam Authorities &amp; Operators</a:t>
            </a:r>
          </a:p>
        </p:txBody>
      </p:sp>
      <p:sp>
        <p:nvSpPr>
          <p:cNvPr id="19" name="TextBox 18"/>
          <p:cNvSpPr txBox="1"/>
          <p:nvPr/>
        </p:nvSpPr>
        <p:spPr>
          <a:xfrm>
            <a:off x="561975" y="2999453"/>
            <a:ext cx="3924300" cy="666849"/>
          </a:xfrm>
          <a:prstGeom prst="rect">
            <a:avLst/>
          </a:prstGeom>
          <a:noFill/>
        </p:spPr>
        <p:txBody>
          <a:bodyPr wrap="square" lIns="0" tIns="0" rIns="0" bIns="0" anchor="t">
            <a:spAutoFit/>
          </a:bodyPr>
          <a:lstStyle/>
          <a:p>
            <a:pPr algn="l">
              <a:lnSpc>
                <a:spcPts val="1260"/>
              </a:lnSpc>
            </a:pPr>
            <a:r>
              <a:rPr sz="1200" b="0" i="0" u="none" dirty="0">
                <a:solidFill>
                  <a:srgbClr val="010000"/>
                </a:solidFill>
                <a:latin typeface="Inter"/>
              </a:rPr>
              <a:t>Provides data-backed hydrodynamic simulations of breach kinetics. Operators can visually optimize water release schedules safely without cascading risks or departmental blind spots.</a:t>
            </a:r>
          </a:p>
        </p:txBody>
      </p:sp>
      <p:sp>
        <p:nvSpPr>
          <p:cNvPr id="20" name="TextBox 19"/>
          <p:cNvSpPr txBox="1"/>
          <p:nvPr/>
        </p:nvSpPr>
        <p:spPr>
          <a:xfrm>
            <a:off x="566089" y="4000630"/>
            <a:ext cx="2508700" cy="173124"/>
          </a:xfrm>
          <a:prstGeom prst="rect">
            <a:avLst/>
          </a:prstGeom>
          <a:noFill/>
        </p:spPr>
        <p:txBody>
          <a:bodyPr wrap="none" lIns="0" tIns="0" rIns="0" bIns="0" anchor="t">
            <a:spAutoFit/>
          </a:bodyPr>
          <a:lstStyle/>
          <a:p>
            <a:pPr algn="l"/>
            <a:r>
              <a:rPr sz="1125" b="1" i="0" u="none" dirty="0">
                <a:solidFill>
                  <a:srgbClr val="1E40AF"/>
                </a:solidFill>
                <a:latin typeface="Arial Black" panose="020B0A04020102020204" pitchFamily="34" charset="0"/>
              </a:rPr>
              <a:t>At-Risk Communities &amp; Citizens</a:t>
            </a:r>
          </a:p>
        </p:txBody>
      </p:sp>
      <p:sp>
        <p:nvSpPr>
          <p:cNvPr id="21" name="TextBox 20"/>
          <p:cNvSpPr txBox="1"/>
          <p:nvPr/>
        </p:nvSpPr>
        <p:spPr>
          <a:xfrm>
            <a:off x="561975" y="4223294"/>
            <a:ext cx="3924300" cy="672556"/>
          </a:xfrm>
          <a:prstGeom prst="rect">
            <a:avLst/>
          </a:prstGeom>
          <a:noFill/>
        </p:spPr>
        <p:txBody>
          <a:bodyPr wrap="square" lIns="0" tIns="0" rIns="0" bIns="0" anchor="t">
            <a:spAutoFit/>
          </a:bodyPr>
          <a:lstStyle/>
          <a:p>
            <a:pPr algn="l">
              <a:lnSpc>
                <a:spcPts val="1260"/>
              </a:lnSpc>
            </a:pPr>
            <a:r>
              <a:rPr sz="1300" b="0" i="0" u="none" dirty="0">
                <a:solidFill>
                  <a:srgbClr val="010000"/>
                </a:solidFill>
                <a:latin typeface="Inter"/>
              </a:rPr>
              <a:t>Drastically reduces vulnerability to sudden flash floods (e.g., Rishi Ganga). Early warnings and mapped exposure estimates secure critical lifelines, providing life-saving lead time.</a:t>
            </a:r>
          </a:p>
        </p:txBody>
      </p:sp>
      <p:sp>
        <p:nvSpPr>
          <p:cNvPr id="22" name="TextBox 21"/>
          <p:cNvSpPr txBox="1"/>
          <p:nvPr/>
        </p:nvSpPr>
        <p:spPr>
          <a:xfrm>
            <a:off x="550943" y="5244584"/>
            <a:ext cx="2708114" cy="184666"/>
          </a:xfrm>
          <a:prstGeom prst="rect">
            <a:avLst/>
          </a:prstGeom>
          <a:noFill/>
        </p:spPr>
        <p:txBody>
          <a:bodyPr wrap="none" lIns="0" tIns="0" rIns="0" bIns="0" anchor="t">
            <a:spAutoFit/>
          </a:bodyPr>
          <a:lstStyle/>
          <a:p>
            <a:pPr algn="l"/>
            <a:r>
              <a:rPr sz="1200" b="1" i="0" u="none" dirty="0">
                <a:solidFill>
                  <a:srgbClr val="1E40AF"/>
                </a:solidFill>
                <a:latin typeface="Arial Black" panose="020B0A04020102020204" pitchFamily="34" charset="0"/>
              </a:rPr>
              <a:t>Policy Makers &amp; Urban Planners</a:t>
            </a:r>
          </a:p>
        </p:txBody>
      </p:sp>
      <p:sp>
        <p:nvSpPr>
          <p:cNvPr id="23" name="TextBox 22"/>
          <p:cNvSpPr txBox="1"/>
          <p:nvPr/>
        </p:nvSpPr>
        <p:spPr>
          <a:xfrm>
            <a:off x="561975" y="5476825"/>
            <a:ext cx="3924300" cy="666849"/>
          </a:xfrm>
          <a:prstGeom prst="rect">
            <a:avLst/>
          </a:prstGeom>
          <a:noFill/>
        </p:spPr>
        <p:txBody>
          <a:bodyPr wrap="square" lIns="0" tIns="0" rIns="0" bIns="0" anchor="t">
            <a:spAutoFit/>
          </a:bodyPr>
          <a:lstStyle/>
          <a:p>
            <a:pPr algn="l">
              <a:lnSpc>
                <a:spcPts val="1260"/>
              </a:lnSpc>
            </a:pPr>
            <a:r>
              <a:rPr sz="1200" b="0" i="0" u="none" dirty="0">
                <a:solidFill>
                  <a:srgbClr val="010000"/>
                </a:solidFill>
                <a:latin typeface="Inter"/>
              </a:rPr>
              <a:t>Delivers concrete geospatial impact data—including submerged road networks and agricultural losses—to confidently guide budget allocations and resilient infrastructure capital expenditure.</a:t>
            </a:r>
          </a:p>
        </p:txBody>
      </p:sp>
      <p:sp>
        <p:nvSpPr>
          <p:cNvPr id="24" name="TextBox 23"/>
          <p:cNvSpPr txBox="1"/>
          <p:nvPr/>
        </p:nvSpPr>
        <p:spPr>
          <a:xfrm>
            <a:off x="7524750" y="1559246"/>
            <a:ext cx="2234586" cy="196208"/>
          </a:xfrm>
          <a:prstGeom prst="rect">
            <a:avLst/>
          </a:prstGeom>
          <a:noFill/>
        </p:spPr>
        <p:txBody>
          <a:bodyPr wrap="none" lIns="0" tIns="0" rIns="0" bIns="0" anchor="ctr">
            <a:spAutoFit/>
          </a:bodyPr>
          <a:lstStyle/>
          <a:p>
            <a:pPr algn="l"/>
            <a:r>
              <a:rPr sz="1275" b="1" i="0" u="none" dirty="0">
                <a:solidFill>
                  <a:srgbClr val="C2410C"/>
                </a:solidFill>
                <a:latin typeface="Arial Black" panose="020B0A04020102020204" pitchFamily="34" charset="0"/>
              </a:rPr>
              <a:t>Socio-Economic Benefits</a:t>
            </a:r>
          </a:p>
        </p:txBody>
      </p:sp>
      <p:sp>
        <p:nvSpPr>
          <p:cNvPr id="25" name="TextBox 24"/>
          <p:cNvSpPr txBox="1"/>
          <p:nvPr/>
        </p:nvSpPr>
        <p:spPr>
          <a:xfrm>
            <a:off x="7524750" y="4035746"/>
            <a:ext cx="2085379" cy="196208"/>
          </a:xfrm>
          <a:prstGeom prst="rect">
            <a:avLst/>
          </a:prstGeom>
          <a:noFill/>
        </p:spPr>
        <p:txBody>
          <a:bodyPr wrap="none" lIns="0" tIns="0" rIns="0" bIns="0" anchor="ctr">
            <a:spAutoFit/>
          </a:bodyPr>
          <a:lstStyle/>
          <a:p>
            <a:pPr algn="l"/>
            <a:r>
              <a:rPr sz="1275" b="1" i="0" u="none" dirty="0">
                <a:solidFill>
                  <a:srgbClr val="C2410C"/>
                </a:solidFill>
                <a:latin typeface="Arial Black" panose="020B0A04020102020204" pitchFamily="34" charset="0"/>
              </a:rPr>
              <a:t>Environmental Benefits</a:t>
            </a:r>
          </a:p>
        </p:txBody>
      </p:sp>
      <p:sp>
        <p:nvSpPr>
          <p:cNvPr id="26" name="TextBox 25"/>
          <p:cNvSpPr txBox="1"/>
          <p:nvPr/>
        </p:nvSpPr>
        <p:spPr>
          <a:xfrm>
            <a:off x="7181850" y="1847850"/>
            <a:ext cx="85725" cy="190500"/>
          </a:xfrm>
          <a:prstGeom prst="rect">
            <a:avLst/>
          </a:prstGeom>
          <a:noFill/>
        </p:spPr>
        <p:txBody>
          <a:bodyPr wrap="none" lIns="0" tIns="0" rIns="0" bIns="0" anchor="t">
            <a:spAutoFit/>
          </a:bodyPr>
          <a:lstStyle/>
          <a:p>
            <a:pPr algn="l"/>
            <a:r>
              <a:rPr sz="1200" b="0" i="0" u="none">
                <a:solidFill>
                  <a:srgbClr val="000000"/>
                </a:solidFill>
                <a:latin typeface="Inter"/>
              </a:rPr>
              <a:t>•</a:t>
            </a:r>
          </a:p>
        </p:txBody>
      </p:sp>
      <p:sp>
        <p:nvSpPr>
          <p:cNvPr id="27" name="TextBox 26"/>
          <p:cNvSpPr txBox="1"/>
          <p:nvPr/>
        </p:nvSpPr>
        <p:spPr>
          <a:xfrm>
            <a:off x="7267575" y="1866900"/>
            <a:ext cx="4419600" cy="571500"/>
          </a:xfrm>
          <a:prstGeom prst="rect">
            <a:avLst/>
          </a:prstGeom>
          <a:noFill/>
        </p:spPr>
        <p:txBody>
          <a:bodyPr wrap="square" lIns="85725" tIns="0" rIns="0" bIns="0" anchor="t">
            <a:spAutoFit/>
          </a:bodyPr>
          <a:lstStyle/>
          <a:p>
            <a:pPr algn="l"/>
            <a:r>
              <a:rPr sz="1200" b="0" i="0" u="none" dirty="0">
                <a:solidFill>
                  <a:srgbClr val="000000"/>
                </a:solidFill>
                <a:latin typeface="Inter"/>
              </a:rPr>
              <a:t>Proactive identification of 38 major Indian dams protects critical infrastructure (hospitals, major highways) and significantly reduces post-disaster rebuilding expenses.</a:t>
            </a:r>
          </a:p>
        </p:txBody>
      </p:sp>
      <p:sp>
        <p:nvSpPr>
          <p:cNvPr id="28" name="TextBox 27"/>
          <p:cNvSpPr txBox="1"/>
          <p:nvPr/>
        </p:nvSpPr>
        <p:spPr>
          <a:xfrm>
            <a:off x="7181850" y="2419350"/>
            <a:ext cx="85725" cy="190500"/>
          </a:xfrm>
          <a:prstGeom prst="rect">
            <a:avLst/>
          </a:prstGeom>
          <a:noFill/>
        </p:spPr>
        <p:txBody>
          <a:bodyPr wrap="none" lIns="0" tIns="0" rIns="0" bIns="0" anchor="t">
            <a:spAutoFit/>
          </a:bodyPr>
          <a:lstStyle/>
          <a:p>
            <a:pPr algn="l"/>
            <a:r>
              <a:rPr sz="1200" b="0" i="0" u="none">
                <a:solidFill>
                  <a:srgbClr val="000000"/>
                </a:solidFill>
                <a:latin typeface="Inter"/>
              </a:rPr>
              <a:t>•</a:t>
            </a:r>
          </a:p>
        </p:txBody>
      </p:sp>
      <p:sp>
        <p:nvSpPr>
          <p:cNvPr id="29" name="TextBox 28"/>
          <p:cNvSpPr txBox="1"/>
          <p:nvPr/>
        </p:nvSpPr>
        <p:spPr>
          <a:xfrm>
            <a:off x="7267575" y="2438400"/>
            <a:ext cx="4419600" cy="571500"/>
          </a:xfrm>
          <a:prstGeom prst="rect">
            <a:avLst/>
          </a:prstGeom>
          <a:noFill/>
        </p:spPr>
        <p:txBody>
          <a:bodyPr wrap="square" lIns="85725" tIns="0" rIns="0" bIns="0" anchor="t">
            <a:spAutoFit/>
          </a:bodyPr>
          <a:lstStyle/>
          <a:p>
            <a:pPr algn="l"/>
            <a:r>
              <a:rPr sz="1200" b="0" i="0" u="none">
                <a:solidFill>
                  <a:srgbClr val="000000"/>
                </a:solidFill>
                <a:latin typeface="Inter"/>
              </a:rPr>
              <a:t>Rapid computation of exposed populations and submerged cropland safeguards local farmer livelihoods and stabilizes regional food security.</a:t>
            </a:r>
          </a:p>
        </p:txBody>
      </p:sp>
      <p:sp>
        <p:nvSpPr>
          <p:cNvPr id="30" name="TextBox 29"/>
          <p:cNvSpPr txBox="1"/>
          <p:nvPr/>
        </p:nvSpPr>
        <p:spPr>
          <a:xfrm>
            <a:off x="7181850" y="2990850"/>
            <a:ext cx="85725" cy="190500"/>
          </a:xfrm>
          <a:prstGeom prst="rect">
            <a:avLst/>
          </a:prstGeom>
          <a:noFill/>
        </p:spPr>
        <p:txBody>
          <a:bodyPr wrap="none" lIns="0" tIns="0" rIns="0" bIns="0" anchor="t">
            <a:spAutoFit/>
          </a:bodyPr>
          <a:lstStyle/>
          <a:p>
            <a:pPr algn="l"/>
            <a:r>
              <a:rPr sz="1200" b="0" i="0" u="none">
                <a:solidFill>
                  <a:srgbClr val="000000"/>
                </a:solidFill>
                <a:latin typeface="Inter"/>
              </a:rPr>
              <a:t>•</a:t>
            </a:r>
          </a:p>
        </p:txBody>
      </p:sp>
      <p:sp>
        <p:nvSpPr>
          <p:cNvPr id="31" name="TextBox 30"/>
          <p:cNvSpPr txBox="1"/>
          <p:nvPr/>
        </p:nvSpPr>
        <p:spPr>
          <a:xfrm>
            <a:off x="7267575" y="3009900"/>
            <a:ext cx="4419600" cy="571500"/>
          </a:xfrm>
          <a:prstGeom prst="rect">
            <a:avLst/>
          </a:prstGeom>
          <a:noFill/>
        </p:spPr>
        <p:txBody>
          <a:bodyPr wrap="square" lIns="85725" tIns="0" rIns="0" bIns="0" anchor="t">
            <a:spAutoFit/>
          </a:bodyPr>
          <a:lstStyle/>
          <a:p>
            <a:pPr algn="l"/>
            <a:r>
              <a:rPr sz="1200" b="0" i="0" u="none" dirty="0">
                <a:solidFill>
                  <a:srgbClr val="000000"/>
                </a:solidFill>
                <a:latin typeface="Inter"/>
              </a:rPr>
              <a:t>Offloading intensive Sentinel-1 SAR processing to Google Earth Engine drastically cuts proprietary software licensing costs for state governments.</a:t>
            </a:r>
          </a:p>
        </p:txBody>
      </p:sp>
      <p:sp>
        <p:nvSpPr>
          <p:cNvPr id="32" name="TextBox 31"/>
          <p:cNvSpPr txBox="1"/>
          <p:nvPr/>
        </p:nvSpPr>
        <p:spPr>
          <a:xfrm>
            <a:off x="7181850" y="4324350"/>
            <a:ext cx="85725" cy="190500"/>
          </a:xfrm>
          <a:prstGeom prst="rect">
            <a:avLst/>
          </a:prstGeom>
          <a:noFill/>
        </p:spPr>
        <p:txBody>
          <a:bodyPr wrap="none" lIns="0" tIns="0" rIns="0" bIns="0" anchor="t">
            <a:spAutoFit/>
          </a:bodyPr>
          <a:lstStyle/>
          <a:p>
            <a:pPr algn="l"/>
            <a:r>
              <a:rPr sz="1200" b="0" i="0" u="none">
                <a:solidFill>
                  <a:srgbClr val="000000"/>
                </a:solidFill>
                <a:latin typeface="Inter"/>
              </a:rPr>
              <a:t>•</a:t>
            </a:r>
          </a:p>
        </p:txBody>
      </p:sp>
      <p:sp>
        <p:nvSpPr>
          <p:cNvPr id="33" name="TextBox 32"/>
          <p:cNvSpPr txBox="1"/>
          <p:nvPr/>
        </p:nvSpPr>
        <p:spPr>
          <a:xfrm>
            <a:off x="7267575" y="4343400"/>
            <a:ext cx="4419600" cy="571500"/>
          </a:xfrm>
          <a:prstGeom prst="rect">
            <a:avLst/>
          </a:prstGeom>
          <a:noFill/>
        </p:spPr>
        <p:txBody>
          <a:bodyPr wrap="square" lIns="85725" tIns="0" rIns="0" bIns="0" anchor="t">
            <a:spAutoFit/>
          </a:bodyPr>
          <a:lstStyle/>
          <a:p>
            <a:pPr algn="l"/>
            <a:r>
              <a:rPr sz="1200" b="0" i="0" u="none" dirty="0">
                <a:solidFill>
                  <a:srgbClr val="000000"/>
                </a:solidFill>
                <a:latin typeface="Inter"/>
              </a:rPr>
              <a:t>Minimizes ecological devastation by actively simulating and preparing for sudden debris-laden flash floods in fragile topographies like steep Himalayan catchments.</a:t>
            </a:r>
          </a:p>
        </p:txBody>
      </p:sp>
      <p:sp>
        <p:nvSpPr>
          <p:cNvPr id="34" name="TextBox 33"/>
          <p:cNvSpPr txBox="1"/>
          <p:nvPr/>
        </p:nvSpPr>
        <p:spPr>
          <a:xfrm>
            <a:off x="7181850" y="4895850"/>
            <a:ext cx="85725" cy="190500"/>
          </a:xfrm>
          <a:prstGeom prst="rect">
            <a:avLst/>
          </a:prstGeom>
          <a:noFill/>
        </p:spPr>
        <p:txBody>
          <a:bodyPr wrap="none" lIns="0" tIns="0" rIns="0" bIns="0" anchor="t">
            <a:spAutoFit/>
          </a:bodyPr>
          <a:lstStyle/>
          <a:p>
            <a:pPr algn="l"/>
            <a:r>
              <a:rPr sz="1200" b="0" i="0" u="none">
                <a:solidFill>
                  <a:srgbClr val="000000"/>
                </a:solidFill>
                <a:latin typeface="Inter"/>
              </a:rPr>
              <a:t>•</a:t>
            </a:r>
          </a:p>
        </p:txBody>
      </p:sp>
      <p:sp>
        <p:nvSpPr>
          <p:cNvPr id="35" name="TextBox 34"/>
          <p:cNvSpPr txBox="1"/>
          <p:nvPr/>
        </p:nvSpPr>
        <p:spPr>
          <a:xfrm>
            <a:off x="7267575" y="4914900"/>
            <a:ext cx="4419600" cy="571500"/>
          </a:xfrm>
          <a:prstGeom prst="rect">
            <a:avLst/>
          </a:prstGeom>
          <a:noFill/>
        </p:spPr>
        <p:txBody>
          <a:bodyPr wrap="square" lIns="85725" tIns="0" rIns="0" bIns="0" anchor="t">
            <a:spAutoFit/>
          </a:bodyPr>
          <a:lstStyle/>
          <a:p>
            <a:pPr algn="l"/>
            <a:r>
              <a:rPr sz="1200" b="0" i="0" u="none">
                <a:solidFill>
                  <a:srgbClr val="000000"/>
                </a:solidFill>
                <a:latin typeface="Inter"/>
              </a:rPr>
              <a:t>Tracks and mitigates the localized downstream impact of artificial river blockages and natural lake outbursts (GLOFs), protecting basin biodiversity.</a:t>
            </a:r>
          </a:p>
        </p:txBody>
      </p:sp>
      <p:sp>
        <p:nvSpPr>
          <p:cNvPr id="36" name="TextBox 35"/>
          <p:cNvSpPr txBox="1"/>
          <p:nvPr/>
        </p:nvSpPr>
        <p:spPr>
          <a:xfrm>
            <a:off x="7181850" y="5467350"/>
            <a:ext cx="85725" cy="190500"/>
          </a:xfrm>
          <a:prstGeom prst="rect">
            <a:avLst/>
          </a:prstGeom>
          <a:noFill/>
        </p:spPr>
        <p:txBody>
          <a:bodyPr wrap="none" lIns="0" tIns="0" rIns="0" bIns="0" anchor="t">
            <a:spAutoFit/>
          </a:bodyPr>
          <a:lstStyle/>
          <a:p>
            <a:pPr algn="l"/>
            <a:r>
              <a:rPr sz="1200" b="0" i="0" u="none">
                <a:solidFill>
                  <a:srgbClr val="000000"/>
                </a:solidFill>
                <a:latin typeface="Inter"/>
              </a:rPr>
              <a:t>•</a:t>
            </a:r>
          </a:p>
        </p:txBody>
      </p:sp>
      <p:sp>
        <p:nvSpPr>
          <p:cNvPr id="37" name="TextBox 36"/>
          <p:cNvSpPr txBox="1"/>
          <p:nvPr/>
        </p:nvSpPr>
        <p:spPr>
          <a:xfrm>
            <a:off x="7267575" y="5486400"/>
            <a:ext cx="4419600" cy="571500"/>
          </a:xfrm>
          <a:prstGeom prst="rect">
            <a:avLst/>
          </a:prstGeom>
          <a:noFill/>
        </p:spPr>
        <p:txBody>
          <a:bodyPr wrap="square" lIns="85725" tIns="0" rIns="0" bIns="0" anchor="t">
            <a:spAutoFit/>
          </a:bodyPr>
          <a:lstStyle/>
          <a:p>
            <a:pPr algn="l"/>
            <a:r>
              <a:rPr sz="1200" b="0" i="0" u="none" dirty="0">
                <a:solidFill>
                  <a:srgbClr val="000000"/>
                </a:solidFill>
                <a:latin typeface="Inter"/>
              </a:rPr>
              <a:t>Optimized computational pipeline utilizes serverless cloud infrastructure, minimizing the carbon footprint associated with heavy bare-metal GIS processing.</a:t>
            </a:r>
          </a:p>
        </p:txBody>
      </p:sp>
      <p:sp>
        <p:nvSpPr>
          <p:cNvPr id="38" name="Rounded Rectangle 37"/>
          <p:cNvSpPr/>
          <p:nvPr/>
        </p:nvSpPr>
        <p:spPr>
          <a:xfrm>
            <a:off x="5476875" y="3190875"/>
            <a:ext cx="1238250" cy="1238250"/>
          </a:xfrm>
          <a:prstGeom prst="roundRect">
            <a:avLst>
              <a:gd name="adj" fmla="val 50000"/>
            </a:avLst>
          </a:prstGeom>
          <a:solidFill>
            <a:srgbClr val="F7F7F6"/>
          </a:solidFill>
          <a:ln w="28575">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6">
                  <a:lumMod val="75000"/>
                </a:schemeClr>
              </a:solidFill>
            </a:endParaRPr>
          </a:p>
        </p:txBody>
      </p:sp>
      <p:sp>
        <p:nvSpPr>
          <p:cNvPr id="39" name="Rectangle 38"/>
          <p:cNvSpPr/>
          <p:nvPr/>
        </p:nvSpPr>
        <p:spPr>
          <a:xfrm>
            <a:off x="6086475" y="3219450"/>
            <a:ext cx="19050" cy="11811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534403" y="3754542"/>
            <a:ext cx="535403" cy="126958"/>
          </a:xfrm>
          <a:prstGeom prst="rect">
            <a:avLst/>
          </a:prstGeom>
          <a:noFill/>
        </p:spPr>
        <p:txBody>
          <a:bodyPr wrap="square" lIns="0" tIns="0" rIns="0" bIns="0" anchor="t">
            <a:spAutoFit/>
          </a:bodyPr>
          <a:lstStyle/>
          <a:p>
            <a:pPr algn="l"/>
            <a:r>
              <a:rPr sz="825" b="1" i="0" u="none" dirty="0">
                <a:solidFill>
                  <a:srgbClr val="1E40AF"/>
                </a:solidFill>
                <a:latin typeface="Arial Black" panose="020B0A04020102020204" pitchFamily="34" charset="0"/>
              </a:rPr>
              <a:t>IMPACTS</a:t>
            </a:r>
          </a:p>
        </p:txBody>
      </p:sp>
      <p:sp>
        <p:nvSpPr>
          <p:cNvPr id="41" name="TextBox 40"/>
          <p:cNvSpPr txBox="1"/>
          <p:nvPr/>
        </p:nvSpPr>
        <p:spPr>
          <a:xfrm>
            <a:off x="6125220" y="3751078"/>
            <a:ext cx="589905" cy="126958"/>
          </a:xfrm>
          <a:prstGeom prst="rect">
            <a:avLst/>
          </a:prstGeom>
          <a:noFill/>
        </p:spPr>
        <p:txBody>
          <a:bodyPr wrap="none" lIns="0" tIns="0" rIns="0" bIns="0" anchor="t">
            <a:spAutoFit/>
          </a:bodyPr>
          <a:lstStyle/>
          <a:p>
            <a:pPr algn="l"/>
            <a:r>
              <a:rPr sz="825" b="1" i="0" u="none" dirty="0">
                <a:solidFill>
                  <a:srgbClr val="C2410C"/>
                </a:solidFill>
                <a:latin typeface="Arial Black" panose="020B0A04020102020204" pitchFamily="34" charset="0"/>
              </a:rPr>
              <a:t>BENEFITS</a:t>
            </a:r>
          </a:p>
        </p:txBody>
      </p:sp>
      <p:pic>
        <p:nvPicPr>
          <p:cNvPr id="3" name="Picture 2">
            <a:extLst>
              <a:ext uri="{FF2B5EF4-FFF2-40B4-BE49-F238E27FC236}">
                <a16:creationId xmlns:a16="http://schemas.microsoft.com/office/drawing/2014/main" id="{F1B940B2-F393-A874-C2C6-E8FC801E63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9336" y="-14587"/>
            <a:ext cx="2249850" cy="1062337"/>
          </a:xfrm>
          <a:prstGeom prst="rect">
            <a:avLst/>
          </a:prstGeom>
        </p:spPr>
      </p:pic>
      <p:sp>
        <p:nvSpPr>
          <p:cNvPr id="43" name="Oval 42" descr="Your startup LOGO">
            <a:extLst>
              <a:ext uri="{FF2B5EF4-FFF2-40B4-BE49-F238E27FC236}">
                <a16:creationId xmlns:a16="http://schemas.microsoft.com/office/drawing/2014/main" id="{226BBA48-502C-8ED1-4D45-E7DFD71AE392}"/>
              </a:ext>
              <a:ext uri="{C183D7F6-B498-43B3-948B-1728B52AA6E4}">
                <adec:decorative xmlns:adec="http://schemas.microsoft.com/office/drawing/2017/decorative" val="0"/>
              </a:ext>
            </a:extLst>
          </p:cNvPr>
          <p:cNvSpPr/>
          <p:nvPr/>
        </p:nvSpPr>
        <p:spPr>
          <a:xfrm>
            <a:off x="0" y="5782"/>
            <a:ext cx="2249850" cy="725949"/>
          </a:xfrm>
          <a:prstGeom prst="ellipse">
            <a:avLst/>
          </a:prstGeom>
          <a:solidFill>
            <a:schemeClr val="accent6">
              <a:lumMod val="40000"/>
              <a:lumOff val="60000"/>
            </a:schemeClr>
          </a:solidFill>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algn="l" defTabSz="457200" rtl="0" fontAlgn="base">
              <a:spcBef>
                <a:spcPct val="0"/>
              </a:spcBef>
              <a:spcAft>
                <a:spcPct val="0"/>
              </a:spcAft>
              <a:defRPr kern="1200">
                <a:solidFill>
                  <a:schemeClr val="dk1"/>
                </a:solidFill>
                <a:latin typeface="+mn-lt"/>
                <a:ea typeface="+mn-ea"/>
                <a:cs typeface="+mn-cs"/>
              </a:defRPr>
            </a:lvl1pPr>
            <a:lvl2pPr marL="457200" algn="l" defTabSz="457200" rtl="0" fontAlgn="base">
              <a:spcBef>
                <a:spcPct val="0"/>
              </a:spcBef>
              <a:spcAft>
                <a:spcPct val="0"/>
              </a:spcAft>
              <a:defRPr kern="1200">
                <a:solidFill>
                  <a:schemeClr val="dk1"/>
                </a:solidFill>
                <a:latin typeface="+mn-lt"/>
                <a:ea typeface="+mn-ea"/>
                <a:cs typeface="+mn-cs"/>
              </a:defRPr>
            </a:lvl2pPr>
            <a:lvl3pPr marL="914400" algn="l" defTabSz="457200" rtl="0" fontAlgn="base">
              <a:spcBef>
                <a:spcPct val="0"/>
              </a:spcBef>
              <a:spcAft>
                <a:spcPct val="0"/>
              </a:spcAft>
              <a:defRPr kern="1200">
                <a:solidFill>
                  <a:schemeClr val="dk1"/>
                </a:solidFill>
                <a:latin typeface="+mn-lt"/>
                <a:ea typeface="+mn-ea"/>
                <a:cs typeface="+mn-cs"/>
              </a:defRPr>
            </a:lvl3pPr>
            <a:lvl4pPr marL="1371600" algn="l" defTabSz="457200" rtl="0" fontAlgn="base">
              <a:spcBef>
                <a:spcPct val="0"/>
              </a:spcBef>
              <a:spcAft>
                <a:spcPct val="0"/>
              </a:spcAft>
              <a:defRPr kern="1200">
                <a:solidFill>
                  <a:schemeClr val="dk1"/>
                </a:solidFill>
                <a:latin typeface="+mn-lt"/>
                <a:ea typeface="+mn-ea"/>
                <a:cs typeface="+mn-cs"/>
              </a:defRPr>
            </a:lvl4pPr>
            <a:lvl5pPr marL="1828800" algn="l" defTabSz="457200" rtl="0" fontAlgn="base">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IN" b="1" dirty="0">
              <a:solidFill>
                <a:schemeClr val="accent6">
                  <a:lumMod val="75000"/>
                </a:schemeClr>
              </a:solidFill>
            </a:endParaRPr>
          </a:p>
          <a:p>
            <a:pPr algn="ctr"/>
            <a:r>
              <a:rPr lang="en-IN" b="1" dirty="0">
                <a:solidFill>
                  <a:schemeClr val="accent6">
                    <a:lumMod val="75000"/>
                  </a:schemeClr>
                </a:solidFill>
              </a:rPr>
              <a:t>UNEXPECTED  ERRORS:(</a:t>
            </a:r>
            <a:endParaRPr lang="en-IN" dirty="0"/>
          </a:p>
          <a:p>
            <a:pPr algn="ctr"/>
            <a:endParaRPr lang="en-IN" dirty="0"/>
          </a:p>
        </p:txBody>
      </p:sp>
      <p:sp>
        <p:nvSpPr>
          <p:cNvPr id="46" name="Rectangle 45">
            <a:extLst>
              <a:ext uri="{FF2B5EF4-FFF2-40B4-BE49-F238E27FC236}">
                <a16:creationId xmlns:a16="http://schemas.microsoft.com/office/drawing/2014/main" id="{59F15BA6-77EF-BE5B-A47E-A1FF590D2286}"/>
              </a:ext>
            </a:extLst>
          </p:cNvPr>
          <p:cNvSpPr/>
          <p:nvPr/>
        </p:nvSpPr>
        <p:spPr>
          <a:xfrm>
            <a:off x="0" y="6477000"/>
            <a:ext cx="12192000" cy="381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58FCD828-22F7-BB3C-4879-826B8E371695}"/>
              </a:ext>
            </a:extLst>
          </p:cNvPr>
          <p:cNvSpPr txBox="1"/>
          <p:nvPr/>
        </p:nvSpPr>
        <p:spPr>
          <a:xfrm>
            <a:off x="11811000" y="6541112"/>
            <a:ext cx="335800" cy="276999"/>
          </a:xfrm>
          <a:prstGeom prst="rect">
            <a:avLst/>
          </a:prstGeom>
          <a:noFill/>
        </p:spPr>
        <p:txBody>
          <a:bodyPr wrap="square">
            <a:spAutoFit/>
          </a:bodyPr>
          <a:lstStyle/>
          <a:p>
            <a:pPr algn="l"/>
            <a:r>
              <a:rPr lang="en-IN" sz="1200" b="1" dirty="0">
                <a:solidFill>
                  <a:srgbClr val="FFFFFF"/>
                </a:solidFill>
                <a:latin typeface="Montserrat"/>
              </a:rPr>
              <a:t>5</a:t>
            </a:r>
            <a:endParaRPr lang="en-IN" sz="1200" b="1" i="0" u="none" dirty="0">
              <a:solidFill>
                <a:srgbClr val="FFFFFF"/>
              </a:solidFill>
              <a:latin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477000"/>
            <a:ext cx="12192000" cy="381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002729" y="6575167"/>
            <a:ext cx="189271" cy="184666"/>
          </a:xfrm>
          <a:prstGeom prst="rect">
            <a:avLst/>
          </a:prstGeom>
          <a:noFill/>
        </p:spPr>
        <p:txBody>
          <a:bodyPr wrap="square" lIns="0" tIns="0" rIns="0" bIns="0" anchor="ctr">
            <a:spAutoFit/>
          </a:bodyPr>
          <a:lstStyle/>
          <a:p>
            <a:pPr algn="l"/>
            <a:r>
              <a:rPr sz="1200" b="1" i="0" u="none" dirty="0">
                <a:solidFill>
                  <a:srgbClr val="FFFFFF"/>
                </a:solidFill>
                <a:latin typeface="Montserrat"/>
              </a:rPr>
              <a:t>6</a:t>
            </a:r>
          </a:p>
        </p:txBody>
      </p:sp>
      <p:sp>
        <p:nvSpPr>
          <p:cNvPr id="8" name="TextBox 7"/>
          <p:cNvSpPr txBox="1"/>
          <p:nvPr/>
        </p:nvSpPr>
        <p:spPr>
          <a:xfrm>
            <a:off x="2559843" y="361950"/>
            <a:ext cx="6997941" cy="553998"/>
          </a:xfrm>
          <a:prstGeom prst="rect">
            <a:avLst/>
          </a:prstGeom>
          <a:noFill/>
        </p:spPr>
        <p:txBody>
          <a:bodyPr wrap="none" lIns="0" tIns="0" rIns="0" bIns="0" anchor="t">
            <a:spAutoFit/>
          </a:bodyPr>
          <a:lstStyle/>
          <a:p>
            <a:pPr algn="l"/>
            <a:r>
              <a:rPr sz="3600" b="1" i="0" u="sng" dirty="0">
                <a:solidFill>
                  <a:srgbClr val="010000"/>
                </a:solidFill>
                <a:latin typeface="Garamond" panose="02020404030301010803" pitchFamily="18" charset="0"/>
              </a:rPr>
              <a:t>RESEARCH AND REFERENCES</a:t>
            </a:r>
          </a:p>
        </p:txBody>
      </p:sp>
      <p:sp>
        <p:nvSpPr>
          <p:cNvPr id="9" name="TextBox 8"/>
          <p:cNvSpPr txBox="1"/>
          <p:nvPr/>
        </p:nvSpPr>
        <p:spPr>
          <a:xfrm>
            <a:off x="476250" y="1065850"/>
            <a:ext cx="11334750" cy="418513"/>
          </a:xfrm>
          <a:prstGeom prst="rect">
            <a:avLst/>
          </a:prstGeom>
          <a:noFill/>
        </p:spPr>
        <p:txBody>
          <a:bodyPr wrap="square" lIns="0" tIns="0" rIns="0" bIns="0" anchor="t">
            <a:spAutoFit/>
          </a:bodyPr>
          <a:lstStyle/>
          <a:p>
            <a:pPr>
              <a:lnSpc>
                <a:spcPts val="1721"/>
              </a:lnSpc>
            </a:pPr>
            <a:r>
              <a:rPr lang="en-US" sz="1275" b="1" dirty="0">
                <a:solidFill>
                  <a:srgbClr val="000000"/>
                </a:solidFill>
                <a:latin typeface="Segoe UI"/>
              </a:rPr>
              <a:t>India-WRIS</a:t>
            </a:r>
            <a:r>
              <a:rPr lang="en-US" sz="1275" dirty="0">
                <a:solidFill>
                  <a:srgbClr val="1A1A1A"/>
                </a:solidFill>
                <a:latin typeface="Segoe UI"/>
              </a:rPr>
              <a:t>: https://indiawris.gov.in/wris/#/Used in Google Earth Engine as the primary national repository to extract precise geographic pinpoint coordinates, catchment bounding boxes, and structural specifications for key Indian dam structures.</a:t>
            </a:r>
            <a:endParaRPr sz="1275" dirty="0">
              <a:solidFill>
                <a:srgbClr val="1A1A1A"/>
              </a:solidFill>
              <a:latin typeface="Segoe UI"/>
            </a:endParaRPr>
          </a:p>
        </p:txBody>
      </p:sp>
      <p:sp>
        <p:nvSpPr>
          <p:cNvPr id="10" name="TextBox 9"/>
          <p:cNvSpPr txBox="1"/>
          <p:nvPr/>
        </p:nvSpPr>
        <p:spPr>
          <a:xfrm>
            <a:off x="476250" y="1885023"/>
            <a:ext cx="11334750" cy="418513"/>
          </a:xfrm>
          <a:prstGeom prst="rect">
            <a:avLst/>
          </a:prstGeom>
          <a:noFill/>
        </p:spPr>
        <p:txBody>
          <a:bodyPr wrap="square" lIns="0" tIns="0" rIns="0" bIns="0" anchor="t">
            <a:spAutoFit/>
          </a:bodyPr>
          <a:lstStyle/>
          <a:p>
            <a:pPr>
              <a:lnSpc>
                <a:spcPts val="1721"/>
              </a:lnSpc>
            </a:pPr>
            <a:r>
              <a:rPr lang="en-US" sz="1275" b="1" dirty="0" err="1">
                <a:solidFill>
                  <a:srgbClr val="000000"/>
                </a:solidFill>
                <a:latin typeface="Segoe UI"/>
              </a:rPr>
              <a:t>GRaND</a:t>
            </a:r>
            <a:r>
              <a:rPr lang="en-US" sz="1275" b="1" dirty="0">
                <a:solidFill>
                  <a:srgbClr val="000000"/>
                </a:solidFill>
                <a:latin typeface="Segoe UI"/>
              </a:rPr>
              <a:t> Database</a:t>
            </a:r>
            <a:r>
              <a:rPr lang="en-US" sz="1275" dirty="0">
                <a:solidFill>
                  <a:srgbClr val="1A1A1A"/>
                </a:solidFill>
                <a:latin typeface="Segoe UI"/>
              </a:rPr>
              <a:t>: https://www.globaldamwatch.org/grandReferenced as a global georeferenced database to map reservoir surface areas and sub-catchment boundary extents for major dam basins for Google Earth Engine.</a:t>
            </a:r>
            <a:endParaRPr sz="1275" dirty="0">
              <a:solidFill>
                <a:srgbClr val="1A1A1A"/>
              </a:solidFill>
              <a:latin typeface="Segoe UI"/>
            </a:endParaRPr>
          </a:p>
        </p:txBody>
      </p:sp>
      <p:sp>
        <p:nvSpPr>
          <p:cNvPr id="11" name="TextBox 10"/>
          <p:cNvSpPr txBox="1"/>
          <p:nvPr/>
        </p:nvSpPr>
        <p:spPr>
          <a:xfrm>
            <a:off x="476250" y="2554313"/>
            <a:ext cx="11334750" cy="418513"/>
          </a:xfrm>
          <a:prstGeom prst="rect">
            <a:avLst/>
          </a:prstGeom>
          <a:noFill/>
        </p:spPr>
        <p:txBody>
          <a:bodyPr wrap="square" lIns="0" tIns="0" rIns="0" bIns="0" anchor="t">
            <a:spAutoFit/>
          </a:bodyPr>
          <a:lstStyle/>
          <a:p>
            <a:pPr algn="l">
              <a:lnSpc>
                <a:spcPts val="1721"/>
              </a:lnSpc>
            </a:pPr>
            <a:r>
              <a:rPr sz="1275" b="1" i="0" u="none" dirty="0">
                <a:solidFill>
                  <a:srgbClr val="000000"/>
                </a:solidFill>
                <a:latin typeface="Segoe UI"/>
              </a:rPr>
              <a:t>Google Earth Engine (GEE):  </a:t>
            </a:r>
            <a:r>
              <a:rPr sz="1275" i="0" u="sng" dirty="0">
                <a:solidFill>
                  <a:srgbClr val="000000"/>
                </a:solidFill>
                <a:latin typeface="Segoe UI"/>
              </a:rPr>
              <a:t>https://earthengine.google.com/</a:t>
            </a:r>
            <a:r>
              <a:rPr sz="1275" b="1" i="0" u="none" dirty="0">
                <a:solidFill>
                  <a:srgbClr val="000000"/>
                </a:solidFill>
                <a:latin typeface="Segoe UI"/>
              </a:rPr>
              <a:t> </a:t>
            </a:r>
            <a:endParaRPr lang="en-IN" sz="1275" b="1" i="0" u="none" dirty="0">
              <a:solidFill>
                <a:srgbClr val="000000"/>
              </a:solidFill>
              <a:latin typeface="Segoe UI"/>
            </a:endParaRPr>
          </a:p>
          <a:p>
            <a:pPr algn="l">
              <a:lnSpc>
                <a:spcPts val="1721"/>
              </a:lnSpc>
            </a:pPr>
            <a:r>
              <a:rPr sz="1275" i="0" u="none" dirty="0">
                <a:solidFill>
                  <a:srgbClr val="1A1A1A"/>
                </a:solidFill>
                <a:latin typeface="Segoe UI"/>
              </a:rPr>
              <a:t>Used to develop the framework for near real-time flood analysis, enabling the processing of large volumes of open-source satellite imagery and DEM datasets.</a:t>
            </a:r>
          </a:p>
        </p:txBody>
      </p:sp>
      <p:sp>
        <p:nvSpPr>
          <p:cNvPr id="12" name="TextBox 11"/>
          <p:cNvSpPr txBox="1"/>
          <p:nvPr/>
        </p:nvSpPr>
        <p:spPr>
          <a:xfrm>
            <a:off x="476250" y="3224776"/>
            <a:ext cx="11334750" cy="418513"/>
          </a:xfrm>
          <a:prstGeom prst="rect">
            <a:avLst/>
          </a:prstGeom>
          <a:noFill/>
        </p:spPr>
        <p:txBody>
          <a:bodyPr wrap="square" lIns="0" tIns="0" rIns="0" bIns="0" anchor="t">
            <a:spAutoFit/>
          </a:bodyPr>
          <a:lstStyle/>
          <a:p>
            <a:pPr algn="l">
              <a:lnSpc>
                <a:spcPts val="1721"/>
              </a:lnSpc>
            </a:pPr>
            <a:r>
              <a:rPr sz="1275" b="1" i="0" u="none" dirty="0">
                <a:solidFill>
                  <a:srgbClr val="000000"/>
                </a:solidFill>
                <a:latin typeface="Segoe UI"/>
              </a:rPr>
              <a:t>Copernicus Open Access Hub (Sentinel-1 SAR):  </a:t>
            </a:r>
            <a:r>
              <a:rPr sz="1275" i="0" u="sng" dirty="0">
                <a:solidFill>
                  <a:srgbClr val="000000"/>
                </a:solidFill>
                <a:latin typeface="Segoe UI"/>
              </a:rPr>
              <a:t>https://scihub.copernicus.eu/ </a:t>
            </a:r>
            <a:endParaRPr lang="en-IN" sz="1275" i="0" u="sng" dirty="0">
              <a:solidFill>
                <a:srgbClr val="000000"/>
              </a:solidFill>
              <a:latin typeface="Segoe UI"/>
            </a:endParaRPr>
          </a:p>
          <a:p>
            <a:pPr algn="l">
              <a:lnSpc>
                <a:spcPts val="1721"/>
              </a:lnSpc>
            </a:pPr>
            <a:r>
              <a:rPr sz="1275" i="0" dirty="0">
                <a:solidFill>
                  <a:srgbClr val="1A1A1A"/>
                </a:solidFill>
                <a:latin typeface="Segoe UI"/>
              </a:rPr>
              <a:t>Referenced for accessing 6 to 12-day stream Synthetic Aperture Radar (SAR) data, crucial for computing real-time inundation without cloud interference.</a:t>
            </a:r>
          </a:p>
        </p:txBody>
      </p:sp>
      <p:sp>
        <p:nvSpPr>
          <p:cNvPr id="13" name="TextBox 12"/>
          <p:cNvSpPr txBox="1"/>
          <p:nvPr/>
        </p:nvSpPr>
        <p:spPr>
          <a:xfrm>
            <a:off x="476250" y="3919897"/>
            <a:ext cx="11334750" cy="636521"/>
          </a:xfrm>
          <a:prstGeom prst="rect">
            <a:avLst/>
          </a:prstGeom>
          <a:noFill/>
        </p:spPr>
        <p:txBody>
          <a:bodyPr wrap="square" lIns="0" tIns="0" rIns="0" bIns="0" anchor="t">
            <a:spAutoFit/>
          </a:bodyPr>
          <a:lstStyle/>
          <a:p>
            <a:pPr algn="l">
              <a:lnSpc>
                <a:spcPts val="1721"/>
              </a:lnSpc>
            </a:pPr>
            <a:r>
              <a:rPr sz="1275" b="1" i="0" u="none" dirty="0">
                <a:solidFill>
                  <a:srgbClr val="000000"/>
                </a:solidFill>
                <a:latin typeface="Segoe UI"/>
              </a:rPr>
              <a:t>ISRO Bhuvan Indian Geo-Platform:  </a:t>
            </a:r>
            <a:r>
              <a:rPr sz="1275" i="0" u="sng" dirty="0">
                <a:solidFill>
                  <a:srgbClr val="000000"/>
                </a:solidFill>
                <a:latin typeface="Segoe UI"/>
              </a:rPr>
              <a:t>https://bhuvan.nrsc.gov.in/ </a:t>
            </a:r>
            <a:endParaRPr lang="en-IN" sz="1275" i="0" u="sng" dirty="0">
              <a:solidFill>
                <a:srgbClr val="000000"/>
              </a:solidFill>
              <a:latin typeface="Segoe UI"/>
            </a:endParaRPr>
          </a:p>
          <a:p>
            <a:pPr algn="l">
              <a:lnSpc>
                <a:spcPts val="1721"/>
              </a:lnSpc>
            </a:pPr>
            <a:r>
              <a:rPr sz="1275" i="0" u="none" dirty="0">
                <a:solidFill>
                  <a:srgbClr val="1A1A1A"/>
                </a:solidFill>
                <a:latin typeface="Segoe UI"/>
              </a:rPr>
              <a:t>Used as a primary reference for mapping predefined major Indian dams, hydrological data, and generating baseline terrain topologies for localized river basins.</a:t>
            </a:r>
          </a:p>
        </p:txBody>
      </p:sp>
      <p:sp>
        <p:nvSpPr>
          <p:cNvPr id="14" name="TextBox 13"/>
          <p:cNvSpPr txBox="1"/>
          <p:nvPr/>
        </p:nvSpPr>
        <p:spPr>
          <a:xfrm>
            <a:off x="476250" y="4809591"/>
            <a:ext cx="11334750" cy="636521"/>
          </a:xfrm>
          <a:prstGeom prst="rect">
            <a:avLst/>
          </a:prstGeom>
          <a:noFill/>
        </p:spPr>
        <p:txBody>
          <a:bodyPr wrap="square" lIns="0" tIns="0" rIns="0" bIns="0" anchor="t">
            <a:spAutoFit/>
          </a:bodyPr>
          <a:lstStyle/>
          <a:p>
            <a:pPr algn="l">
              <a:lnSpc>
                <a:spcPts val="1721"/>
              </a:lnSpc>
            </a:pPr>
            <a:r>
              <a:rPr sz="1275" b="1" i="0" u="none" dirty="0">
                <a:solidFill>
                  <a:srgbClr val="000000"/>
                </a:solidFill>
                <a:latin typeface="Segoe UI"/>
              </a:rPr>
              <a:t>OpenStreetMap (OSM) Overpass API:  </a:t>
            </a:r>
            <a:r>
              <a:rPr sz="1275" i="0" u="sng" dirty="0">
                <a:solidFill>
                  <a:srgbClr val="000000"/>
                </a:solidFill>
                <a:latin typeface="Segoe UI"/>
              </a:rPr>
              <a:t>https://overpass-turbo.eu/ </a:t>
            </a:r>
            <a:endParaRPr lang="en-IN" sz="1275" i="0" u="sng" dirty="0">
              <a:solidFill>
                <a:srgbClr val="000000"/>
              </a:solidFill>
              <a:latin typeface="Segoe UI"/>
            </a:endParaRPr>
          </a:p>
          <a:p>
            <a:pPr algn="l">
              <a:lnSpc>
                <a:spcPts val="1721"/>
              </a:lnSpc>
            </a:pPr>
            <a:r>
              <a:rPr sz="1275" i="0" u="none" dirty="0">
                <a:solidFill>
                  <a:srgbClr val="1A1A1A"/>
                </a:solidFill>
                <a:latin typeface="Segoe UI"/>
              </a:rPr>
              <a:t>Integrated to dynamically extract data on road networks, hospitals, and critical infrastructure to accurately compute the 6 hazard parameters in impacted zones.</a:t>
            </a:r>
          </a:p>
        </p:txBody>
      </p:sp>
      <p:sp>
        <p:nvSpPr>
          <p:cNvPr id="15" name="TextBox 14"/>
          <p:cNvSpPr txBox="1"/>
          <p:nvPr/>
        </p:nvSpPr>
        <p:spPr>
          <a:xfrm>
            <a:off x="428625" y="5640360"/>
            <a:ext cx="11334750" cy="418513"/>
          </a:xfrm>
          <a:prstGeom prst="rect">
            <a:avLst/>
          </a:prstGeom>
          <a:noFill/>
        </p:spPr>
        <p:txBody>
          <a:bodyPr wrap="square" lIns="0" tIns="0" rIns="0" bIns="0" anchor="t">
            <a:spAutoFit/>
          </a:bodyPr>
          <a:lstStyle/>
          <a:p>
            <a:pPr>
              <a:lnSpc>
                <a:spcPts val="1721"/>
              </a:lnSpc>
            </a:pPr>
            <a:r>
              <a:rPr lang="en-US" sz="1275" b="1" dirty="0">
                <a:solidFill>
                  <a:srgbClr val="000000"/>
                </a:solidFill>
                <a:latin typeface="Segoe UI"/>
              </a:rPr>
              <a:t>MERIT Hydro (v1.0.1) – HAND Layer</a:t>
            </a:r>
            <a:r>
              <a:rPr lang="en-US" sz="1275" dirty="0">
                <a:solidFill>
                  <a:srgbClr val="1A1A1A"/>
                </a:solidFill>
                <a:latin typeface="Segoe UI"/>
              </a:rPr>
              <a:t>: https://global-hydrodynamics.github.io/MERIT_Hydro/Used in Google Earth Engine as a hydrological proximity constraint (Height Above Nearest Drainage) to eliminate topographic false positives and restrict detected flood inundation to plausible river channels.</a:t>
            </a:r>
            <a:endParaRPr sz="1275" dirty="0">
              <a:solidFill>
                <a:srgbClr val="1A1A1A"/>
              </a:solidFill>
              <a:latin typeface="Segoe UI"/>
            </a:endParaRPr>
          </a:p>
        </p:txBody>
      </p:sp>
      <p:sp>
        <p:nvSpPr>
          <p:cNvPr id="16" name="Oval 15" descr="Your startup LOGO">
            <a:extLst>
              <a:ext uri="{FF2B5EF4-FFF2-40B4-BE49-F238E27FC236}">
                <a16:creationId xmlns:a16="http://schemas.microsoft.com/office/drawing/2014/main" id="{207A3F0F-ECA9-CA9A-DC15-9E8128C57637}"/>
              </a:ext>
              <a:ext uri="{C183D7F6-B498-43B3-948B-1728B52AA6E4}">
                <adec:decorative xmlns:adec="http://schemas.microsoft.com/office/drawing/2017/decorative" val="0"/>
              </a:ext>
            </a:extLst>
          </p:cNvPr>
          <p:cNvSpPr/>
          <p:nvPr/>
        </p:nvSpPr>
        <p:spPr>
          <a:xfrm>
            <a:off x="0" y="-14102"/>
            <a:ext cx="2077525" cy="807334"/>
          </a:xfrm>
          <a:prstGeom prst="ellipse">
            <a:avLst/>
          </a:prstGeom>
          <a:solidFill>
            <a:schemeClr val="accent6">
              <a:lumMod val="40000"/>
              <a:lumOff val="60000"/>
            </a:schemeClr>
          </a:solidFill>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algn="l" defTabSz="457200" rtl="0" fontAlgn="base">
              <a:spcBef>
                <a:spcPct val="0"/>
              </a:spcBef>
              <a:spcAft>
                <a:spcPct val="0"/>
              </a:spcAft>
              <a:defRPr kern="1200">
                <a:solidFill>
                  <a:schemeClr val="dk1"/>
                </a:solidFill>
                <a:latin typeface="+mn-lt"/>
                <a:ea typeface="+mn-ea"/>
                <a:cs typeface="+mn-cs"/>
              </a:defRPr>
            </a:lvl1pPr>
            <a:lvl2pPr marL="457200" algn="l" defTabSz="457200" rtl="0" fontAlgn="base">
              <a:spcBef>
                <a:spcPct val="0"/>
              </a:spcBef>
              <a:spcAft>
                <a:spcPct val="0"/>
              </a:spcAft>
              <a:defRPr kern="1200">
                <a:solidFill>
                  <a:schemeClr val="dk1"/>
                </a:solidFill>
                <a:latin typeface="+mn-lt"/>
                <a:ea typeface="+mn-ea"/>
                <a:cs typeface="+mn-cs"/>
              </a:defRPr>
            </a:lvl2pPr>
            <a:lvl3pPr marL="914400" algn="l" defTabSz="457200" rtl="0" fontAlgn="base">
              <a:spcBef>
                <a:spcPct val="0"/>
              </a:spcBef>
              <a:spcAft>
                <a:spcPct val="0"/>
              </a:spcAft>
              <a:defRPr kern="1200">
                <a:solidFill>
                  <a:schemeClr val="dk1"/>
                </a:solidFill>
                <a:latin typeface="+mn-lt"/>
                <a:ea typeface="+mn-ea"/>
                <a:cs typeface="+mn-cs"/>
              </a:defRPr>
            </a:lvl3pPr>
            <a:lvl4pPr marL="1371600" algn="l" defTabSz="457200" rtl="0" fontAlgn="base">
              <a:spcBef>
                <a:spcPct val="0"/>
              </a:spcBef>
              <a:spcAft>
                <a:spcPct val="0"/>
              </a:spcAft>
              <a:defRPr kern="1200">
                <a:solidFill>
                  <a:schemeClr val="dk1"/>
                </a:solidFill>
                <a:latin typeface="+mn-lt"/>
                <a:ea typeface="+mn-ea"/>
                <a:cs typeface="+mn-cs"/>
              </a:defRPr>
            </a:lvl4pPr>
            <a:lvl5pPr marL="1828800" algn="l" defTabSz="457200" rtl="0" fontAlgn="base">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IN" b="1" dirty="0">
              <a:solidFill>
                <a:schemeClr val="accent6">
                  <a:lumMod val="75000"/>
                </a:schemeClr>
              </a:solidFill>
            </a:endParaRPr>
          </a:p>
          <a:p>
            <a:pPr algn="ctr"/>
            <a:r>
              <a:rPr lang="en-IN" b="1" dirty="0">
                <a:solidFill>
                  <a:schemeClr val="accent6">
                    <a:lumMod val="75000"/>
                  </a:schemeClr>
                </a:solidFill>
              </a:rPr>
              <a:t>UNEXPECTED  ERRORS:(</a:t>
            </a:r>
            <a:endParaRPr lang="en-IN" dirty="0"/>
          </a:p>
          <a:p>
            <a:pPr algn="ctr"/>
            <a:endParaRPr lang="en-IN" dirty="0"/>
          </a:p>
        </p:txBody>
      </p:sp>
      <p:pic>
        <p:nvPicPr>
          <p:cNvPr id="18" name="Picture 17">
            <a:extLst>
              <a:ext uri="{FF2B5EF4-FFF2-40B4-BE49-F238E27FC236}">
                <a16:creationId xmlns:a16="http://schemas.microsoft.com/office/drawing/2014/main" id="{8AB61864-4052-9095-6000-168CEAAC49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9336" y="-14587"/>
            <a:ext cx="2249850" cy="10623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8188</TotalTime>
  <Words>1096</Words>
  <Application>Microsoft Office PowerPoint</Application>
  <PresentationFormat>Widescreen</PresentationFormat>
  <Paragraphs>114</Paragraphs>
  <Slides>6</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vt:i4>
      </vt:variant>
    </vt:vector>
  </HeadingPairs>
  <TitlesOfParts>
    <vt:vector size="18" baseType="lpstr">
      <vt:lpstr>ＭＳ Ｐゴシック</vt:lpstr>
      <vt:lpstr>Arial</vt:lpstr>
      <vt:lpstr>Arial Black</vt:lpstr>
      <vt:lpstr>Calibri</vt:lpstr>
      <vt:lpstr>Garamond</vt:lpstr>
      <vt:lpstr>Inter</vt:lpstr>
      <vt:lpstr>Montserrat</vt:lpstr>
      <vt:lpstr>Segoe UI</vt:lpstr>
      <vt:lpstr>Times New Roman</vt:lpstr>
      <vt:lpstr>TradeGothic</vt:lpstr>
      <vt:lpstr>Wingdings</vt:lpstr>
      <vt:lpstr>Office Theme</vt:lpstr>
      <vt:lpstr> SMART INDIA HACKATHON 2026</vt:lpstr>
      <vt:lpstr> SURAKSHA-SETU </vt:lpstr>
      <vt:lpstr>TECHNICAL APPROACH</vt:lpstr>
      <vt:lpstr>PowerPoint Presentation</vt:lpstr>
      <vt:lpstr>PowerPoint Presentation</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Priyanshu Goyal</cp:lastModifiedBy>
  <cp:revision>155</cp:revision>
  <dcterms:created xsi:type="dcterms:W3CDTF">2013-12-12T18:46:50Z</dcterms:created>
  <dcterms:modified xsi:type="dcterms:W3CDTF">2026-10-15T17:03:27Z</dcterms:modified>
  <cp:category/>
</cp:coreProperties>
</file>