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3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4754880" cy="4754880"/>
          </a:xfrm>
          <a:prstGeom prst="ellipse">
            <a:avLst/>
          </a:prstGeom>
          <a:solidFill>
            <a:srgbClr val="3A47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3108960" cy="3108960"/>
          </a:xfrm>
          <a:prstGeom prst="ellipse">
            <a:avLst/>
          </a:prstGeom>
          <a:solidFill>
            <a:srgbClr val="5B7B9C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082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3A4750"/>
          </a:solidFill>
          <a:ln w="12700">
            <a:solidFill>
              <a:srgbClr val="4B57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145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717393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4750"/>
          </a:solidFill>
          <a:ln w="12700">
            <a:solidFill>
              <a:srgbClr val="4B57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721685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89404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SURAKSHA-SETU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Hydrodynamic Simulation &amp; HADR Decision Support Platform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7863840" cy="0"/>
          </a:xfrm>
          <a:prstGeom prst="line">
            <a:avLst/>
          </a:prstGeom>
          <a:noFill/>
          <a:ln w="12700">
            <a:solidFill>
              <a:srgbClr val="4B57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4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Simulation Modeling Framework for Dam Break &amp; Flash Flood Analysis in Lower Catchments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323A40"/>
          </a:solidFill>
          <a:ln w="12700">
            <a:solidFill>
              <a:srgbClr val="4B57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376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52578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323A40"/>
          </a:solidFill>
          <a:ln w="12700">
            <a:solidFill>
              <a:srgbClr val="4B57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5376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 rot="5400000">
            <a:off x="114300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68741F-425E-493D-70F8-2585997B0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010" y="11391"/>
            <a:ext cx="1958510" cy="891617"/>
          </a:xfrm>
          <a:prstGeom prst="rect">
            <a:avLst/>
          </a:prstGeom>
        </p:spPr>
      </p:pic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253E626E-66A6-71BA-EDBE-4EC961BCD8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723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UNEXPECTED</a:t>
            </a:r>
          </a:p>
          <a:p>
            <a:pPr algn="ctr"/>
            <a:r>
              <a:rPr lang="en-IN" sz="1050" b="1" dirty="0"/>
              <a:t>ERRORS</a:t>
            </a: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EC283BC9-2AA9-7B45-1314-1329C4C7B882}"/>
              </a:ext>
            </a:extLst>
          </p:cNvPr>
          <p:cNvSpPr/>
          <p:nvPr/>
        </p:nvSpPr>
        <p:spPr>
          <a:xfrm>
            <a:off x="3429000" y="5257799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323A40"/>
          </a:solidFill>
          <a:ln w="12700">
            <a:solidFill>
              <a:srgbClr val="4B5760"/>
            </a:solidFill>
            <a:prstDash val="solid"/>
          </a:ln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77210E80-4937-FA4F-5CF0-52EDAB7246FC}"/>
              </a:ext>
            </a:extLst>
          </p:cNvPr>
          <p:cNvSpPr txBox="1"/>
          <p:nvPr/>
        </p:nvSpPr>
        <p:spPr>
          <a:xfrm>
            <a:off x="3611880" y="5394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5691076-1F19-4863-4883-C5C83E092C83}"/>
              </a:ext>
            </a:extLst>
          </p:cNvPr>
          <p:cNvSpPr txBox="1"/>
          <p:nvPr/>
        </p:nvSpPr>
        <p:spPr>
          <a:xfrm>
            <a:off x="361188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58375" y="-45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44805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dirty="0"/>
              <a:t>Suraksha-Setu is an integrated geospatial simulation and emergency response platform designed for dam-break analysis and flash flood forecasting.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566160" cy="5166360"/>
          </a:xfrm>
          <a:prstGeom prst="roundRect">
            <a:avLst>
              <a:gd name="adj" fmla="val 2051"/>
            </a:avLst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5" name="Image 0" descr="/home/claude/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361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Context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natural dam and lake formations trigger catastrophic downstream flooding: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8803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3A47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Ganga, 2021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64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Glacial burst causing severe lower-catchment inundation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397764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3A475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 Barrage, 2008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361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Embankment breach displacing millions across Bihar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8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Deliverable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440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generalized, end-to-end framework integrating hydrological data, DEMs, and satellite imagery to automate dam-break flow predictions.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06240" y="1234440"/>
            <a:ext cx="7498080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0560" y="1527048"/>
            <a:ext cx="685800" cy="68580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18" name="Image 1" descr="/home/claude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6916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435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Hydrodynamic Engines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349240" y="1837944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scenario comparison using Smooth Particle Hydrodynamics (SPH) for immediate surge &amp; breach dynamics, alongside Delft3D for large-scale river flow.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206240" y="3044952"/>
            <a:ext cx="7498080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80560" y="3337560"/>
            <a:ext cx="685800" cy="685800"/>
          </a:xfrm>
          <a:prstGeom prst="ellipse">
            <a:avLst/>
          </a:prstGeom>
          <a:solidFill>
            <a:srgbClr val="8873A6"/>
          </a:solidFill>
          <a:ln/>
        </p:spPr>
      </p:sp>
      <p:pic>
        <p:nvPicPr>
          <p:cNvPr id="23" name="Image 2" descr="/home/claude/icons/deskto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50215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349240" y="3246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GUI Dashboard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349240" y="364845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High-capacity visualization dashboard supporting large geospatial datasets, with direct export to .shp and .kml formats.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206240" y="4855464"/>
            <a:ext cx="7498080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480560" y="5148072"/>
            <a:ext cx="685800" cy="68580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28" name="Image 3" descr="/home/claude/icons/satellit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531266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349240" y="50566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Real-Time GEE Ingestion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5349240" y="54589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flood boundary extraction using Google Earth Engine and open-source Sentinel / Landsat imagery.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FLOODSIM  |  SIH 2026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AECCE33-7DB4-A5EC-B10D-136F2D4232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276" y="43599"/>
            <a:ext cx="1958510" cy="891617"/>
          </a:xfrm>
          <a:prstGeom prst="rect">
            <a:avLst/>
          </a:prstGeom>
        </p:spPr>
      </p:pic>
      <p:sp>
        <p:nvSpPr>
          <p:cNvPr id="36" name="Oval 35" descr="Your startup LOGO">
            <a:extLst>
              <a:ext uri="{FF2B5EF4-FFF2-40B4-BE49-F238E27FC236}">
                <a16:creationId xmlns:a16="http://schemas.microsoft.com/office/drawing/2014/main" id="{CF3F21AF-3340-53E5-5E25-9559224E69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723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UNEXPECTED</a:t>
            </a:r>
          </a:p>
          <a:p>
            <a:pPr algn="ctr"/>
            <a:r>
              <a:rPr lang="en-IN" sz="1050" b="1" dirty="0"/>
              <a:t>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Technology Stack &amp; Workflow</a:t>
            </a:r>
            <a:endParaRPr lang="en-US" sz="1300" b="1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7764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502920" cy="50292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6" name="Image 0" descr="/home/claude/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72184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31673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57276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Tailwind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95681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scenario builder &amp; live monitoring shell.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170432"/>
            <a:ext cx="37764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353312"/>
            <a:ext cx="502920" cy="50292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12" name="Image 1" descr="/home/claude/icons/m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7218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131673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Map Engine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157276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/ PostGIS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44568" y="195681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rendering for DEM, depth, velocity, arrival time &amp; vectors.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0" y="1170432"/>
            <a:ext cx="37764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0768" y="1353312"/>
            <a:ext cx="502920" cy="50292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18" name="Image 2" descr="/home/claude/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472184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131673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Backend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052560" y="157276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Redis / Celery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430768" y="195681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simulation orchestration, dataset APIs &amp; database management.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2871216"/>
            <a:ext cx="37764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054096"/>
            <a:ext cx="502920" cy="502920"/>
          </a:xfrm>
          <a:prstGeom prst="ellipse">
            <a:avLst/>
          </a:prstGeom>
          <a:solidFill>
            <a:srgbClr val="8873A6"/>
          </a:solidFill>
          <a:ln/>
        </p:spPr>
      </p:sp>
      <p:pic>
        <p:nvPicPr>
          <p:cNvPr id="24" name="Image 3" descr="/home/claude/icons/wat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72968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30175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Hydrodynamic Solver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280160" y="327355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 &amp; Delft3D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" y="3657600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Pre/post-processing, breach calculations, water release scenarios.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43400" y="2871216"/>
            <a:ext cx="37764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44568" y="3054096"/>
            <a:ext cx="502920" cy="502920"/>
          </a:xfrm>
          <a:prstGeom prst="ellipse">
            <a:avLst/>
          </a:prstGeom>
          <a:solidFill>
            <a:srgbClr val="8873A6"/>
          </a:solidFill>
          <a:ln/>
        </p:spPr>
      </p:sp>
      <p:pic>
        <p:nvPicPr>
          <p:cNvPr id="30" name="Image 4" descr="/home/claude/icons/satellit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172968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66360" y="30175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Engine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5166360" y="327355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544568" y="3657600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Satellite-based water body detection &amp; change analysis.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229600" y="2871216"/>
            <a:ext cx="37764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30768" y="3054096"/>
            <a:ext cx="502920" cy="502920"/>
          </a:xfrm>
          <a:prstGeom prst="ellipse">
            <a:avLst/>
          </a:prstGeom>
          <a:solidFill>
            <a:srgbClr val="8873A6"/>
          </a:solidFill>
          <a:ln/>
        </p:spPr>
      </p:sp>
      <p:pic>
        <p:nvPicPr>
          <p:cNvPr id="36" name="Image 5" descr="/home/claude/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0" y="3172968"/>
            <a:ext cx="265176" cy="26517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2560" y="30175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HADR Engine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9052560" y="327355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/ Shapely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430768" y="3657600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damage assessment across population, roads, hospitals, agriculture.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4553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457200" y="4937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B2F33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621792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7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Text 35"/>
          <p:cNvSpPr txBox="1"/>
          <p:nvPr/>
        </p:nvSpPr>
        <p:spPr>
          <a:xfrm>
            <a:off x="621792" y="54132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 DEM / Hydrology)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2990088" y="521208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5" name="Shape 37"/>
          <p:cNvSpPr/>
          <p:nvPr/>
        </p:nvSpPr>
        <p:spPr>
          <a:xfrm>
            <a:off x="3474720" y="4937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3A4750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3639312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87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7" name="Text 39"/>
          <p:cNvSpPr txBox="1"/>
          <p:nvPr/>
        </p:nvSpPr>
        <p:spPr>
          <a:xfrm>
            <a:off x="3639312" y="54132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Model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48" name="Text 40"/>
          <p:cNvSpPr txBox="1"/>
          <p:nvPr/>
        </p:nvSpPr>
        <p:spPr>
          <a:xfrm>
            <a:off x="6007608" y="521208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9" name="Shape 41"/>
          <p:cNvSpPr/>
          <p:nvPr/>
        </p:nvSpPr>
        <p:spPr>
          <a:xfrm>
            <a:off x="6492240" y="4937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B2F33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6656832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7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1" name="Text 43"/>
          <p:cNvSpPr txBox="1"/>
          <p:nvPr/>
        </p:nvSpPr>
        <p:spPr>
          <a:xfrm>
            <a:off x="6656832" y="54132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Impact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150" dirty="0"/>
          </a:p>
        </p:txBody>
      </p:sp>
      <p:sp>
        <p:nvSpPr>
          <p:cNvPr id="52" name="Text 44"/>
          <p:cNvSpPr txBox="1"/>
          <p:nvPr/>
        </p:nvSpPr>
        <p:spPr>
          <a:xfrm>
            <a:off x="9025128" y="5212080"/>
            <a:ext cx="466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53" name="Shape 45"/>
          <p:cNvSpPr/>
          <p:nvPr/>
        </p:nvSpPr>
        <p:spPr>
          <a:xfrm>
            <a:off x="9509760" y="49377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3A4750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9674352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87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5" name="Text 47"/>
          <p:cNvSpPr txBox="1"/>
          <p:nvPr/>
        </p:nvSpPr>
        <p:spPr>
          <a:xfrm>
            <a:off x="9674352" y="54132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150" dirty="0"/>
          </a:p>
        </p:txBody>
      </p:sp>
      <p:sp>
        <p:nvSpPr>
          <p:cNvPr id="56" name="Text 48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FLOODSIM  |  SIH 2026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ED0925C6-20B4-ACAE-2FD6-8FAA4F7D77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5276" y="43599"/>
            <a:ext cx="1958510" cy="891617"/>
          </a:xfrm>
          <a:prstGeom prst="rect">
            <a:avLst/>
          </a:prstGeom>
        </p:spPr>
      </p:pic>
      <p:sp>
        <p:nvSpPr>
          <p:cNvPr id="61" name="Oval 60" descr="Your startup LOGO">
            <a:extLst>
              <a:ext uri="{FF2B5EF4-FFF2-40B4-BE49-F238E27FC236}">
                <a16:creationId xmlns:a16="http://schemas.microsoft.com/office/drawing/2014/main" id="{2C4E7E0C-0362-F1D9-3821-7685078875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723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UNEXPECTED</a:t>
            </a:r>
          </a:p>
          <a:p>
            <a:pPr algn="ctr"/>
            <a:r>
              <a:rPr lang="en-IN" sz="1050" b="1" dirty="0"/>
              <a:t>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Grounding &amp; Risk Mitigation Strategy</a:t>
            </a:r>
            <a:endParaRPr lang="en-US" sz="1300" b="1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5166360"/>
          </a:xfrm>
          <a:prstGeom prst="roundRect">
            <a:avLst>
              <a:gd name="adj" fmla="val 1839"/>
            </a:avLst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5" name="Image 0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17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21945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3A47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3225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Non-Blocking Pipeline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6700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/ Redis queues handle high-volume DEM and raster data without blocking the UI.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61188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3A47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37398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Open-Source Stack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087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hydrodynamic models (Delft3D, SPH frameworks) and open satellite datasets.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8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3492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microservice architecture designed for scalable, low-cost deployment across Indian river basins.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 STRATEGIES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1627632"/>
            <a:ext cx="69951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37760" y="18470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5B7B9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37760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18105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 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Compute Load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20848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3D / 2D Hydrodynamic simulation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15000" y="2414016"/>
            <a:ext cx="5760720" cy="0"/>
          </a:xfrm>
          <a:prstGeom prst="line">
            <a:avLst/>
          </a:prstGeom>
          <a:noFill/>
          <a:ln w="12700">
            <a:solidFill>
              <a:srgbClr val="E1E4E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15000" y="24871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715000" y="268833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grid bounds and run multi-threaded, GPU-accelerated SPH solvers.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09160" y="3291840"/>
            <a:ext cx="69951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37760" y="35112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5B7B9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93776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34747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 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Latency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37490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live monitoring continuity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715000" y="4078224"/>
            <a:ext cx="5760720" cy="0"/>
          </a:xfrm>
          <a:prstGeom prst="line">
            <a:avLst/>
          </a:prstGeom>
          <a:noFill/>
          <a:ln w="12700">
            <a:solidFill>
              <a:srgbClr val="E1E4E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15000" y="415137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715000" y="435254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SAR (Sentinel-1 cloud-penetrating radar) pipelines on Google Earth Engine.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09160" y="4956048"/>
            <a:ext cx="69951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937760" y="51755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5B7B9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937760" y="5175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5715000" y="51389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03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 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Interoperability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715000" y="54132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GIS output standards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715000" y="5742432"/>
            <a:ext cx="5760720" cy="0"/>
          </a:xfrm>
          <a:prstGeom prst="line">
            <a:avLst/>
          </a:prstGeom>
          <a:noFill/>
          <a:ln w="12700">
            <a:solidFill>
              <a:srgbClr val="E1E4E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715000" y="5815584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 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715000" y="601675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GDAL / OGR backend integration for loss-less .shp and .kml conversions.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FLOODSIM  |  SIH 2026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2D8471C-67D0-A859-9A81-9C9014E4F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276" y="43599"/>
            <a:ext cx="1958510" cy="891617"/>
          </a:xfrm>
          <a:prstGeom prst="rect">
            <a:avLst/>
          </a:prstGeom>
        </p:spPr>
      </p:pic>
      <p:sp>
        <p:nvSpPr>
          <p:cNvPr id="45" name="Oval 44" descr="Your startup LOGO">
            <a:extLst>
              <a:ext uri="{FF2B5EF4-FFF2-40B4-BE49-F238E27FC236}">
                <a16:creationId xmlns:a16="http://schemas.microsoft.com/office/drawing/2014/main" id="{22FCF573-3640-A3E0-C670-06A545DBAE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723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UNEXPECTED</a:t>
            </a:r>
          </a:p>
          <a:p>
            <a:pPr algn="ctr"/>
            <a:r>
              <a:rPr lang="en-IN" sz="1050" b="1" dirty="0"/>
              <a:t>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Outcomes, Strategic &amp; Economic Value</a:t>
            </a:r>
            <a:endParaRPr lang="en-US" sz="1300" b="1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&amp; HADR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10512"/>
            <a:ext cx="640080" cy="64008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7" name="Image 0" descr="/home/claude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9659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8105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Evacuation Planning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Inundation arrival-time maps give emergency teams critical hours of advance warning to coordinate evacuation.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536192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4E7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10512"/>
            <a:ext cx="640080" cy="640080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12" name="Image 1" descr="/home/claude/icons/mark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965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8105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Loss &amp; Damage Assessment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spatial overlay against critical infrastructure — hospitals, schools, roads, and agricultural land.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324612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 w="12700">
            <a:solidFill>
              <a:srgbClr val="E1E4E7"/>
            </a:solidFill>
            <a:prstDash val="solid"/>
          </a:ln>
        </p:spPr>
      </p:sp>
      <p:pic>
        <p:nvPicPr>
          <p:cNvPr id="16" name="Image 2" descr="/home/claude/icons/hospital_5B7B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330098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47688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671816" y="324612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 w="12700">
            <a:solidFill>
              <a:srgbClr val="E1E4E7"/>
            </a:solidFill>
            <a:prstDash val="solid"/>
          </a:ln>
        </p:spPr>
      </p:sp>
      <p:pic>
        <p:nvPicPr>
          <p:cNvPr id="19" name="Image 3" descr="/home/claude/icons/school_5B7B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3300984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964424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8988552" y="324612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 w="12700">
            <a:solidFill>
              <a:srgbClr val="E1E4E7"/>
            </a:solidFill>
            <a:prstDash val="solid"/>
          </a:ln>
        </p:spPr>
      </p:sp>
      <p:pic>
        <p:nvPicPr>
          <p:cNvPr id="22" name="Image 4" descr="/home/claude/icons/road_5B7B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704" y="330098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281160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0305288" y="324612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 w="12700">
            <a:solidFill>
              <a:srgbClr val="E1E4E7"/>
            </a:solidFill>
            <a:prstDash val="solid"/>
          </a:ln>
        </p:spPr>
      </p:sp>
      <p:pic>
        <p:nvPicPr>
          <p:cNvPr id="25" name="Image 5" descr="/home/claude/icons/seedling_5B7B9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440" y="3300984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97896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ECONOMIC BENEFITS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" y="4114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22960" y="4434840"/>
            <a:ext cx="621792" cy="621792"/>
          </a:xfrm>
          <a:prstGeom prst="ellipse">
            <a:avLst/>
          </a:prstGeom>
          <a:solidFill>
            <a:srgbClr val="5B7B9C"/>
          </a:solidFill>
          <a:ln/>
        </p:spPr>
      </p:sp>
      <p:pic>
        <p:nvPicPr>
          <p:cNvPr id="30" name="Image 6" descr="/home/claude/icons/clou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408" y="4590288"/>
            <a:ext cx="310896" cy="31089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60020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Zero-Cost Open-Source Deployment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1600200" y="493776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framework ready for adoption by Indian disaster management authorities including NDRF and SDMA.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355080" y="4434840"/>
            <a:ext cx="621792" cy="621792"/>
          </a:xfrm>
          <a:prstGeom prst="ellipse">
            <a:avLst/>
          </a:prstGeom>
          <a:solidFill>
            <a:srgbClr val="8873A6"/>
          </a:solidFill>
          <a:ln/>
        </p:spPr>
      </p:sp>
      <p:pic>
        <p:nvPicPr>
          <p:cNvPr id="34" name="Image 7" descr="/home/claude/icons/glob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8" y="4590288"/>
            <a:ext cx="310896" cy="31089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13232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Pan-India Scalability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7132320" y="493776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across any Indian river basin using open-source hydrological and elevation datasets — no proprietary lock-in.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5989320" y="4434840"/>
            <a:ext cx="0" cy="1645920"/>
          </a:xfrm>
          <a:prstGeom prst="line">
            <a:avLst/>
          </a:prstGeom>
          <a:noFill/>
          <a:ln w="12700">
            <a:solidFill>
              <a:srgbClr val="4B5760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FLOODSIM  |  SIH 2026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5612EEA-7736-A9FA-8251-CCB5BE5D5C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5276" y="43599"/>
            <a:ext cx="1958510" cy="891617"/>
          </a:xfrm>
          <a:prstGeom prst="rect">
            <a:avLst/>
          </a:prstGeom>
        </p:spPr>
      </p:pic>
      <p:sp>
        <p:nvSpPr>
          <p:cNvPr id="43" name="Oval 42" descr="Your startup LOGO">
            <a:extLst>
              <a:ext uri="{FF2B5EF4-FFF2-40B4-BE49-F238E27FC236}">
                <a16:creationId xmlns:a16="http://schemas.microsoft.com/office/drawing/2014/main" id="{91272BEF-03FB-008F-19F2-4438DD50CA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723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UNEXPECTED</a:t>
            </a:r>
          </a:p>
          <a:p>
            <a:pPr algn="ctr"/>
            <a:r>
              <a:rPr lang="en-IN" sz="1050" b="1" dirty="0"/>
              <a:t>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3A475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Foundations, Data Sources &amp; Standards</a:t>
            </a:r>
            <a:endParaRPr lang="en-US" sz="1300" b="1" dirty="0"/>
          </a:p>
        </p:txBody>
      </p:sp>
      <p:pic>
        <p:nvPicPr>
          <p:cNvPr id="5" name="Image 0" descr="/home/claude/icons/microscope_5B7B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435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&amp; Methodological References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3A4750"/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2350008"/>
            <a:ext cx="274320" cy="274320"/>
          </a:xfrm>
          <a:prstGeom prst="ellipse">
            <a:avLst/>
          </a:prstGeom>
          <a:solidFill>
            <a:srgbClr val="5B7B9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213969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 fluid dynamics modeling for high-velocity surge &amp; dam breach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127248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3A475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3465576"/>
            <a:ext cx="274320" cy="274320"/>
          </a:xfrm>
          <a:prstGeom prst="ellipse">
            <a:avLst/>
          </a:prstGeom>
          <a:solidFill>
            <a:srgbClr val="5B7B9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325526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Delft3D open-source hydrodynamic flow engine manuals &amp; implementation protocols.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4242816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3A4750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" y="4581144"/>
            <a:ext cx="274320" cy="274320"/>
          </a:xfrm>
          <a:prstGeom prst="ellipse">
            <a:avLst/>
          </a:prstGeom>
          <a:solidFill>
            <a:srgbClr val="5B7B9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37083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Sentinel-1 SAR flood inundation mapping algorithms.</a:t>
            </a:r>
            <a:endParaRPr lang="en-US" sz="1200" dirty="0"/>
          </a:p>
        </p:txBody>
      </p:sp>
      <p:pic>
        <p:nvPicPr>
          <p:cNvPr id="16" name="Image 1" descr="/home/claude/icons/database_8873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12280" y="1435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Standards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309360" y="20116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3A4750"/>
          </a:solidFill>
          <a:ln/>
        </p:spPr>
      </p:sp>
      <p:sp>
        <p:nvSpPr>
          <p:cNvPr id="19" name="Shape 15"/>
          <p:cNvSpPr/>
          <p:nvPr/>
        </p:nvSpPr>
        <p:spPr>
          <a:xfrm>
            <a:off x="6519672" y="2350008"/>
            <a:ext cx="274320" cy="274320"/>
          </a:xfrm>
          <a:prstGeom prst="ellipse">
            <a:avLst/>
          </a:prstGeom>
          <a:solidFill>
            <a:srgbClr val="8873A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49440" y="2130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DEMs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9494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 / CartoDEM elevation datasets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09360" y="3127248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3A4750"/>
          </a:solidFill>
          <a:ln/>
        </p:spPr>
      </p:sp>
      <p:sp>
        <p:nvSpPr>
          <p:cNvPr id="23" name="Shape 19"/>
          <p:cNvSpPr/>
          <p:nvPr/>
        </p:nvSpPr>
        <p:spPr>
          <a:xfrm>
            <a:off x="6519672" y="3465576"/>
            <a:ext cx="274320" cy="274320"/>
          </a:xfrm>
          <a:prstGeom prst="ellipse">
            <a:avLst/>
          </a:prstGeom>
          <a:solidFill>
            <a:srgbClr val="8873A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9494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 Hydrological Portals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694944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ISRO's national geospatial platform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309360" y="424281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3A4750"/>
          </a:solidFill>
          <a:ln/>
        </p:spPr>
      </p:sp>
      <p:sp>
        <p:nvSpPr>
          <p:cNvPr id="27" name="Shape 23"/>
          <p:cNvSpPr/>
          <p:nvPr/>
        </p:nvSpPr>
        <p:spPr>
          <a:xfrm>
            <a:off x="6519672" y="4581144"/>
            <a:ext cx="274320" cy="274320"/>
          </a:xfrm>
          <a:prstGeom prst="ellipse">
            <a:avLst/>
          </a:prstGeom>
          <a:solidFill>
            <a:srgbClr val="8873A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949440" y="4361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Infrastructure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949440" y="47000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hospitals &amp; settlement layers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02920" y="5440680"/>
            <a:ext cx="11155680" cy="0"/>
          </a:xfrm>
          <a:prstGeom prst="line">
            <a:avLst/>
          </a:prstGeom>
          <a:noFill/>
          <a:ln w="12700">
            <a:solidFill>
              <a:srgbClr val="4B576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FLOODSIM — Turning satellite and hydrological data into decision-ready HADR intelligence.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FLOODSIM  |  SIH 2026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47DF6A7-D772-5A88-1722-151AED931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276" y="43599"/>
            <a:ext cx="1958510" cy="891617"/>
          </a:xfrm>
          <a:prstGeom prst="rect">
            <a:avLst/>
          </a:prstGeom>
        </p:spPr>
      </p:pic>
      <p:sp>
        <p:nvSpPr>
          <p:cNvPr id="37" name="Oval 36" descr="Your startup LOGO">
            <a:extLst>
              <a:ext uri="{FF2B5EF4-FFF2-40B4-BE49-F238E27FC236}">
                <a16:creationId xmlns:a16="http://schemas.microsoft.com/office/drawing/2014/main" id="{E707E3C9-46A2-E4F1-4479-35ECCF65A1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723"/>
            <a:ext cx="13716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UNEXPECTED</a:t>
            </a:r>
          </a:p>
          <a:p>
            <a:pPr algn="ctr"/>
            <a:r>
              <a:rPr lang="en-IN" sz="1050" b="1" dirty="0"/>
              <a:t>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696</Words>
  <Application>Microsoft Office PowerPoint</Application>
  <PresentationFormat>Widescreen</PresentationFormat>
  <Paragraphs>148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Mishra</cp:lastModifiedBy>
  <cp:revision>3</cp:revision>
  <dcterms:created xsi:type="dcterms:W3CDTF">2026-09-09T14:01:19Z</dcterms:created>
  <dcterms:modified xsi:type="dcterms:W3CDTF">2026-09-10T18:07:46Z</dcterms:modified>
</cp:coreProperties>
</file>